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Good morning, and thank you for having us. We are The Random Forest Rangers. Today we answer one practical question for road-safety planning: when an injury accident happens, how likely is it to be severe, meaning someone is killed or seriously injured? We will show what drives severe outcomes, what our model can and cannot do, and how your team could use it to plan prevention. Five of us will present, about two minutes each, and we will keep questions for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You decide where and when to invest in prevention: speed limits, safer curves and crossings, campaigns. These are the usual tools a road-safety authority has; our data doesn't test them, it shows where to use them. Budgets are limited, so the key question is where an accident is most likely to end badly. Our data covers every police-recorded injury accident in Germany in 2025, from the official Unfallatlas. Important: every row is an accident that already happened with at least one injury. So we always ask how severe an accident is likely to be, given that it happens. We do not predict whether accidents happen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We chose the prevention-planning use case. That means the question is asked before any accident: given a place, a time, light and road conditions and the road users involved, how likely is a severe outcome? The data also says how each accident happened, for example a head-on collision. That is only known afterwards, so we deliberately left it out. Using it would make the model look better on paper, but it could never be used for planning. Everything you see today works with information that is available in advance. In short: on unseen data, our model finds 58 percent of severe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Here is the data. 272,812 injury accidents; we removed only 195 that had no population data, mostly in forests or lakes. 15.7 percent were severe: 0.9 percent with someone killed and 14.8 percent with someone seriously injured. Because most accidents are minor, a model that always says "not severe" would be 84 percent accurate and completely useless, so we do not use accuracy. We added official municipality statistics: population density and whether the place is a city, town or rural area. We trained on 70 percent, compared models on 15 percent, and keep the final 15 percent for one last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The clearest pattern in the data is city versus countryside. Across all 2025 accidents, 11.3 percent are severe in densely populated municipalities, 16.2 percent in medium-density towns, and 24.3 percent in sparsely populated areas, more than twice the city level. Is it just different kinds of accidents? Mostly not: of the 13-point gap, about 10.5 points come from the same kind of accident being more severe in rural areas, probably higher speeds and longer rescue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Who is involved matters almost as much. With a motorcycle, 24.8 percent of accidents are severe, versus 14.3 without; a motorcycle alone, 27.9; a motorcycle in a rural municipality, 35.1 percent. Trucks and pedestrians also raise the share. A car being involved lowers it, 13.7 versus 20.8 percent, because occupants are well protected. Time matters too: the share peaks at night, 26.3 percent at 3 a.m., and is lowest at 7 a.m. Weekends are higher. Darkness adds a little; wet or icy roads are slightly less severe than dry ones, probably because people drive more carefully. By state, the city states are lowest and Thuringia and Saxony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How do we know whether a model is any good? Two plain questions. First: of all severe accidents, how many does it find? Second: of the accidents it flags, how many are really severe? A single score, called F1, balances both; higher is better, and 1 would be perfect. A model is only useful if it beats simple alternatives. Our first is a rule: flag an accident if a motorcycle or pedestrian is involved, or no car. It scores 0.303 on the validation data. Our second looks up how often similar past accidents were severe. It scores 0.315 and is the strongest baseline. On the test set they score 0.300 and 0.312.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We tried four model types: logistic regression, a decision tree, a random forest and gradient boosting, and tuned the random forest and gradient boosting. The result was very consistent: every good approach ends at about 0.34 on the validation data. Tuning changed almost nothing, at most 0.001, and the other team notebooks, with ensembles and other models, also stopped at about 0.34. That tells us the limit is the information in the data, not the algorithm. Our final model is tuned gradient boosting with 20 features, at 0.346. We chose it by the best cross-validated score on the training data, a PR-AUC of 0.267, not by the validation score, so the choice is not fitted to one data set. Population density is by far the most important factor, about four to five times more than the next, followed by whether a motorcycle or a car is involved. We also tried combining models into an ensemble, in another team notebook. It scored 0.344, no better than our single gradient boosting model, so we kept the simpler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This is the final test, run once after every choice was fixed, on 40,927 accidents the model had never seen. Our model scores 0.339, against 0.300 for the rule and 0.312 for the historical lookup. That is 0.039 above the rule, with a 95 percent range of 0.033 to 0.046, so the gain is real and not luck, and 0.027 above the lookup. On validation it scored 0.346, so the result holds up on unseen data. In plain words: it finds 58 of every 100 severe accidents, and about 1 in 4 accidents it flags is really severe, against 1 in 6 on average. On the validation data, of the 10 percent of accidents it rates riskiest, 33 percent are severe, about twice the average; the historical lookup reaches 27 percent. And it raises about 17 percent fewer false alarms than the lookup while finding almost as many severe accidents. A useful improvement, but a modest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For planning, the percentages matter more than a yes or no. Can you trust them? Yes, and without any correction. On average the model predicts 15.6 percent severe; the observed share is 15.7 percent. The same holds for groups: rural 23.5 predicted versus 24.8 observed, towns 16.3 versus 16.5, cities 11.4 versus 10.8, nights 20.0 versus 20.8, weekends 18.6 versus 19.5, and motorcycles 24.6 versus 24.4. All groups are within about 1.3 percentage points. We trained with normal class weights, so the probabilities come out realistic and no correction step was needed. The largest gaps are in small states: Saarland, predicted 14.9 percent, observed 18.8, 3.9 points too low; Thüringen 2.3 points too low; Sachsen-Anhalt 2.2 points too high. That is partly chance, because these states have few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This is the most important honest slide. With one national threshold, the model finds 87 of 100 severe accidents when a motorcycle is involved, 86 in rural areas, 77 when a pedestrian is involved, 75 at night and 72 at weekends. In towns it finds 58. But in cities it finds only 34 of 100: about 2 in 3 severe city accidents are missed. The risks per group are still correct. City accidents simply have a lower risk, about 11 percent, so they rarely pass a threshold set for the whole country. The model is strong for rural prevention. Cities need their own threshold or their own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How could you use this? We propose a risk explorer for planners. On the left you describe a situation: type of municipality, time, light and road conditions, and road users. On the right you see the estimated chance of a severe outcome next to the national average, and a ranked list of the highest-risk situations, such as motorcycles in rural areas. The values shown here are observed shares from 2025, used as an illustration. The trained model is saved and can score new scenarios. It is meant for prioritising prevention, never for automatic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Three recommendations. First, prioritise rural roads, especially for motorcycles: in sparsely populated municipalities, 35 percent of motorcycle accidents are severe. In rural areas more than 1 in 3 motorcycle accidents is severe, so this is where prevention reaches the most serious cases. Which measure works best would need before-and-after data, which is outside our data. Second, use the model as a risk ranking with percentages, not as a yes or no decision; a realistic "25 percent risk" says more than a flag. Third, for cities, do not rely on one national threshold: it finds only about 1 in 3 severe city accidents. Urban prevention needs a separate threshold or a separate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Finally, the limits. The data has no speed, road type, helmet or seatbelt use, or vehicle details, and those drive most of the severity. It covers one year only. Density describes the whole municipality, not the exact road. And our results show patterns, not causes. The most promising next step is real road-type and speed-limit data, for example from OpenStreetMap, plus separate urban and rural thresholds and several years of data. Thank you for listening.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final model uses 20 features, all known before an accident. Road users: six flags for bicycle, car, pedestrian, motorcycle, truck and other vehicle, plus whether a vulnerable road user is involved, vulnerable versus vehicle, and the number of road-user types. Place: state, latitude, longitude and population density on a log scale. Time: hour and month as cyclic features, and weekend. Conditions: light and road surface. Accident kind and type are not used, because they are only known afterwards. Official urbanisation is used to explain results, not in the model; backup B3 shows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we kept the evaluation fair. We split the accidents 70, 15 and 15 percent. The model was chosen by its cross-validated PR-AUC on the training data, 0.267, and the threshold of 0.167 was set on out-of-fold predictions of the training data. The validation set was only used to compare against the baselines: F1 0.346. The test set was used once, at the very end: F1 0.339, with a 95 percent range of 0.332 to 0.347, and PR-AUC 0.268.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Which city-versus-countryside measure should the model use? Cross-validated on the training data: with no city or countryside information, PR-AUC is 0.255. Adding population density gives 0.267, adding official urbanisation 0.263, and both together 0.267. Noise is about plus or minus 0.004. So this information is a clear gain, and density alone is as good as both together, so we kept the simpler model. The two measures are strongly related, with a correlation of minus 0.88. On the right: when we shuffle a feature on the validation data, PR-AUC drops by 0.060 for population density, 0.013 for motorcycle, 0.011 for car, 0.007 for latitude and 0.006 for vulnerable road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What does it cost to predict before the accident? Our final model, using only information known beforehand, scores 0.346 on the validation data. As a reference, a comparable gradient boosting model in the team's final notebook, which also knows how the accident happened, reaches 0.375. In that reference model, leaving out accident kind and type costs about 0.034. That is the price of a model that can actually be used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F33">
                  <a:alpha val="100000"/>
                </a:srgbClr>
              </a:gs>
              <a:gs pos="45000">
                <a:srgbClr val="1A1D20">
                  <a:alpha val="100000"/>
                </a:srgbClr>
              </a:gs>
              <a:gs pos="100000">
                <a:srgbClr val="0C0D0F">
                  <a:alpha val="100000"/>
                </a:srgbClr>
              </a:gs>
            </a:gsLst>
            <a:path path="circle">
              <a:fillToRect l="78000" t="40000" r="22000" b="60000"/>
            </a:path>
          </a:gradFill>
          <a:ln/>
        </p:spPr>
      </p:sp>
      <p:sp>
        <p:nvSpPr>
          <p:cNvPr id="3" name="Text 1"/>
          <p:cNvSpPr/>
          <p:nvPr/>
        </p:nvSpPr>
        <p:spPr>
          <a:xfrm>
            <a:off x="1047750" y="2873851"/>
            <a:ext cx="1194435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396" kern="0" dirty="0">
                <a:solidFill>
                  <a:srgbClr val="E63946"/>
                </a:solidFill>
                <a:latin typeface="Arial" pitchFamily="34" charset="0"/>
                <a:ea typeface="Arial" pitchFamily="34" charset="-122"/>
                <a:cs typeface="Arial" pitchFamily="34" charset="-120"/>
              </a:rPr>
              <a:t>UNFALLATLAS 2025 · GERMANY</a:t>
            </a:r>
            <a:endParaRPr lang="en-US" sz="1650" dirty="0"/>
          </a:p>
        </p:txBody>
      </p:sp>
      <p:sp>
        <p:nvSpPr>
          <p:cNvPr id="4" name="Text 2"/>
          <p:cNvSpPr/>
          <p:nvPr/>
        </p:nvSpPr>
        <p:spPr>
          <a:xfrm>
            <a:off x="1047750" y="3527266"/>
            <a:ext cx="11184255" cy="2019300"/>
          </a:xfrm>
          <a:prstGeom prst="rect">
            <a:avLst/>
          </a:prstGeom>
          <a:noFill/>
          <a:ln/>
        </p:spPr>
        <p:txBody>
          <a:bodyPr wrap="square" lIns="25400" tIns="25400" rIns="25400" bIns="25400" rtlCol="0" anchor="t">
            <a:normAutofit/>
          </a:bodyPr>
          <a:lstStyle/>
          <a:p>
            <a:pPr algn="l" indent="0" marL="0">
              <a:lnSpc>
                <a:spcPct val="89836"/>
              </a:lnSpc>
              <a:buNone/>
            </a:pPr>
            <a:r>
              <a:rPr lang="en-US" sz="7500" b="1" spc="-150" kern="0" dirty="0">
                <a:solidFill>
                  <a:srgbClr val="F5F7FA"/>
                </a:solidFill>
                <a:latin typeface="Arial" pitchFamily="34" charset="0"/>
                <a:ea typeface="Arial" pitchFamily="34" charset="-122"/>
                <a:cs typeface="Arial" pitchFamily="34" charset="-120"/>
              </a:rPr>
              <a:t>How likely is an injury accident to be severe?</a:t>
            </a:r>
            <a:endParaRPr lang="en-US" sz="7500" dirty="0"/>
          </a:p>
        </p:txBody>
      </p:sp>
      <p:sp>
        <p:nvSpPr>
          <p:cNvPr id="5" name="Text 3"/>
          <p:cNvSpPr/>
          <p:nvPr/>
        </p:nvSpPr>
        <p:spPr>
          <a:xfrm>
            <a:off x="1047750" y="5889466"/>
            <a:ext cx="10301288" cy="1089660"/>
          </a:xfrm>
          <a:prstGeom prst="rect">
            <a:avLst/>
          </a:prstGeom>
          <a:noFill/>
          <a:ln/>
        </p:spPr>
        <p:txBody>
          <a:bodyPr wrap="square" lIns="25400" tIns="25400" rIns="25400" bIns="25400" rtlCol="0" anchor="t">
            <a:normAutofit/>
          </a:bodyPr>
          <a:lstStyle/>
          <a:p>
            <a:pPr algn="l" indent="0" marL="0">
              <a:lnSpc>
                <a:spcPct val="119180"/>
              </a:lnSpc>
              <a:buNone/>
            </a:pPr>
            <a:r>
              <a:rPr lang="en-US" sz="3000" dirty="0">
                <a:solidFill>
                  <a:srgbClr val="B8C0C8"/>
                </a:solidFill>
                <a:latin typeface="Arial" pitchFamily="34" charset="0"/>
                <a:ea typeface="Arial" pitchFamily="34" charset="-122"/>
                <a:cs typeface="Arial" pitchFamily="34" charset="-120"/>
              </a:rPr>
              <a:t>Predicting severity before it happens, for prevention planning</a:t>
            </a:r>
            <a:endParaRPr lang="en-US" sz="3000" dirty="0"/>
          </a:p>
        </p:txBody>
      </p:sp>
      <p:sp>
        <p:nvSpPr>
          <p:cNvPr id="6" name="Shape 4"/>
          <p:cNvSpPr/>
          <p:nvPr/>
        </p:nvSpPr>
        <p:spPr>
          <a:xfrm>
            <a:off x="1047750" y="7474426"/>
            <a:ext cx="7239000" cy="19050"/>
          </a:xfrm>
          <a:prstGeom prst="rect">
            <a:avLst/>
          </a:prstGeom>
          <a:blipFill>
            <a:blip r:embed="rId1"/>
            <a:tile tx="0" ty="0" sx="100000" sy="100000" flip="none" algn="tl"/>
          </a:blipFill>
          <a:ln/>
        </p:spPr>
      </p:sp>
      <p:sp>
        <p:nvSpPr>
          <p:cNvPr id="7" name="Text 5"/>
          <p:cNvSpPr/>
          <p:nvPr/>
        </p:nvSpPr>
        <p:spPr>
          <a:xfrm>
            <a:off x="1047750" y="7874476"/>
            <a:ext cx="11944350" cy="537528"/>
          </a:xfrm>
          <a:prstGeom prst="rect">
            <a:avLst/>
          </a:prstGeom>
          <a:noFill/>
          <a:ln/>
        </p:spPr>
        <p:txBody>
          <a:bodyPr wrap="square" lIns="25400" tIns="25400" rIns="25400" bIns="25400" rtlCol="0" anchor="t">
            <a:normAutofit/>
          </a:bodyPr>
          <a:lstStyle/>
          <a:p>
            <a:pPr algn="l" indent="0" marL="0">
              <a:lnSpc>
                <a:spcPct val="118493"/>
              </a:lnSpc>
              <a:buNone/>
            </a:pPr>
            <a:r>
              <a:rPr lang="en-US" sz="2850" b="1" spc="228" kern="0" dirty="0">
                <a:solidFill>
                  <a:srgbClr val="F5F7FA"/>
                </a:solidFill>
                <a:latin typeface="Arial" pitchFamily="34" charset="0"/>
                <a:ea typeface="Arial" pitchFamily="34" charset="-122"/>
                <a:cs typeface="Arial" pitchFamily="34" charset="-120"/>
              </a:rPr>
              <a:t>THE RANDOM FOREST RANGERS</a:t>
            </a:r>
            <a:endParaRPr lang="en-US" sz="2850" dirty="0"/>
          </a:p>
        </p:txBody>
      </p:sp>
      <p:sp>
        <p:nvSpPr>
          <p:cNvPr id="8" name="Text 6"/>
          <p:cNvSpPr/>
          <p:nvPr/>
        </p:nvSpPr>
        <p:spPr>
          <a:xfrm>
            <a:off x="1047750" y="8507254"/>
            <a:ext cx="11944350"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Zina Beek · Tiziano Cocciò · Jishnu Vasudevan · Britt Schulze-Adesida · Micheal Eshak</a:t>
            </a:r>
            <a:endParaRPr lang="en-US" sz="1800" dirty="0"/>
          </a:p>
        </p:txBody>
      </p:sp>
      <p:sp>
        <p:nvSpPr>
          <p:cNvPr id="9" name="Shape 7"/>
          <p:cNvSpPr/>
          <p:nvPr/>
        </p:nvSpPr>
        <p:spPr>
          <a:xfrm>
            <a:off x="9405938" y="-2238375"/>
            <a:ext cx="10715625" cy="10715625"/>
          </a:xfrm>
          <a:prstGeom prst="rect">
            <a:avLst/>
          </a:prstGeom>
          <a:gradFill rotWithShape="1">
            <a:gsLst>
              <a:gs pos="0">
                <a:srgbClr val="E63946">
                  <a:alpha val="22000"/>
                </a:srgbClr>
              </a:gs>
              <a:gs pos="62000">
                <a:srgbClr val="E63946">
                  <a:alpha val="0"/>
                </a:srgbClr>
              </a:gs>
            </a:gsLst>
            <a:path path="circle">
              <a:fillToRect l="50000" t="50000" r="50000" b="50000"/>
            </a:path>
          </a:gradFill>
          <a:ln/>
        </p:spPr>
      </p:sp>
      <p:sp>
        <p:nvSpPr>
          <p:cNvPr id="10" name="Shape 8"/>
          <p:cNvSpPr/>
          <p:nvPr/>
        </p:nvSpPr>
        <p:spPr>
          <a:xfrm>
            <a:off x="13573125" y="762000"/>
            <a:ext cx="2381250" cy="6524625"/>
          </a:xfrm>
          <a:prstGeom prst="roundRect">
            <a:avLst>
              <a:gd name="adj" fmla="val 32000"/>
            </a:avLst>
          </a:prstGeom>
          <a:gradFill rotWithShape="1">
            <a:gsLst>
              <a:gs pos="0">
                <a:srgbClr val="0F1113">
                  <a:alpha val="100000"/>
                </a:srgbClr>
              </a:gs>
              <a:gs pos="18000">
                <a:srgbClr val="3A4148">
                  <a:alpha val="100000"/>
                </a:srgbClr>
              </a:gs>
              <a:gs pos="48000">
                <a:srgbClr val="272C31">
                  <a:alpha val="100000"/>
                </a:srgbClr>
              </a:gs>
              <a:gs pos="78000">
                <a:srgbClr val="1A1D20">
                  <a:alpha val="100000"/>
                </a:srgbClr>
              </a:gs>
              <a:gs pos="100000">
                <a:srgbClr val="0B0C0E">
                  <a:alpha val="100000"/>
                </a:srgbClr>
              </a:gs>
            </a:gsLst>
            <a:lin ang="0" scaled="0"/>
          </a:gradFill>
          <a:ln/>
          <a:effectLst>
            <a:outerShdw sx="100000" sy="100000" kx="0" ky="0" algn="bl" rotWithShape="0" blurRad="101600" dist="50800" dir="16200000">
              <a:srgbClr val="FFFFFF">
                <a:alpha val="6000"/>
              </a:srgbClr>
            </a:outerShdw>
          </a:effectLst>
        </p:spPr>
      </p:sp>
      <p:sp>
        <p:nvSpPr>
          <p:cNvPr id="11" name="Shape 9"/>
          <p:cNvSpPr/>
          <p:nvPr/>
        </p:nvSpPr>
        <p:spPr>
          <a:xfrm>
            <a:off x="13954125" y="1190625"/>
            <a:ext cx="1619250" cy="1619250"/>
          </a:xfrm>
          <a:prstGeom prst="ellipse">
            <a:avLst/>
          </a:prstGeom>
          <a:gradFill rotWithShape="1">
            <a:gsLst>
              <a:gs pos="0">
                <a:srgbClr val="FFE1E3">
                  <a:alpha val="100000"/>
                </a:srgbClr>
              </a:gs>
              <a:gs pos="16000">
                <a:srgbClr val="FF7A84">
                  <a:alpha val="100000"/>
                </a:srgbClr>
              </a:gs>
              <a:gs pos="44000">
                <a:srgbClr val="E63946">
                  <a:alpha val="100000"/>
                </a:srgbClr>
              </a:gs>
              <a:gs pos="100000">
                <a:srgbClr val="7A1019">
                  <a:alpha val="100000"/>
                </a:srgbClr>
              </a:gs>
            </a:gsLst>
            <a:path path="circle">
              <a:fillToRect l="46000" t="42000" r="54000" b="58000"/>
            </a:path>
          </a:gradFill>
          <a:ln/>
          <a:effectLst>
            <a:outerShdw sx="100000" sy="100000" kx="0" ky="0" algn="bl" rotWithShape="0" blurRad="101600" dist="50800" dir="16200000">
              <a:srgbClr val="30363C">
                <a:alpha val="100000"/>
              </a:srgbClr>
            </a:outerShdw>
          </a:effectLst>
        </p:spPr>
      </p:sp>
      <p:sp>
        <p:nvSpPr>
          <p:cNvPr id="12" name="Shape 10"/>
          <p:cNvSpPr/>
          <p:nvPr/>
        </p:nvSpPr>
        <p:spPr>
          <a:xfrm>
            <a:off x="13954125" y="3214688"/>
            <a:ext cx="1619250" cy="1619250"/>
          </a:xfrm>
          <a:prstGeom prst="ellipse">
            <a:avLst/>
          </a:prstGeom>
          <a:gradFill rotWithShape="1">
            <a:gsLst>
              <a:gs pos="0">
                <a:srgbClr val="3A3119">
                  <a:alpha val="100000"/>
                </a:srgbClr>
              </a:gs>
              <a:gs pos="72000">
                <a:srgbClr val="17130A">
                  <a:alpha val="100000"/>
                </a:srgbClr>
              </a:gs>
            </a:gsLst>
            <a:path path="circle">
              <a:fillToRect l="44000" t="40000" r="56000" b="60000"/>
            </a:path>
          </a:gradFill>
          <a:ln/>
          <a:effectLst>
            <a:outerShdw sx="100000" sy="100000" kx="0" ky="0" algn="bl" rotWithShape="0" blurRad="101600" dist="50800" dir="16200000">
              <a:srgbClr val="30363C">
                <a:alpha val="100000"/>
              </a:srgbClr>
            </a:outerShdw>
          </a:effectLst>
        </p:spPr>
      </p:sp>
      <p:sp>
        <p:nvSpPr>
          <p:cNvPr id="13" name="Shape 11"/>
          <p:cNvSpPr/>
          <p:nvPr/>
        </p:nvSpPr>
        <p:spPr>
          <a:xfrm>
            <a:off x="13954125" y="5238750"/>
            <a:ext cx="1619250" cy="1619250"/>
          </a:xfrm>
          <a:prstGeom prst="ellipse">
            <a:avLst/>
          </a:prstGeom>
          <a:gradFill rotWithShape="1">
            <a:gsLst>
              <a:gs pos="0">
                <a:srgbClr val="173322">
                  <a:alpha val="100000"/>
                </a:srgbClr>
              </a:gs>
              <a:gs pos="72000">
                <a:srgbClr val="0A150E">
                  <a:alpha val="100000"/>
                </a:srgbClr>
              </a:gs>
            </a:gsLst>
            <a:path path="circle">
              <a:fillToRect l="44000" t="40000" r="56000" b="60000"/>
            </a:path>
          </a:gradFill>
          <a:ln/>
          <a:effectLst>
            <a:outerShdw sx="100000" sy="100000" kx="0" ky="0" algn="bl" rotWithShape="0" blurRad="101600" dist="50800" dir="16200000">
              <a:srgbClr val="30363C">
                <a:alpha val="100000"/>
              </a:srgbClr>
            </a:outerShdw>
          </a:effectLst>
        </p:spPr>
      </p:sp>
      <p:sp>
        <p:nvSpPr>
          <p:cNvPr id="14" name="Shape 12"/>
          <p:cNvSpPr/>
          <p:nvPr/>
        </p:nvSpPr>
        <p:spPr>
          <a:xfrm>
            <a:off x="14549438" y="7286625"/>
            <a:ext cx="428625" cy="3810000"/>
          </a:xfrm>
          <a:prstGeom prst="rect">
            <a:avLst/>
          </a:prstGeom>
          <a:gradFill rotWithShape="1">
            <a:gsLst>
              <a:gs pos="0">
                <a:srgbClr val="0D0F11">
                  <a:alpha val="100000"/>
                </a:srgbClr>
              </a:gs>
              <a:gs pos="35000">
                <a:srgbClr val="3A4047">
                  <a:alpha val="100000"/>
                </a:srgbClr>
              </a:gs>
              <a:gs pos="70000">
                <a:srgbClr val="1E2226">
                  <a:alpha val="100000"/>
                </a:srgbClr>
              </a:gs>
              <a:gs pos="100000">
                <a:srgbClr val="0B0C0E">
                  <a:alpha val="100000"/>
                </a:srgbClr>
              </a:gs>
            </a:gsLst>
            <a:lin ang="0" scaled="0"/>
          </a:gradFill>
          <a:ln/>
          <a:effectLst>
            <a:outerShdw sx="100000" sy="100000" kx="0" ky="0" algn="bl" rotWithShape="0" blurRad="101600" dist="50800" dir="16200000">
              <a:srgbClr val="FFFFFF">
                <a:alpha val="4000"/>
              </a:srgbClr>
            </a:outerShdw>
          </a:effectLst>
        </p:spPr>
      </p:sp>
      <p:sp>
        <p:nvSpPr>
          <p:cNvPr id="15" name="Shape 13"/>
          <p:cNvSpPr/>
          <p:nvPr/>
        </p:nvSpPr>
        <p:spPr>
          <a:xfrm>
            <a:off x="11668125" y="10739438"/>
            <a:ext cx="6191250" cy="1071563"/>
          </a:xfrm>
          <a:prstGeom prst="roundRect">
            <a:avLst>
              <a:gd name="adj" fmla="val 50000"/>
            </a:avLst>
          </a:prstGeom>
          <a:gradFill rotWithShape="1">
            <a:gsLst>
              <a:gs pos="0">
                <a:srgbClr val="E63946">
                  <a:alpha val="42000"/>
                </a:srgbClr>
              </a:gs>
              <a:gs pos="45000">
                <a:srgbClr val="E63946">
                  <a:alpha val="8000"/>
                </a:srgbClr>
              </a:gs>
              <a:gs pos="70000">
                <a:srgbClr val="E63946">
                  <a:alpha val="0"/>
                </a:srgbClr>
              </a:gs>
            </a:gsLst>
            <a:path path="circle">
              <a:fillToRect l="50000" t="50000" r="50000" b="50000"/>
            </a:path>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427646"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Planners need to know where accidents are most likely to end badly</a:t>
            </a:r>
            <a:endParaRPr lang="en-US" sz="4200" dirty="0"/>
          </a:p>
        </p:txBody>
      </p:sp>
      <p:sp>
        <p:nvSpPr>
          <p:cNvPr id="4" name="Text 2"/>
          <p:cNvSpPr/>
          <p:nvPr/>
        </p:nvSpPr>
        <p:spPr>
          <a:xfrm>
            <a:off x="14655800" y="915670"/>
            <a:ext cx="141795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FFBE0B"/>
                </a:solidFill>
                <a:latin typeface="Arial" pitchFamily="34" charset="0"/>
                <a:ea typeface="Arial" pitchFamily="34" charset="-122"/>
                <a:cs typeface="Arial" pitchFamily="34" charset="-120"/>
              </a:rPr>
              <a:t>PROBLEM</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solidFill>
          <a:ln/>
          <a:effectLst>
            <a:outerShdw sx="100000" sy="100000" kx="0" ky="0" algn="bl" rotWithShape="0" blurRad="114300" dist="50800" dir="16200000">
              <a:srgbClr val="FFBE0B">
                <a:alpha val="100000"/>
              </a:srgbClr>
            </a:outerShdw>
          </a:effectLst>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Text 9"/>
          <p:cNvSpPr/>
          <p:nvPr/>
        </p:nvSpPr>
        <p:spPr>
          <a:xfrm>
            <a:off x="1047750" y="2769870"/>
            <a:ext cx="12753975" cy="1036955"/>
          </a:xfrm>
          <a:prstGeom prst="rect">
            <a:avLst/>
          </a:prstGeom>
          <a:noFill/>
          <a:ln/>
        </p:spPr>
        <p:txBody>
          <a:bodyPr wrap="square" lIns="25400" tIns="25400" rIns="25400" bIns="25400" rtlCol="0" anchor="t">
            <a:normAutofit/>
          </a:bodyPr>
          <a:lstStyle/>
          <a:p>
            <a:pPr algn="l" indent="0" marL="0">
              <a:lnSpc>
                <a:spcPct val="118493"/>
              </a:lnSpc>
              <a:buNone/>
            </a:pPr>
            <a:r>
              <a:rPr lang="en-US" sz="2850" dirty="0">
                <a:solidFill>
                  <a:srgbClr val="F5F7FA"/>
                </a:solidFill>
                <a:latin typeface="Arial" pitchFamily="34" charset="0"/>
                <a:ea typeface="Arial" pitchFamily="34" charset="-122"/>
                <a:cs typeface="Arial" pitchFamily="34" charset="-120"/>
              </a:rPr>
              <a:t>A regional road-safety authority decides </a:t>
            </a:r>
            <a:pPr algn="l" indent="0" marL="0">
              <a:lnSpc>
                <a:spcPct val="118493"/>
              </a:lnSpc>
              <a:buNone/>
            </a:pPr>
            <a:r>
              <a:rPr lang="en-US" sz="2850" b="1" dirty="0">
                <a:solidFill>
                  <a:srgbClr val="FFBE0B"/>
                </a:solidFill>
                <a:latin typeface="Arial" pitchFamily="34" charset="0"/>
                <a:ea typeface="Arial" pitchFamily="34" charset="-122"/>
                <a:cs typeface="Arial" pitchFamily="34" charset="-120"/>
              </a:rPr>
              <a:t>where and when </a:t>
            </a:r>
            <a:pPr algn="l" indent="0" marL="0">
              <a:lnSpc>
                <a:spcPct val="118493"/>
              </a:lnSpc>
              <a:buNone/>
            </a:pPr>
            <a:r>
              <a:rPr lang="en-US" sz="2850" dirty="0">
                <a:solidFill>
                  <a:srgbClr val="F5F7FA"/>
                </a:solidFill>
                <a:latin typeface="Arial" pitchFamily="34" charset="0"/>
                <a:ea typeface="Arial" pitchFamily="34" charset="-122"/>
                <a:cs typeface="Arial" pitchFamily="34" charset="-120"/>
              </a:rPr>
              <a:t>to invest in prevention.</a:t>
            </a:r>
            <a:endParaRPr lang="en-US" sz="2850" dirty="0"/>
          </a:p>
        </p:txBody>
      </p:sp>
      <p:sp>
        <p:nvSpPr>
          <p:cNvPr id="12" name="Text 10"/>
          <p:cNvSpPr/>
          <p:nvPr/>
        </p:nvSpPr>
        <p:spPr>
          <a:xfrm>
            <a:off x="1047750" y="4302125"/>
            <a:ext cx="1781175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TYPICAL PREVENTION TOOLS (EXAMPLES)</a:t>
            </a:r>
            <a:endParaRPr lang="en-US" sz="1650" dirty="0"/>
          </a:p>
        </p:txBody>
      </p:sp>
      <p:sp>
        <p:nvSpPr>
          <p:cNvPr id="13" name="Shape 11"/>
          <p:cNvSpPr/>
          <p:nvPr/>
        </p:nvSpPr>
        <p:spPr>
          <a:xfrm>
            <a:off x="1047750" y="4765040"/>
            <a:ext cx="5168900" cy="2168684"/>
          </a:xfrm>
          <a:prstGeom prst="roundRect">
            <a:avLst>
              <a:gd name="adj" fmla="val 966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14" name="Image 0" descr="preencoded.png">    </p:cNvPr>
          <p:cNvPicPr>
            <a:picLocks noChangeAspect="1"/>
          </p:cNvPicPr>
          <p:nvPr/>
        </p:nvPicPr>
        <p:blipFill>
          <a:blip r:embed="rId2"/>
          <a:stretch>
            <a:fillRect/>
          </a:stretch>
        </p:blipFill>
        <p:spPr>
          <a:xfrm>
            <a:off x="1438275" y="5193665"/>
            <a:ext cx="571500" cy="571500"/>
          </a:xfrm>
          <a:prstGeom prst="rect">
            <a:avLst/>
          </a:prstGeom>
        </p:spPr>
      </p:pic>
      <p:sp>
        <p:nvSpPr>
          <p:cNvPr id="15" name="Text 12"/>
          <p:cNvSpPr/>
          <p:nvPr/>
        </p:nvSpPr>
        <p:spPr>
          <a:xfrm>
            <a:off x="5526088" y="5343208"/>
            <a:ext cx="376238"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alpha val="50000"/>
                  </a:srgbClr>
                </a:solidFill>
                <a:latin typeface="Arial" pitchFamily="34" charset="0"/>
                <a:ea typeface="Arial" pitchFamily="34" charset="-122"/>
                <a:cs typeface="Arial" pitchFamily="34" charset="-120"/>
              </a:rPr>
              <a:t>01</a:t>
            </a:r>
            <a:endParaRPr lang="en-US" sz="1650" dirty="0"/>
          </a:p>
        </p:txBody>
      </p:sp>
      <p:sp>
        <p:nvSpPr>
          <p:cNvPr id="16" name="Text 13"/>
          <p:cNvSpPr/>
          <p:nvPr/>
        </p:nvSpPr>
        <p:spPr>
          <a:xfrm>
            <a:off x="1438275" y="6031865"/>
            <a:ext cx="4826635" cy="511334"/>
          </a:xfrm>
          <a:prstGeom prst="rect">
            <a:avLst/>
          </a:prstGeom>
          <a:noFill/>
          <a:ln/>
        </p:spPr>
        <p:txBody>
          <a:bodyPr wrap="square" lIns="25400" tIns="25400" rIns="25400" bIns="25400" rtlCol="0" anchor="t">
            <a:normAutofit/>
          </a:bodyPr>
          <a:lstStyle/>
          <a:p>
            <a:pPr algn="l" indent="0" marL="0">
              <a:lnSpc>
                <a:spcPct val="117779"/>
              </a:lnSpc>
              <a:buNone/>
            </a:pPr>
            <a:r>
              <a:rPr lang="en-US" sz="2700" b="1" dirty="0">
                <a:solidFill>
                  <a:srgbClr val="F5F7FA"/>
                </a:solidFill>
                <a:latin typeface="Arial" pitchFamily="34" charset="0"/>
                <a:ea typeface="Arial" pitchFamily="34" charset="-122"/>
                <a:cs typeface="Arial" pitchFamily="34" charset="-120"/>
              </a:rPr>
              <a:t>Speed limits</a:t>
            </a:r>
            <a:endParaRPr lang="en-US" sz="2700" dirty="0"/>
          </a:p>
        </p:txBody>
      </p:sp>
      <p:sp>
        <p:nvSpPr>
          <p:cNvPr id="17" name="Shape 14"/>
          <p:cNvSpPr/>
          <p:nvPr/>
        </p:nvSpPr>
        <p:spPr>
          <a:xfrm>
            <a:off x="6559550" y="4765040"/>
            <a:ext cx="5168900" cy="2168684"/>
          </a:xfrm>
          <a:prstGeom prst="roundRect">
            <a:avLst>
              <a:gd name="adj" fmla="val 966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18" name="Image 1" descr="preencoded.png">    </p:cNvPr>
          <p:cNvPicPr>
            <a:picLocks noChangeAspect="1"/>
          </p:cNvPicPr>
          <p:nvPr/>
        </p:nvPicPr>
        <p:blipFill>
          <a:blip r:embed="rId3"/>
          <a:stretch>
            <a:fillRect/>
          </a:stretch>
        </p:blipFill>
        <p:spPr>
          <a:xfrm>
            <a:off x="6950075" y="5193665"/>
            <a:ext cx="571500" cy="571500"/>
          </a:xfrm>
          <a:prstGeom prst="rect">
            <a:avLst/>
          </a:prstGeom>
        </p:spPr>
      </p:pic>
      <p:sp>
        <p:nvSpPr>
          <p:cNvPr id="19" name="Text 15"/>
          <p:cNvSpPr/>
          <p:nvPr/>
        </p:nvSpPr>
        <p:spPr>
          <a:xfrm>
            <a:off x="11037888" y="5343208"/>
            <a:ext cx="376238"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alpha val="50000"/>
                  </a:srgbClr>
                </a:solidFill>
                <a:latin typeface="Arial" pitchFamily="34" charset="0"/>
                <a:ea typeface="Arial" pitchFamily="34" charset="-122"/>
                <a:cs typeface="Arial" pitchFamily="34" charset="-120"/>
              </a:rPr>
              <a:t>02</a:t>
            </a:r>
            <a:endParaRPr lang="en-US" sz="1650" dirty="0"/>
          </a:p>
        </p:txBody>
      </p:sp>
      <p:sp>
        <p:nvSpPr>
          <p:cNvPr id="20" name="Text 16"/>
          <p:cNvSpPr/>
          <p:nvPr/>
        </p:nvSpPr>
        <p:spPr>
          <a:xfrm>
            <a:off x="6950075" y="6031865"/>
            <a:ext cx="4826635" cy="511334"/>
          </a:xfrm>
          <a:prstGeom prst="rect">
            <a:avLst/>
          </a:prstGeom>
          <a:noFill/>
          <a:ln/>
        </p:spPr>
        <p:txBody>
          <a:bodyPr wrap="square" lIns="25400" tIns="25400" rIns="25400" bIns="25400" rtlCol="0" anchor="t">
            <a:normAutofit/>
          </a:bodyPr>
          <a:lstStyle/>
          <a:p>
            <a:pPr algn="l" indent="0" marL="0">
              <a:lnSpc>
                <a:spcPct val="117779"/>
              </a:lnSpc>
              <a:buNone/>
            </a:pPr>
            <a:r>
              <a:rPr lang="en-US" sz="2700" b="1" dirty="0">
                <a:solidFill>
                  <a:srgbClr val="F5F7FA"/>
                </a:solidFill>
                <a:latin typeface="Arial" pitchFamily="34" charset="0"/>
                <a:ea typeface="Arial" pitchFamily="34" charset="-122"/>
                <a:cs typeface="Arial" pitchFamily="34" charset="-120"/>
              </a:rPr>
              <a:t>Safer curves and crossings</a:t>
            </a:r>
            <a:endParaRPr lang="en-US" sz="2700" dirty="0"/>
          </a:p>
        </p:txBody>
      </p:sp>
      <p:sp>
        <p:nvSpPr>
          <p:cNvPr id="21" name="Shape 17"/>
          <p:cNvSpPr/>
          <p:nvPr/>
        </p:nvSpPr>
        <p:spPr>
          <a:xfrm>
            <a:off x="12071350" y="4765040"/>
            <a:ext cx="5168900" cy="2168684"/>
          </a:xfrm>
          <a:prstGeom prst="roundRect">
            <a:avLst>
              <a:gd name="adj" fmla="val 966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22" name="Image 2" descr="preencoded.png">    </p:cNvPr>
          <p:cNvPicPr>
            <a:picLocks noChangeAspect="1"/>
          </p:cNvPicPr>
          <p:nvPr/>
        </p:nvPicPr>
        <p:blipFill>
          <a:blip r:embed="rId4"/>
          <a:stretch>
            <a:fillRect/>
          </a:stretch>
        </p:blipFill>
        <p:spPr>
          <a:xfrm>
            <a:off x="12461875" y="5193665"/>
            <a:ext cx="571500" cy="571500"/>
          </a:xfrm>
          <a:prstGeom prst="rect">
            <a:avLst/>
          </a:prstGeom>
        </p:spPr>
      </p:pic>
      <p:sp>
        <p:nvSpPr>
          <p:cNvPr id="23" name="Text 18"/>
          <p:cNvSpPr/>
          <p:nvPr/>
        </p:nvSpPr>
        <p:spPr>
          <a:xfrm>
            <a:off x="16549687" y="5343208"/>
            <a:ext cx="376238"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alpha val="50000"/>
                  </a:srgbClr>
                </a:solidFill>
                <a:latin typeface="Arial" pitchFamily="34" charset="0"/>
                <a:ea typeface="Arial" pitchFamily="34" charset="-122"/>
                <a:cs typeface="Arial" pitchFamily="34" charset="-120"/>
              </a:rPr>
              <a:t>03</a:t>
            </a:r>
            <a:endParaRPr lang="en-US" sz="1650" dirty="0"/>
          </a:p>
        </p:txBody>
      </p:sp>
      <p:sp>
        <p:nvSpPr>
          <p:cNvPr id="24" name="Text 19"/>
          <p:cNvSpPr/>
          <p:nvPr/>
        </p:nvSpPr>
        <p:spPr>
          <a:xfrm>
            <a:off x="12461875" y="6031865"/>
            <a:ext cx="4826635" cy="511334"/>
          </a:xfrm>
          <a:prstGeom prst="rect">
            <a:avLst/>
          </a:prstGeom>
          <a:noFill/>
          <a:ln/>
        </p:spPr>
        <p:txBody>
          <a:bodyPr wrap="square" lIns="25400" tIns="25400" rIns="25400" bIns="25400" rtlCol="0" anchor="t">
            <a:normAutofit/>
          </a:bodyPr>
          <a:lstStyle/>
          <a:p>
            <a:pPr algn="l" indent="0" marL="0">
              <a:lnSpc>
                <a:spcPct val="117779"/>
              </a:lnSpc>
              <a:buNone/>
            </a:pPr>
            <a:r>
              <a:rPr lang="en-US" sz="2700" b="1" dirty="0">
                <a:solidFill>
                  <a:srgbClr val="F5F7FA"/>
                </a:solidFill>
                <a:latin typeface="Arial" pitchFamily="34" charset="0"/>
                <a:ea typeface="Arial" pitchFamily="34" charset="-122"/>
                <a:cs typeface="Arial" pitchFamily="34" charset="-120"/>
              </a:rPr>
              <a:t>Targeted campaigns</a:t>
            </a:r>
            <a:endParaRPr lang="en-US" sz="2700" dirty="0"/>
          </a:p>
        </p:txBody>
      </p:sp>
      <p:sp>
        <p:nvSpPr>
          <p:cNvPr id="25" name="Shape 20"/>
          <p:cNvSpPr/>
          <p:nvPr/>
        </p:nvSpPr>
        <p:spPr>
          <a:xfrm>
            <a:off x="1047750" y="8982075"/>
            <a:ext cx="16192500" cy="9525"/>
          </a:xfrm>
          <a:prstGeom prst="rect">
            <a:avLst/>
          </a:prstGeom>
          <a:solidFill>
            <a:srgbClr val="FFFFFF">
              <a:alpha val="8000"/>
            </a:srgbClr>
          </a:solidFill>
          <a:ln/>
        </p:spPr>
      </p:sp>
      <p:pic>
        <p:nvPicPr>
          <p:cNvPr id="26" name="Image 3" descr="preencoded.png">    </p:cNvPr>
          <p:cNvPicPr>
            <a:picLocks noChangeAspect="1"/>
          </p:cNvPicPr>
          <p:nvPr/>
        </p:nvPicPr>
        <p:blipFill>
          <a:blip r:embed="rId5"/>
          <a:stretch>
            <a:fillRect/>
          </a:stretch>
        </p:blipFill>
        <p:spPr>
          <a:xfrm>
            <a:off x="1047750" y="9258300"/>
            <a:ext cx="342900" cy="342900"/>
          </a:xfrm>
          <a:prstGeom prst="rect">
            <a:avLst/>
          </a:prstGeom>
        </p:spPr>
      </p:pic>
      <p:sp>
        <p:nvSpPr>
          <p:cNvPr id="27" name="Text 21"/>
          <p:cNvSpPr/>
          <p:nvPr/>
        </p:nvSpPr>
        <p:spPr>
          <a:xfrm>
            <a:off x="1619250" y="9271953"/>
            <a:ext cx="867624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Our data: every police-recorded injury accident in Germany, 2025 (Unfallatlas)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427646"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We estimate severity before an accident, so how it happened stays out</a:t>
            </a:r>
            <a:endParaRPr lang="en-US" sz="4200" dirty="0"/>
          </a:p>
        </p:txBody>
      </p:sp>
      <p:sp>
        <p:nvSpPr>
          <p:cNvPr id="4" name="Text 2"/>
          <p:cNvSpPr/>
          <p:nvPr/>
        </p:nvSpPr>
        <p:spPr>
          <a:xfrm>
            <a:off x="14655800" y="915670"/>
            <a:ext cx="141795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FFBE0B"/>
                </a:solidFill>
                <a:latin typeface="Arial" pitchFamily="34" charset="0"/>
                <a:ea typeface="Arial" pitchFamily="34" charset="-122"/>
                <a:cs typeface="Arial" pitchFamily="34" charset="-120"/>
              </a:rPr>
              <a:t>PROBLEM</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solidFill>
          <a:ln/>
          <a:effectLst>
            <a:outerShdw sx="100000" sy="100000" kx="0" ky="0" algn="bl" rotWithShape="0" blurRad="114300" dist="50800" dir="16200000">
              <a:srgbClr val="FFBE0B">
                <a:alpha val="100000"/>
              </a:srgbClr>
            </a:outerShdw>
          </a:effectLst>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16192500" cy="2047081"/>
          </a:xfrm>
          <a:prstGeom prst="roundRect">
            <a:avLst>
              <a:gd name="adj" fmla="val 10237"/>
            </a:avLst>
          </a:prstGeom>
          <a:gradFill rotWithShape="1">
            <a:gsLst>
              <a:gs pos="0">
                <a:srgbClr val="FFBE0B">
                  <a:alpha val="10000"/>
                </a:srgbClr>
              </a:gs>
              <a:gs pos="60000">
                <a:srgbClr val="FFFFFF">
                  <a:alpha val="2000"/>
                </a:srgbClr>
              </a:gs>
            </a:gsLst>
            <a:lin ang="0" scaled="0"/>
          </a:gradFill>
          <a:ln/>
          <a:effectLst>
            <a:outerShdw sx="100000" sy="100000" kx="0" ky="0" algn="bl" rotWithShape="0" blurRad="571500" dist="285750" dir="5400000">
              <a:srgbClr val="000000">
                <a:alpha val="75000"/>
              </a:srgbClr>
            </a:outerShdw>
          </a:effectLst>
        </p:spPr>
      </p:sp>
      <p:sp>
        <p:nvSpPr>
          <p:cNvPr id="12" name="Shape 10"/>
          <p:cNvSpPr/>
          <p:nvPr/>
        </p:nvSpPr>
        <p:spPr>
          <a:xfrm>
            <a:off x="1047750" y="4807426"/>
            <a:ext cx="16192500" cy="9525"/>
          </a:xfrm>
          <a:prstGeom prst="rect">
            <a:avLst/>
          </a:prstGeom>
          <a:solidFill>
            <a:srgbClr val="FFFFFF">
              <a:alpha val="10000"/>
            </a:srgbClr>
          </a:solidFill>
          <a:ln/>
        </p:spPr>
      </p:sp>
      <p:sp>
        <p:nvSpPr>
          <p:cNvPr id="13" name="Shape 11"/>
          <p:cNvSpPr/>
          <p:nvPr/>
        </p:nvSpPr>
        <p:spPr>
          <a:xfrm>
            <a:off x="1047750" y="2769870"/>
            <a:ext cx="16192500" cy="9525"/>
          </a:xfrm>
          <a:prstGeom prst="rect">
            <a:avLst/>
          </a:prstGeom>
          <a:solidFill>
            <a:srgbClr val="FFFFFF">
              <a:alpha val="10000"/>
            </a:srgbClr>
          </a:solidFill>
          <a:ln/>
        </p:spPr>
      </p:sp>
      <p:sp>
        <p:nvSpPr>
          <p:cNvPr id="14" name="Shape 12"/>
          <p:cNvSpPr/>
          <p:nvPr/>
        </p:nvSpPr>
        <p:spPr>
          <a:xfrm>
            <a:off x="17230725" y="2769870"/>
            <a:ext cx="9525" cy="2047081"/>
          </a:xfrm>
          <a:prstGeom prst="rect">
            <a:avLst/>
          </a:prstGeom>
          <a:solidFill>
            <a:srgbClr val="FFFFFF">
              <a:alpha val="10000"/>
            </a:srgbClr>
          </a:solidFill>
          <a:ln/>
        </p:spPr>
      </p:sp>
      <p:sp>
        <p:nvSpPr>
          <p:cNvPr id="15" name="Text 13"/>
          <p:cNvSpPr/>
          <p:nvPr/>
        </p:nvSpPr>
        <p:spPr>
          <a:xfrm>
            <a:off x="1485900" y="3122295"/>
            <a:ext cx="16837343"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OUR QUESTION</a:t>
            </a:r>
            <a:endParaRPr lang="en-US" sz="1650" dirty="0"/>
          </a:p>
        </p:txBody>
      </p:sp>
      <p:sp>
        <p:nvSpPr>
          <p:cNvPr id="16" name="Text 14"/>
          <p:cNvSpPr/>
          <p:nvPr/>
        </p:nvSpPr>
        <p:spPr>
          <a:xfrm>
            <a:off x="1485900" y="3509010"/>
            <a:ext cx="16837343" cy="563880"/>
          </a:xfrm>
          <a:prstGeom prst="rect">
            <a:avLst/>
          </a:prstGeom>
          <a:noFill/>
          <a:ln/>
        </p:spPr>
        <p:txBody>
          <a:bodyPr wrap="square" lIns="25400" tIns="25400" rIns="25400" bIns="25400" rtlCol="0" anchor="t">
            <a:normAutofit/>
          </a:bodyPr>
          <a:lstStyle/>
          <a:p>
            <a:pPr algn="l" indent="0" marL="0">
              <a:lnSpc>
                <a:spcPct val="119180"/>
              </a:lnSpc>
              <a:buNone/>
            </a:pPr>
            <a:r>
              <a:rPr lang="en-US" sz="3000" b="1" dirty="0">
                <a:solidFill>
                  <a:srgbClr val="F5F7FA"/>
                </a:solidFill>
                <a:latin typeface="Arial" pitchFamily="34" charset="0"/>
                <a:ea typeface="Arial" pitchFamily="34" charset="-122"/>
                <a:cs typeface="Arial" pitchFamily="34" charset="-120"/>
              </a:rPr>
              <a:t>If an injury accident happens here, how likely is it to be severe?</a:t>
            </a:r>
            <a:endParaRPr lang="en-US" sz="3000" dirty="0"/>
          </a:p>
        </p:txBody>
      </p:sp>
      <p:sp>
        <p:nvSpPr>
          <p:cNvPr id="17" name="Text 15"/>
          <p:cNvSpPr/>
          <p:nvPr/>
        </p:nvSpPr>
        <p:spPr>
          <a:xfrm>
            <a:off x="1485900" y="4149090"/>
            <a:ext cx="1683734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Severe = someone killed or seriously injured. We do not predict whether accidents happen.</a:t>
            </a:r>
            <a:endParaRPr lang="en-US" sz="1800" dirty="0"/>
          </a:p>
        </p:txBody>
      </p:sp>
      <p:sp>
        <p:nvSpPr>
          <p:cNvPr id="18" name="Text 16"/>
          <p:cNvSpPr/>
          <p:nvPr/>
        </p:nvSpPr>
        <p:spPr>
          <a:xfrm>
            <a:off x="1047750" y="5255101"/>
            <a:ext cx="1002347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KNOWN BEFOREHAND · USED BY OUR MODEL</a:t>
            </a:r>
            <a:endParaRPr lang="en-US" sz="1650" dirty="0"/>
          </a:p>
        </p:txBody>
      </p:sp>
      <p:sp>
        <p:nvSpPr>
          <p:cNvPr id="19" name="Shape 17"/>
          <p:cNvSpPr/>
          <p:nvPr/>
        </p:nvSpPr>
        <p:spPr>
          <a:xfrm>
            <a:off x="1047750" y="5756116"/>
            <a:ext cx="1810385" cy="704056"/>
          </a:xfrm>
          <a:prstGeom prst="roundRect">
            <a:avLst>
              <a:gd name="adj" fmla="val 50000"/>
            </a:avLst>
          </a:prstGeom>
          <a:solidFill>
            <a:srgbClr val="6FA3E8">
              <a:alpha val="8000"/>
            </a:srgbClr>
          </a:solidFill>
          <a:ln w="14288">
            <a:solidFill>
              <a:srgbClr val="6FA3E8">
                <a:alpha val="55000"/>
              </a:srgbClr>
            </a:solidFill>
            <a:prstDash val="solid"/>
          </a:ln>
          <a:effectLst>
            <a:outerShdw sx="100000" sy="100000" kx="0" ky="0" algn="bl" rotWithShape="0" blurRad="228600" dist="50800" dir="16200000">
              <a:srgbClr val="6FA3E8">
                <a:alpha val="80000"/>
              </a:srgbClr>
            </a:outerShdw>
          </a:effectLst>
        </p:spPr>
      </p:sp>
      <p:pic>
        <p:nvPicPr>
          <p:cNvPr id="20" name="Image 0" descr="preencoded.png">    </p:cNvPr>
          <p:cNvPicPr>
            <a:picLocks noChangeAspect="1"/>
          </p:cNvPicPr>
          <p:nvPr/>
        </p:nvPicPr>
        <p:blipFill>
          <a:blip r:embed="rId2"/>
          <a:stretch>
            <a:fillRect/>
          </a:stretch>
        </p:blipFill>
        <p:spPr>
          <a:xfrm>
            <a:off x="1309688" y="5936615"/>
            <a:ext cx="342900" cy="342900"/>
          </a:xfrm>
          <a:prstGeom prst="rect">
            <a:avLst/>
          </a:prstGeom>
        </p:spPr>
      </p:pic>
      <p:sp>
        <p:nvSpPr>
          <p:cNvPr id="21" name="Text 18"/>
          <p:cNvSpPr/>
          <p:nvPr/>
        </p:nvSpPr>
        <p:spPr>
          <a:xfrm>
            <a:off x="1785938" y="5884704"/>
            <a:ext cx="88646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Place</a:t>
            </a:r>
            <a:endParaRPr lang="en-US" sz="2550" dirty="0"/>
          </a:p>
        </p:txBody>
      </p:sp>
      <p:sp>
        <p:nvSpPr>
          <p:cNvPr id="22" name="Shape 19"/>
          <p:cNvSpPr/>
          <p:nvPr/>
        </p:nvSpPr>
        <p:spPr>
          <a:xfrm>
            <a:off x="3010535" y="5756116"/>
            <a:ext cx="1707674" cy="704056"/>
          </a:xfrm>
          <a:prstGeom prst="roundRect">
            <a:avLst>
              <a:gd name="adj" fmla="val 50000"/>
            </a:avLst>
          </a:prstGeom>
          <a:solidFill>
            <a:srgbClr val="6FA3E8">
              <a:alpha val="8000"/>
            </a:srgbClr>
          </a:solidFill>
          <a:ln w="14288">
            <a:solidFill>
              <a:srgbClr val="6FA3E8">
                <a:alpha val="55000"/>
              </a:srgbClr>
            </a:solidFill>
            <a:prstDash val="solid"/>
          </a:ln>
          <a:effectLst>
            <a:outerShdw sx="100000" sy="100000" kx="0" ky="0" algn="bl" rotWithShape="0" blurRad="228600" dist="50800" dir="16200000">
              <a:srgbClr val="6FA3E8">
                <a:alpha val="80000"/>
              </a:srgbClr>
            </a:outerShdw>
          </a:effectLst>
        </p:spPr>
      </p:sp>
      <p:pic>
        <p:nvPicPr>
          <p:cNvPr id="23" name="Image 1" descr="preencoded.png">    </p:cNvPr>
          <p:cNvPicPr>
            <a:picLocks noChangeAspect="1"/>
          </p:cNvPicPr>
          <p:nvPr/>
        </p:nvPicPr>
        <p:blipFill>
          <a:blip r:embed="rId3"/>
          <a:stretch>
            <a:fillRect/>
          </a:stretch>
        </p:blipFill>
        <p:spPr>
          <a:xfrm>
            <a:off x="3272472" y="5936615"/>
            <a:ext cx="342900" cy="342900"/>
          </a:xfrm>
          <a:prstGeom prst="rect">
            <a:avLst/>
          </a:prstGeom>
        </p:spPr>
      </p:pic>
      <p:sp>
        <p:nvSpPr>
          <p:cNvPr id="24" name="Text 20"/>
          <p:cNvSpPr/>
          <p:nvPr/>
        </p:nvSpPr>
        <p:spPr>
          <a:xfrm>
            <a:off x="3748722" y="5884704"/>
            <a:ext cx="78374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Time</a:t>
            </a:r>
            <a:endParaRPr lang="en-US" sz="2550" dirty="0"/>
          </a:p>
        </p:txBody>
      </p:sp>
      <p:sp>
        <p:nvSpPr>
          <p:cNvPr id="25" name="Shape 21"/>
          <p:cNvSpPr/>
          <p:nvPr/>
        </p:nvSpPr>
        <p:spPr>
          <a:xfrm>
            <a:off x="4870609" y="5756116"/>
            <a:ext cx="1702594" cy="704056"/>
          </a:xfrm>
          <a:prstGeom prst="roundRect">
            <a:avLst>
              <a:gd name="adj" fmla="val 50000"/>
            </a:avLst>
          </a:prstGeom>
          <a:solidFill>
            <a:srgbClr val="6FA3E8">
              <a:alpha val="8000"/>
            </a:srgbClr>
          </a:solidFill>
          <a:ln w="14288">
            <a:solidFill>
              <a:srgbClr val="6FA3E8">
                <a:alpha val="55000"/>
              </a:srgbClr>
            </a:solidFill>
            <a:prstDash val="solid"/>
          </a:ln>
          <a:effectLst>
            <a:outerShdw sx="100000" sy="100000" kx="0" ky="0" algn="bl" rotWithShape="0" blurRad="228600" dist="50800" dir="16200000">
              <a:srgbClr val="6FA3E8">
                <a:alpha val="80000"/>
              </a:srgbClr>
            </a:outerShdw>
          </a:effectLst>
        </p:spPr>
      </p:sp>
      <p:pic>
        <p:nvPicPr>
          <p:cNvPr id="26" name="Image 2" descr="preencoded.png">    </p:cNvPr>
          <p:cNvPicPr>
            <a:picLocks noChangeAspect="1"/>
          </p:cNvPicPr>
          <p:nvPr/>
        </p:nvPicPr>
        <p:blipFill>
          <a:blip r:embed="rId4"/>
          <a:stretch>
            <a:fillRect/>
          </a:stretch>
        </p:blipFill>
        <p:spPr>
          <a:xfrm>
            <a:off x="5132546" y="5936615"/>
            <a:ext cx="342900" cy="342900"/>
          </a:xfrm>
          <a:prstGeom prst="rect">
            <a:avLst/>
          </a:prstGeom>
        </p:spPr>
      </p:pic>
      <p:sp>
        <p:nvSpPr>
          <p:cNvPr id="27" name="Text 22"/>
          <p:cNvSpPr/>
          <p:nvPr/>
        </p:nvSpPr>
        <p:spPr>
          <a:xfrm>
            <a:off x="5608796" y="5884704"/>
            <a:ext cx="77866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Light</a:t>
            </a:r>
            <a:endParaRPr lang="en-US" sz="2550" dirty="0"/>
          </a:p>
        </p:txBody>
      </p:sp>
      <p:sp>
        <p:nvSpPr>
          <p:cNvPr id="28" name="Shape 23"/>
          <p:cNvSpPr/>
          <p:nvPr/>
        </p:nvSpPr>
        <p:spPr>
          <a:xfrm>
            <a:off x="6725602" y="5756116"/>
            <a:ext cx="2926715" cy="704056"/>
          </a:xfrm>
          <a:prstGeom prst="roundRect">
            <a:avLst>
              <a:gd name="adj" fmla="val 50000"/>
            </a:avLst>
          </a:prstGeom>
          <a:solidFill>
            <a:srgbClr val="6FA3E8">
              <a:alpha val="8000"/>
            </a:srgbClr>
          </a:solidFill>
          <a:ln w="14288">
            <a:solidFill>
              <a:srgbClr val="6FA3E8">
                <a:alpha val="55000"/>
              </a:srgbClr>
            </a:solidFill>
            <a:prstDash val="solid"/>
          </a:ln>
          <a:effectLst>
            <a:outerShdw sx="100000" sy="100000" kx="0" ky="0" algn="bl" rotWithShape="0" blurRad="228600" dist="50800" dir="16200000">
              <a:srgbClr val="6FA3E8">
                <a:alpha val="80000"/>
              </a:srgbClr>
            </a:outerShdw>
          </a:effectLst>
        </p:spPr>
      </p:sp>
      <p:pic>
        <p:nvPicPr>
          <p:cNvPr id="29" name="Image 3" descr="preencoded.png">    </p:cNvPr>
          <p:cNvPicPr>
            <a:picLocks noChangeAspect="1"/>
          </p:cNvPicPr>
          <p:nvPr/>
        </p:nvPicPr>
        <p:blipFill>
          <a:blip r:embed="rId5"/>
          <a:stretch>
            <a:fillRect/>
          </a:stretch>
        </p:blipFill>
        <p:spPr>
          <a:xfrm>
            <a:off x="6987540" y="5936615"/>
            <a:ext cx="342900" cy="342900"/>
          </a:xfrm>
          <a:prstGeom prst="rect">
            <a:avLst/>
          </a:prstGeom>
        </p:spPr>
      </p:pic>
      <p:sp>
        <p:nvSpPr>
          <p:cNvPr id="30" name="Text 24"/>
          <p:cNvSpPr/>
          <p:nvPr/>
        </p:nvSpPr>
        <p:spPr>
          <a:xfrm>
            <a:off x="7463790" y="5884704"/>
            <a:ext cx="211924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Road surface</a:t>
            </a:r>
            <a:endParaRPr lang="en-US" sz="2550" dirty="0"/>
          </a:p>
        </p:txBody>
      </p:sp>
      <p:sp>
        <p:nvSpPr>
          <p:cNvPr id="31" name="Shape 25"/>
          <p:cNvSpPr/>
          <p:nvPr/>
        </p:nvSpPr>
        <p:spPr>
          <a:xfrm>
            <a:off x="1047750" y="6612573"/>
            <a:ext cx="2656522" cy="704056"/>
          </a:xfrm>
          <a:prstGeom prst="roundRect">
            <a:avLst>
              <a:gd name="adj" fmla="val 50000"/>
            </a:avLst>
          </a:prstGeom>
          <a:solidFill>
            <a:srgbClr val="6FA3E8">
              <a:alpha val="8000"/>
            </a:srgbClr>
          </a:solidFill>
          <a:ln w="14288">
            <a:solidFill>
              <a:srgbClr val="6FA3E8">
                <a:alpha val="55000"/>
              </a:srgbClr>
            </a:solidFill>
            <a:prstDash val="solid"/>
          </a:ln>
          <a:effectLst>
            <a:outerShdw sx="100000" sy="100000" kx="0" ky="0" algn="bl" rotWithShape="0" blurRad="228600" dist="50800" dir="16200000">
              <a:srgbClr val="6FA3E8">
                <a:alpha val="80000"/>
              </a:srgbClr>
            </a:outerShdw>
          </a:effectLst>
        </p:spPr>
      </p:sp>
      <p:pic>
        <p:nvPicPr>
          <p:cNvPr id="32" name="Image 4" descr="preencoded.png">    </p:cNvPr>
          <p:cNvPicPr>
            <a:picLocks noChangeAspect="1"/>
          </p:cNvPicPr>
          <p:nvPr/>
        </p:nvPicPr>
        <p:blipFill>
          <a:blip r:embed="rId6"/>
          <a:stretch>
            <a:fillRect/>
          </a:stretch>
        </p:blipFill>
        <p:spPr>
          <a:xfrm>
            <a:off x="1309688" y="6793071"/>
            <a:ext cx="342900" cy="342900"/>
          </a:xfrm>
          <a:prstGeom prst="rect">
            <a:avLst/>
          </a:prstGeom>
        </p:spPr>
      </p:pic>
      <p:sp>
        <p:nvSpPr>
          <p:cNvPr id="33" name="Text 26"/>
          <p:cNvSpPr/>
          <p:nvPr/>
        </p:nvSpPr>
        <p:spPr>
          <a:xfrm>
            <a:off x="1785938" y="6741160"/>
            <a:ext cx="1822037"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Road users</a:t>
            </a:r>
            <a:endParaRPr lang="en-US" sz="2550" dirty="0"/>
          </a:p>
        </p:txBody>
      </p:sp>
      <p:sp>
        <p:nvSpPr>
          <p:cNvPr id="34" name="Text 27"/>
          <p:cNvSpPr/>
          <p:nvPr/>
        </p:nvSpPr>
        <p:spPr>
          <a:xfrm>
            <a:off x="10731500" y="5255101"/>
            <a:ext cx="715962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KNOWN ONLY AFTERWARDS · NOT USED</a:t>
            </a:r>
            <a:endParaRPr lang="en-US" sz="1650" dirty="0"/>
          </a:p>
        </p:txBody>
      </p:sp>
      <p:sp>
        <p:nvSpPr>
          <p:cNvPr id="35" name="Shape 28"/>
          <p:cNvSpPr/>
          <p:nvPr/>
        </p:nvSpPr>
        <p:spPr>
          <a:xfrm>
            <a:off x="10731500" y="5756116"/>
            <a:ext cx="6508750" cy="1209993"/>
          </a:xfrm>
          <a:prstGeom prst="roundRect">
            <a:avLst>
              <a:gd name="adj" fmla="val 15744"/>
            </a:avLst>
          </a:prstGeom>
          <a:solidFill>
            <a:srgbClr val="FFBE0B">
              <a:alpha val="4000"/>
            </a:srgbClr>
          </a:solidFill>
          <a:ln w="14288">
            <a:solidFill>
              <a:srgbClr val="FFBE0B">
                <a:alpha val="50000"/>
              </a:srgbClr>
            </a:solidFill>
            <a:prstDash val="dash"/>
          </a:ln>
        </p:spPr>
      </p:sp>
      <p:pic>
        <p:nvPicPr>
          <p:cNvPr id="36" name="Image 5" descr="preencoded.png">    </p:cNvPr>
          <p:cNvPicPr>
            <a:picLocks noChangeAspect="1"/>
          </p:cNvPicPr>
          <p:nvPr/>
        </p:nvPicPr>
        <p:blipFill>
          <a:blip r:embed="rId7"/>
          <a:stretch>
            <a:fillRect/>
          </a:stretch>
        </p:blipFill>
        <p:spPr>
          <a:xfrm>
            <a:off x="11031537" y="6151562"/>
            <a:ext cx="419100" cy="419100"/>
          </a:xfrm>
          <a:prstGeom prst="rect">
            <a:avLst/>
          </a:prstGeom>
        </p:spPr>
      </p:pic>
      <p:sp>
        <p:nvSpPr>
          <p:cNvPr id="37" name="Text 29"/>
          <p:cNvSpPr/>
          <p:nvPr/>
        </p:nvSpPr>
        <p:spPr>
          <a:xfrm>
            <a:off x="11660187" y="5979954"/>
            <a:ext cx="358540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Accident kind and type</a:t>
            </a:r>
            <a:endParaRPr lang="en-US" sz="2550" dirty="0"/>
          </a:p>
        </p:txBody>
      </p:sp>
      <p:sp>
        <p:nvSpPr>
          <p:cNvPr id="38" name="Text 30"/>
          <p:cNvSpPr/>
          <p:nvPr/>
        </p:nvSpPr>
        <p:spPr>
          <a:xfrm>
            <a:off x="11660187" y="6426835"/>
            <a:ext cx="3585401"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e.g. “head-on collision”</a:t>
            </a:r>
            <a:endParaRPr lang="en-US" sz="1800" dirty="0"/>
          </a:p>
        </p:txBody>
      </p:sp>
      <p:sp>
        <p:nvSpPr>
          <p:cNvPr id="39" name="Shape 31"/>
          <p:cNvSpPr/>
          <p:nvPr/>
        </p:nvSpPr>
        <p:spPr>
          <a:xfrm>
            <a:off x="1047750" y="8897144"/>
            <a:ext cx="16192500" cy="9525"/>
          </a:xfrm>
          <a:prstGeom prst="rect">
            <a:avLst/>
          </a:prstGeom>
          <a:solidFill>
            <a:srgbClr val="FFFFFF">
              <a:alpha val="8000"/>
            </a:srgbClr>
          </a:solidFill>
          <a:ln/>
        </p:spPr>
      </p:sp>
      <p:sp>
        <p:nvSpPr>
          <p:cNvPr id="40" name="Shape 32"/>
          <p:cNvSpPr/>
          <p:nvPr/>
        </p:nvSpPr>
        <p:spPr>
          <a:xfrm rot="2700000">
            <a:off x="1047750" y="9253855"/>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41" name="Text 33"/>
          <p:cNvSpPr/>
          <p:nvPr/>
        </p:nvSpPr>
        <p:spPr>
          <a:xfrm>
            <a:off x="1562100" y="9241473"/>
            <a:ext cx="1391761"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IN SHORT</a:t>
            </a:r>
            <a:endParaRPr lang="en-US" sz="1650" dirty="0"/>
          </a:p>
        </p:txBody>
      </p:sp>
      <p:sp>
        <p:nvSpPr>
          <p:cNvPr id="42" name="Text 34"/>
          <p:cNvSpPr/>
          <p:nvPr/>
        </p:nvSpPr>
        <p:spPr>
          <a:xfrm>
            <a:off x="3094037" y="9154319"/>
            <a:ext cx="9151223"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Our model finds </a:t>
            </a:r>
            <a:pPr algn="l" indent="0" marL="0">
              <a:lnSpc>
                <a:spcPct val="118427"/>
              </a:lnSpc>
              <a:buNone/>
            </a:pPr>
            <a:r>
              <a:rPr lang="en-US" sz="2550" b="1" dirty="0">
                <a:solidFill>
                  <a:srgbClr val="FFBE0B"/>
                </a:solidFill>
                <a:latin typeface="Arial" pitchFamily="34" charset="0"/>
                <a:ea typeface="Arial" pitchFamily="34" charset="-122"/>
                <a:cs typeface="Arial" pitchFamily="34" charset="-120"/>
              </a:rPr>
              <a:t>58% </a:t>
            </a:r>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of severe accidents on unseen data.</a:t>
            </a:r>
            <a:endParaRPr lang="en-US" sz="2550" dirty="0"/>
          </a:p>
        </p:txBody>
      </p:sp>
      <p:sp>
        <p:nvSpPr>
          <p:cNvPr id="43" name="Text 35"/>
          <p:cNvSpPr/>
          <p:nvPr/>
        </p:nvSpPr>
        <p:spPr>
          <a:xfrm>
            <a:off x="13351351" y="9220041"/>
            <a:ext cx="4277789"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Test set, 40,927 accidents, used once.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427646"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About 1 in 6 injury accidents is severe, so simple accuracy would mislead</a:t>
            </a:r>
            <a:endParaRPr lang="en-US" sz="4200" dirty="0"/>
          </a:p>
        </p:txBody>
      </p:sp>
      <p:sp>
        <p:nvSpPr>
          <p:cNvPr id="4" name="Text 2"/>
          <p:cNvSpPr/>
          <p:nvPr/>
        </p:nvSpPr>
        <p:spPr>
          <a:xfrm>
            <a:off x="14655800" y="915670"/>
            <a:ext cx="141795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FFBE0B"/>
                </a:solidFill>
                <a:latin typeface="Arial" pitchFamily="34" charset="0"/>
                <a:ea typeface="Arial" pitchFamily="34" charset="-122"/>
                <a:cs typeface="Arial" pitchFamily="34" charset="-120"/>
              </a:rPr>
              <a:t>PROBLEM</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solidFill>
          <a:ln/>
          <a:effectLst>
            <a:outerShdw sx="100000" sy="100000" kx="0" ky="0" algn="bl" rotWithShape="0" blurRad="114300" dist="50800" dir="16200000">
              <a:srgbClr val="FFBE0B">
                <a:alpha val="100000"/>
              </a:srgbClr>
            </a:outerShdw>
          </a:effectLst>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Text 9"/>
          <p:cNvSpPr/>
          <p:nvPr/>
        </p:nvSpPr>
        <p:spPr>
          <a:xfrm>
            <a:off x="1047750" y="2769870"/>
            <a:ext cx="13096875" cy="1219200"/>
          </a:xfrm>
          <a:prstGeom prst="rect">
            <a:avLst/>
          </a:prstGeom>
          <a:noFill/>
          <a:ln/>
        </p:spPr>
        <p:txBody>
          <a:bodyPr wrap="square" lIns="25400" tIns="25400" rIns="25400" bIns="25400" rtlCol="0" anchor="t">
            <a:normAutofit/>
          </a:bodyPr>
          <a:lstStyle/>
          <a:p>
            <a:pPr algn="l" indent="0" marL="0">
              <a:lnSpc>
                <a:spcPct val="86683"/>
              </a:lnSpc>
              <a:buNone/>
            </a:pPr>
            <a:r>
              <a:rPr lang="en-US" sz="9300" b="1" spc="-186" kern="0" dirty="0">
                <a:solidFill>
                  <a:srgbClr val="F5F7FA"/>
                </a:solidFill>
                <a:latin typeface="Arial" pitchFamily="34" charset="0"/>
                <a:ea typeface="Arial" pitchFamily="34" charset="-122"/>
                <a:cs typeface="Arial" pitchFamily="34" charset="-120"/>
              </a:rPr>
              <a:t>272,812</a:t>
            </a:r>
            <a:endParaRPr lang="en-US" sz="9300" dirty="0"/>
          </a:p>
        </p:txBody>
      </p:sp>
      <p:sp>
        <p:nvSpPr>
          <p:cNvPr id="12" name="Text 10"/>
          <p:cNvSpPr/>
          <p:nvPr/>
        </p:nvSpPr>
        <p:spPr>
          <a:xfrm>
            <a:off x="1047750" y="4084320"/>
            <a:ext cx="130968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police-recorded injury accidents, 2025 (195 without population data removed)</a:t>
            </a:r>
            <a:endParaRPr lang="en-US" sz="1800" dirty="0"/>
          </a:p>
        </p:txBody>
      </p:sp>
      <p:sp>
        <p:nvSpPr>
          <p:cNvPr id="13" name="Shape 11"/>
          <p:cNvSpPr/>
          <p:nvPr/>
        </p:nvSpPr>
        <p:spPr>
          <a:xfrm>
            <a:off x="1047750" y="4837906"/>
            <a:ext cx="11906250" cy="533400"/>
          </a:xfrm>
          <a:prstGeom prst="roundRect">
            <a:avLst>
              <a:gd name="adj" fmla="val 21429"/>
            </a:avLst>
          </a:prstGeom>
          <a:ln/>
          <a:effectLst>
            <a:outerShdw sx="100000" sy="100000" kx="0" ky="0" algn="bl" rotWithShape="0" blurRad="101600" dist="50800" dir="16200000">
              <a:srgbClr val="FFFFFF">
                <a:alpha val="8000"/>
              </a:srgbClr>
            </a:outerShdw>
          </a:effectLst>
        </p:spPr>
      </p:sp>
      <p:sp>
        <p:nvSpPr>
          <p:cNvPr id="14" name="Shape 12"/>
          <p:cNvSpPr/>
          <p:nvPr/>
        </p:nvSpPr>
        <p:spPr>
          <a:xfrm>
            <a:off x="1047750" y="4837906"/>
            <a:ext cx="10036969" cy="533400"/>
          </a:xfrm>
          <a:prstGeom prst="rect">
            <a:avLst/>
          </a:prstGeom>
          <a:gradFill rotWithShape="1">
            <a:gsLst>
              <a:gs pos="0">
                <a:srgbClr val="B8C0C8">
                  <a:alpha val="32000"/>
                </a:srgbClr>
              </a:gs>
              <a:gs pos="100000">
                <a:srgbClr val="B8C0C8">
                  <a:alpha val="18000"/>
                </a:srgbClr>
              </a:gs>
            </a:gsLst>
            <a:lin ang="5400000" scaled="0"/>
          </a:gradFill>
          <a:ln/>
        </p:spPr>
      </p:sp>
      <p:sp>
        <p:nvSpPr>
          <p:cNvPr id="15" name="Shape 13"/>
          <p:cNvSpPr/>
          <p:nvPr/>
        </p:nvSpPr>
        <p:spPr>
          <a:xfrm>
            <a:off x="11084719" y="4837906"/>
            <a:ext cx="1762125" cy="533400"/>
          </a:xfrm>
          <a:prstGeom prst="rect">
            <a:avLst/>
          </a:prstGeom>
          <a:gradFill rotWithShape="1">
            <a:gsLst>
              <a:gs pos="0">
                <a:srgbClr val="FF5D69">
                  <a:alpha val="100000"/>
                </a:srgbClr>
              </a:gs>
              <a:gs pos="100000">
                <a:srgbClr val="E63946">
                  <a:alpha val="100000"/>
                </a:srgbClr>
              </a:gs>
            </a:gsLst>
            <a:lin ang="5400000" scaled="0"/>
          </a:gradFill>
          <a:ln/>
          <a:effectLst>
            <a:outerShdw sx="100000" sy="100000" kx="0" ky="0" algn="bl" rotWithShape="0" blurRad="285750" dist="50800" dir="16200000">
              <a:srgbClr val="E63946">
                <a:alpha val="60000"/>
              </a:srgbClr>
            </a:outerShdw>
          </a:effectLst>
        </p:spPr>
      </p:sp>
      <p:sp>
        <p:nvSpPr>
          <p:cNvPr id="16" name="Shape 14"/>
          <p:cNvSpPr/>
          <p:nvPr/>
        </p:nvSpPr>
        <p:spPr>
          <a:xfrm>
            <a:off x="12846844" y="4837906"/>
            <a:ext cx="107156" cy="533400"/>
          </a:xfrm>
          <a:prstGeom prst="rect">
            <a:avLst/>
          </a:prstGeom>
          <a:solidFill>
            <a:srgbClr val="8E1621"/>
          </a:solidFill>
          <a:ln/>
        </p:spPr>
      </p:sp>
      <p:sp>
        <p:nvSpPr>
          <p:cNvPr id="17" name="Text 15"/>
          <p:cNvSpPr/>
          <p:nvPr/>
        </p:nvSpPr>
        <p:spPr>
          <a:xfrm>
            <a:off x="1047750" y="5504656"/>
            <a:ext cx="2376472"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84.3% slightly injured</a:t>
            </a:r>
            <a:endParaRPr lang="en-US" sz="1800" dirty="0"/>
          </a:p>
        </p:txBody>
      </p:sp>
      <p:sp>
        <p:nvSpPr>
          <p:cNvPr id="18" name="Text 16"/>
          <p:cNvSpPr/>
          <p:nvPr/>
        </p:nvSpPr>
        <p:spPr>
          <a:xfrm>
            <a:off x="9281478" y="5504656"/>
            <a:ext cx="40397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b="1" dirty="0">
                <a:solidFill>
                  <a:srgbClr val="FF6B76"/>
                </a:solidFill>
                <a:latin typeface="Arial" pitchFamily="34" charset="0"/>
                <a:ea typeface="Arial" pitchFamily="34" charset="-122"/>
                <a:cs typeface="Arial" pitchFamily="34" charset="-120"/>
              </a:rPr>
              <a:t>14.8% </a:t>
            </a:r>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seriously injured · </a:t>
            </a:r>
            <a:pPr algn="l" indent="0" marL="0">
              <a:lnSpc>
                <a:spcPct val="117089"/>
              </a:lnSpc>
              <a:buNone/>
            </a:pPr>
            <a:r>
              <a:rPr lang="en-US" sz="1800" b="1" dirty="0">
                <a:solidFill>
                  <a:srgbClr val="FF6B76"/>
                </a:solidFill>
                <a:latin typeface="Arial" pitchFamily="34" charset="0"/>
                <a:ea typeface="Arial" pitchFamily="34" charset="-122"/>
                <a:cs typeface="Arial" pitchFamily="34" charset="-120"/>
              </a:rPr>
              <a:t>0.9% </a:t>
            </a:r>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killed</a:t>
            </a:r>
            <a:endParaRPr lang="en-US" sz="1800" dirty="0"/>
          </a:p>
        </p:txBody>
      </p:sp>
      <p:sp>
        <p:nvSpPr>
          <p:cNvPr id="19" name="Shape 17"/>
          <p:cNvSpPr/>
          <p:nvPr/>
        </p:nvSpPr>
        <p:spPr>
          <a:xfrm>
            <a:off x="1047750" y="6258242"/>
            <a:ext cx="5762625" cy="1832927"/>
          </a:xfrm>
          <a:prstGeom prst="roundRect">
            <a:avLst>
              <a:gd name="adj" fmla="val 1143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0" name="Text 18"/>
          <p:cNvSpPr/>
          <p:nvPr/>
        </p:nvSpPr>
        <p:spPr>
          <a:xfrm>
            <a:off x="1362075" y="6534467"/>
            <a:ext cx="5647373"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ADDED</a:t>
            </a:r>
            <a:endParaRPr lang="en-US" sz="1650" dirty="0"/>
          </a:p>
        </p:txBody>
      </p:sp>
      <p:sp>
        <p:nvSpPr>
          <p:cNvPr id="21" name="Text 19"/>
          <p:cNvSpPr/>
          <p:nvPr/>
        </p:nvSpPr>
        <p:spPr>
          <a:xfrm>
            <a:off x="1362075" y="6921182"/>
            <a:ext cx="5287994"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Municipality statistics: population density, city / town / rural</a:t>
            </a:r>
            <a:endParaRPr lang="en-US" sz="2550" dirty="0"/>
          </a:p>
        </p:txBody>
      </p:sp>
      <p:sp>
        <p:nvSpPr>
          <p:cNvPr id="22" name="Shape 20"/>
          <p:cNvSpPr/>
          <p:nvPr/>
        </p:nvSpPr>
        <p:spPr>
          <a:xfrm>
            <a:off x="7191375" y="6258242"/>
            <a:ext cx="5762625" cy="1832927"/>
          </a:xfrm>
          <a:prstGeom prst="roundRect">
            <a:avLst>
              <a:gd name="adj" fmla="val 1143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3" name="Text 21"/>
          <p:cNvSpPr/>
          <p:nvPr/>
        </p:nvSpPr>
        <p:spPr>
          <a:xfrm>
            <a:off x="7505700" y="6534467"/>
            <a:ext cx="5647373"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SPLIT</a:t>
            </a:r>
            <a:endParaRPr lang="en-US" sz="1650" dirty="0"/>
          </a:p>
        </p:txBody>
      </p:sp>
      <p:sp>
        <p:nvSpPr>
          <p:cNvPr id="24" name="Shape 22"/>
          <p:cNvSpPr/>
          <p:nvPr/>
        </p:nvSpPr>
        <p:spPr>
          <a:xfrm>
            <a:off x="7505700" y="6921182"/>
            <a:ext cx="3513772" cy="419100"/>
          </a:xfrm>
          <a:prstGeom prst="roundRect">
            <a:avLst>
              <a:gd name="adj" fmla="val 18182"/>
            </a:avLst>
          </a:prstGeom>
          <a:gradFill rotWithShape="1">
            <a:gsLst>
              <a:gs pos="0">
                <a:srgbClr val="6FA3E8">
                  <a:alpha val="25000"/>
                </a:srgbClr>
              </a:gs>
              <a:gs pos="100000">
                <a:srgbClr val="6FA3E8">
                  <a:alpha val="50000"/>
                </a:srgbClr>
              </a:gs>
            </a:gsLst>
            <a:lin ang="0" scaled="0"/>
          </a:gradFill>
          <a:ln/>
        </p:spPr>
      </p:sp>
      <p:sp>
        <p:nvSpPr>
          <p:cNvPr id="25" name="Text 23"/>
          <p:cNvSpPr/>
          <p:nvPr/>
        </p:nvSpPr>
        <p:spPr>
          <a:xfrm>
            <a:off x="7452993" y="6921182"/>
            <a:ext cx="3619186"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5F7FA"/>
                </a:solidFill>
                <a:latin typeface="Arial" pitchFamily="34" charset="0"/>
                <a:ea typeface="Arial" pitchFamily="34" charset="-122"/>
                <a:cs typeface="Arial" pitchFamily="34" charset="-120"/>
              </a:rPr>
              <a:t>70% train</a:t>
            </a:r>
            <a:endParaRPr lang="en-US" sz="1800" dirty="0"/>
          </a:p>
        </p:txBody>
      </p:sp>
      <p:sp>
        <p:nvSpPr>
          <p:cNvPr id="26" name="Shape 24"/>
          <p:cNvSpPr/>
          <p:nvPr/>
        </p:nvSpPr>
        <p:spPr>
          <a:xfrm>
            <a:off x="11076623" y="6921182"/>
            <a:ext cx="752951" cy="419100"/>
          </a:xfrm>
          <a:prstGeom prst="roundRect">
            <a:avLst>
              <a:gd name="adj" fmla="val 18182"/>
            </a:avLst>
          </a:prstGeom>
          <a:solidFill>
            <a:srgbClr val="B8C0C8">
              <a:alpha val="22000"/>
            </a:srgbClr>
          </a:solidFill>
          <a:ln/>
        </p:spPr>
      </p:sp>
      <p:sp>
        <p:nvSpPr>
          <p:cNvPr id="27" name="Text 25"/>
          <p:cNvSpPr/>
          <p:nvPr/>
        </p:nvSpPr>
        <p:spPr>
          <a:xfrm>
            <a:off x="11038523" y="6921182"/>
            <a:ext cx="829151"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5F7FA"/>
                </a:solidFill>
                <a:latin typeface="Arial" pitchFamily="34" charset="0"/>
                <a:ea typeface="Arial" pitchFamily="34" charset="-122"/>
                <a:cs typeface="Arial" pitchFamily="34" charset="-120"/>
              </a:rPr>
              <a:t>15%</a:t>
            </a:r>
            <a:endParaRPr lang="en-US" sz="1800" dirty="0"/>
          </a:p>
        </p:txBody>
      </p:sp>
      <p:sp>
        <p:nvSpPr>
          <p:cNvPr id="28" name="Shape 26"/>
          <p:cNvSpPr/>
          <p:nvPr/>
        </p:nvSpPr>
        <p:spPr>
          <a:xfrm>
            <a:off x="11886723" y="6921182"/>
            <a:ext cx="752951" cy="419100"/>
          </a:xfrm>
          <a:prstGeom prst="roundRect">
            <a:avLst>
              <a:gd name="adj" fmla="val 18182"/>
            </a:avLst>
          </a:prstGeom>
          <a:solidFill>
            <a:srgbClr val="B8C0C8">
              <a:alpha val="22000"/>
            </a:srgbClr>
          </a:solidFill>
          <a:ln/>
        </p:spPr>
      </p:sp>
      <p:sp>
        <p:nvSpPr>
          <p:cNvPr id="29" name="Text 27"/>
          <p:cNvSpPr/>
          <p:nvPr/>
        </p:nvSpPr>
        <p:spPr>
          <a:xfrm>
            <a:off x="11848623" y="6921182"/>
            <a:ext cx="829151"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5F7FA"/>
                </a:solidFill>
                <a:latin typeface="Arial" pitchFamily="34" charset="0"/>
                <a:ea typeface="Arial" pitchFamily="34" charset="-122"/>
                <a:cs typeface="Arial" pitchFamily="34" charset="-120"/>
              </a:rPr>
              <a:t>15%</a:t>
            </a:r>
            <a:endParaRPr lang="en-US" sz="1800" dirty="0"/>
          </a:p>
        </p:txBody>
      </p:sp>
      <p:sp>
        <p:nvSpPr>
          <p:cNvPr id="30" name="Text 28"/>
          <p:cNvSpPr/>
          <p:nvPr/>
        </p:nvSpPr>
        <p:spPr>
          <a:xfrm>
            <a:off x="7505700" y="7454582"/>
            <a:ext cx="564737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 test (used once, at the end)</a:t>
            </a:r>
            <a:endParaRPr lang="en-US" sz="1800" dirty="0"/>
          </a:p>
        </p:txBody>
      </p:sp>
      <p:sp>
        <p:nvSpPr>
          <p:cNvPr id="31" name="Shape 29"/>
          <p:cNvSpPr/>
          <p:nvPr/>
        </p:nvSpPr>
        <p:spPr>
          <a:xfrm>
            <a:off x="14049375" y="4519613"/>
            <a:ext cx="2762250" cy="2762250"/>
          </a:xfrm>
          <a:prstGeom prst="ellipse">
            <a:avLst/>
          </a:prstGeom>
          <a:gradFill rotWithShape="1">
            <a:gsLst>
              <a:gs pos="0">
                <a:srgbClr val="25292D">
                  <a:alpha val="100000"/>
                </a:srgbClr>
              </a:gs>
              <a:gs pos="100000">
                <a:srgbClr val="111315">
                  <a:alpha val="100000"/>
                </a:srgbClr>
              </a:gs>
            </a:gsLst>
            <a:path path="circle">
              <a:fillToRect l="50000" t="40000" r="50000" b="60000"/>
            </a:path>
          </a:gradFill>
          <a:ln w="152400">
            <a:solidFill>
              <a:srgbClr val="E63946"/>
            </a:solidFill>
            <a:prstDash val="solid"/>
          </a:ln>
          <a:effectLst>
            <a:outerShdw sx="100000" sy="100000" kx="0" ky="0" algn="bl" rotWithShape="0" blurRad="476250" dist="50800" dir="16200000">
              <a:srgbClr val="E63946">
                <a:alpha val="55000"/>
              </a:srgbClr>
            </a:outerShdw>
          </a:effectLst>
        </p:spPr>
      </p:sp>
      <p:sp>
        <p:nvSpPr>
          <p:cNvPr id="32" name="Text 30"/>
          <p:cNvSpPr/>
          <p:nvPr/>
        </p:nvSpPr>
        <p:spPr>
          <a:xfrm>
            <a:off x="14160341" y="4672013"/>
            <a:ext cx="2540318" cy="2495550"/>
          </a:xfrm>
          <a:prstGeom prst="rect">
            <a:avLst/>
          </a:prstGeom>
          <a:noFill/>
          <a:ln/>
        </p:spPr>
        <p:txBody>
          <a:bodyPr wrap="square" lIns="25400" tIns="25400" rIns="25400" bIns="25400" rtlCol="0" anchor="ctr">
            <a:normAutofit/>
          </a:bodyPr>
          <a:lstStyle/>
          <a:p>
            <a:pPr algn="ctr" indent="0" marL="0">
              <a:lnSpc>
                <a:spcPct val="119204"/>
              </a:lnSpc>
              <a:buNone/>
            </a:pPr>
            <a:r>
              <a:rPr lang="en-US" sz="5100" b="1" dirty="0">
                <a:solidFill>
                  <a:srgbClr val="F5F7FA"/>
                </a:solidFill>
                <a:latin typeface="Arial" pitchFamily="34" charset="0"/>
                <a:ea typeface="Arial" pitchFamily="34" charset="-122"/>
                <a:cs typeface="Arial" pitchFamily="34" charset="-120"/>
              </a:rPr>
              <a:t>15.7%</a:t>
            </a:r>
            <a:endParaRPr lang="en-US" sz="5100" dirty="0"/>
          </a:p>
        </p:txBody>
      </p:sp>
      <p:sp>
        <p:nvSpPr>
          <p:cNvPr id="33" name="Text 31"/>
          <p:cNvSpPr/>
          <p:nvPr/>
        </p:nvSpPr>
        <p:spPr>
          <a:xfrm>
            <a:off x="14808836" y="7529513"/>
            <a:ext cx="1367663" cy="360045"/>
          </a:xfrm>
          <a:prstGeom prst="rect">
            <a:avLst/>
          </a:prstGeom>
          <a:noFill/>
          <a:ln/>
        </p:spPr>
        <p:txBody>
          <a:bodyPr wrap="square" lIns="25400" tIns="25400" rIns="25400" bIns="25400" rtlCol="0" anchor="t">
            <a:normAutofit/>
          </a:bodyPr>
          <a:lstStyle/>
          <a:p>
            <a:pPr algn="l" indent="0" marL="0">
              <a:lnSpc>
                <a:spcPct val="109562"/>
              </a:lnSpc>
              <a:buNone/>
            </a:pPr>
            <a:r>
              <a:rPr lang="en-US" sz="1950" b="1" spc="312" kern="0" dirty="0">
                <a:solidFill>
                  <a:srgbClr val="B8C0C8"/>
                </a:solidFill>
                <a:latin typeface="Arial" pitchFamily="34" charset="0"/>
                <a:ea typeface="Arial" pitchFamily="34" charset="-122"/>
                <a:cs typeface="Arial" pitchFamily="34" charset="-120"/>
              </a:rPr>
              <a:t>SEVERE</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412930"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Severe accidents are twice as common in the countryside as in cities</a:t>
            </a:r>
            <a:endParaRPr lang="en-US" sz="4200" dirty="0"/>
          </a:p>
        </p:txBody>
      </p:sp>
      <p:sp>
        <p:nvSpPr>
          <p:cNvPr id="4" name="Text 2"/>
          <p:cNvSpPr/>
          <p:nvPr/>
        </p:nvSpPr>
        <p:spPr>
          <a:xfrm>
            <a:off x="14641512" y="915670"/>
            <a:ext cx="1433671"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E63946"/>
                </a:solidFill>
                <a:latin typeface="Arial" pitchFamily="34" charset="0"/>
                <a:ea typeface="Arial" pitchFamily="34" charset="-122"/>
                <a:cs typeface="Arial" pitchFamily="34" charset="-120"/>
              </a:rPr>
              <a:t>FINDINGS</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solidFill>
          <a:ln/>
          <a:effectLst>
            <a:outerShdw sx="100000" sy="100000" kx="0" ky="0" algn="bl" rotWithShape="0" blurRad="114300" dist="50800" dir="16200000">
              <a:srgbClr val="E63946">
                <a:alpha val="100000"/>
              </a:srgbClr>
            </a:outerShdw>
          </a:effectLst>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10025063" cy="6831330"/>
          </a:xfrm>
          <a:prstGeom prst="roundRect">
            <a:avLst>
              <a:gd name="adj" fmla="val 3067"/>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Shape 10"/>
          <p:cNvSpPr/>
          <p:nvPr/>
        </p:nvSpPr>
        <p:spPr>
          <a:xfrm>
            <a:off x="1476375" y="7414419"/>
            <a:ext cx="9167813" cy="9525"/>
          </a:xfrm>
          <a:prstGeom prst="rect">
            <a:avLst/>
          </a:prstGeom>
          <a:solidFill>
            <a:srgbClr val="F5F7FA">
              <a:alpha val="30000"/>
            </a:srgbClr>
          </a:solidFill>
          <a:ln/>
        </p:spPr>
      </p:sp>
      <p:sp>
        <p:nvSpPr>
          <p:cNvPr id="13" name="Shape 11"/>
          <p:cNvSpPr/>
          <p:nvPr/>
        </p:nvSpPr>
        <p:spPr>
          <a:xfrm>
            <a:off x="1476375" y="6633369"/>
            <a:ext cx="9167813" cy="9525"/>
          </a:xfrm>
          <a:prstGeom prst="rect">
            <a:avLst/>
          </a:prstGeom>
          <a:solidFill>
            <a:srgbClr val="FFFFFF">
              <a:alpha val="5000"/>
            </a:srgbClr>
          </a:solidFill>
          <a:ln/>
        </p:spPr>
      </p:sp>
      <p:sp>
        <p:nvSpPr>
          <p:cNvPr id="14" name="Shape 12"/>
          <p:cNvSpPr/>
          <p:nvPr/>
        </p:nvSpPr>
        <p:spPr>
          <a:xfrm>
            <a:off x="1476375" y="5861844"/>
            <a:ext cx="9167813" cy="9525"/>
          </a:xfrm>
          <a:prstGeom prst="rect">
            <a:avLst/>
          </a:prstGeom>
          <a:solidFill>
            <a:srgbClr val="FFFFFF">
              <a:alpha val="5000"/>
            </a:srgbClr>
          </a:solidFill>
          <a:ln/>
        </p:spPr>
      </p:sp>
      <p:sp>
        <p:nvSpPr>
          <p:cNvPr id="15" name="Shape 13"/>
          <p:cNvSpPr/>
          <p:nvPr/>
        </p:nvSpPr>
        <p:spPr>
          <a:xfrm>
            <a:off x="1476375" y="5099844"/>
            <a:ext cx="9167813" cy="9525"/>
          </a:xfrm>
          <a:prstGeom prst="rect">
            <a:avLst/>
          </a:prstGeom>
          <a:solidFill>
            <a:srgbClr val="FFFFFF">
              <a:alpha val="5000"/>
            </a:srgbClr>
          </a:solidFill>
          <a:ln/>
        </p:spPr>
      </p:sp>
      <p:sp>
        <p:nvSpPr>
          <p:cNvPr id="16" name="Shape 14"/>
          <p:cNvSpPr/>
          <p:nvPr/>
        </p:nvSpPr>
        <p:spPr>
          <a:xfrm>
            <a:off x="1476375" y="4328319"/>
            <a:ext cx="9167813" cy="9525"/>
          </a:xfrm>
          <a:prstGeom prst="rect">
            <a:avLst/>
          </a:prstGeom>
          <a:solidFill>
            <a:srgbClr val="FFFFFF">
              <a:alpha val="5000"/>
            </a:srgbClr>
          </a:solidFill>
          <a:ln/>
        </p:spPr>
      </p:sp>
      <p:sp>
        <p:nvSpPr>
          <p:cNvPr id="17" name="Shape 15"/>
          <p:cNvSpPr/>
          <p:nvPr/>
        </p:nvSpPr>
        <p:spPr>
          <a:xfrm>
            <a:off x="1476375" y="3556794"/>
            <a:ext cx="9167813" cy="9525"/>
          </a:xfrm>
          <a:prstGeom prst="rect">
            <a:avLst/>
          </a:prstGeom>
          <a:solidFill>
            <a:srgbClr val="FFFFFF">
              <a:alpha val="5000"/>
            </a:srgbClr>
          </a:solidFill>
          <a:ln/>
        </p:spPr>
      </p:sp>
      <p:sp>
        <p:nvSpPr>
          <p:cNvPr id="18" name="Shape 16"/>
          <p:cNvSpPr/>
          <p:nvPr/>
        </p:nvSpPr>
        <p:spPr>
          <a:xfrm>
            <a:off x="1476375" y="4976019"/>
            <a:ext cx="9167813" cy="19050"/>
          </a:xfrm>
          <a:prstGeom prst="rect">
            <a:avLst/>
          </a:prstGeom>
          <a:solidFill>
            <a:srgbClr val="F5F7FA">
              <a:alpha val="45000"/>
            </a:srgbClr>
          </a:solidFill>
          <a:ln/>
        </p:spPr>
      </p:sp>
      <p:sp>
        <p:nvSpPr>
          <p:cNvPr id="19" name="Text 17"/>
          <p:cNvSpPr/>
          <p:nvPr/>
        </p:nvSpPr>
        <p:spPr>
          <a:xfrm>
            <a:off x="2525395" y="5160645"/>
            <a:ext cx="97059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11.3%</a:t>
            </a:r>
            <a:endParaRPr lang="en-US" sz="2550" dirty="0"/>
          </a:p>
        </p:txBody>
      </p:sp>
      <p:sp>
        <p:nvSpPr>
          <p:cNvPr id="20" name="Shape 18"/>
          <p:cNvSpPr/>
          <p:nvPr/>
        </p:nvSpPr>
        <p:spPr>
          <a:xfrm>
            <a:off x="1762125" y="5652294"/>
            <a:ext cx="2420938" cy="1762125"/>
          </a:xfrm>
          <a:custGeom>
            <a:avLst/>
            <a:gdLst/>
            <a:ahLst/>
            <a:cxnLst/>
            <a:rect l="l" t="t" r="r" b="b"/>
            <a:pathLst>
              <a:path w="2420938" h="1762125">
                <a:moveTo>
                  <a:pt x="114300" y="0"/>
                </a:moveTo>
                <a:lnTo>
                  <a:pt x="2306638" y="0"/>
                </a:lnTo>
                <a:arcTo hR="114300" wR="114300" stAng="16200000" swAng="5400000"/>
                <a:lnTo>
                  <a:pt x="2420938" y="1762125"/>
                </a:lnTo>
                <a:lnTo>
                  <a:pt x="0" y="1762125"/>
                </a:lnTo>
                <a:lnTo>
                  <a:pt x="0" y="114300"/>
                </a:lnTo>
                <a:arcTo hR="114300" wR="114300" stAng="10800000" swAng="5400000"/>
                <a:close/>
              </a:path>
            </a:pathLst>
          </a:custGeom>
          <a:gradFill rotWithShape="1">
            <a:gsLst>
              <a:gs pos="0">
                <a:srgbClr val="E63946">
                  <a:alpha val="55000"/>
                </a:srgbClr>
              </a:gs>
              <a:gs pos="100000">
                <a:srgbClr val="E63946">
                  <a:alpha val="12000"/>
                </a:srgbClr>
              </a:gs>
            </a:gsLst>
            <a:lin ang="5400000" scaled="0"/>
          </a:gradFill>
          <a:ln/>
          <a:effectLst>
            <a:outerShdw sx="100000" sy="100000" kx="0" ky="0" algn="bl" rotWithShape="0" blurRad="190500" dist="50800" dir="16200000">
              <a:srgbClr val="E63946">
                <a:alpha val="70000"/>
              </a:srgbClr>
            </a:outerShdw>
          </a:effectLst>
        </p:spPr>
      </p:sp>
      <p:sp>
        <p:nvSpPr>
          <p:cNvPr id="21" name="Shape 19"/>
          <p:cNvSpPr/>
          <p:nvPr/>
        </p:nvSpPr>
        <p:spPr>
          <a:xfrm>
            <a:off x="1762125" y="5652294"/>
            <a:ext cx="2420938" cy="19050"/>
          </a:xfrm>
          <a:prstGeom prst="rect">
            <a:avLst/>
          </a:prstGeom>
          <a:solidFill>
            <a:srgbClr val="FF6B76"/>
          </a:solidFill>
          <a:ln/>
        </p:spPr>
      </p:sp>
      <p:sp>
        <p:nvSpPr>
          <p:cNvPr id="22" name="Text 20"/>
          <p:cNvSpPr/>
          <p:nvPr/>
        </p:nvSpPr>
        <p:spPr>
          <a:xfrm>
            <a:off x="5601017" y="4408170"/>
            <a:ext cx="994727"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16.2%</a:t>
            </a:r>
            <a:endParaRPr lang="en-US" sz="2550" dirty="0"/>
          </a:p>
        </p:txBody>
      </p:sp>
      <p:sp>
        <p:nvSpPr>
          <p:cNvPr id="23" name="Shape 21"/>
          <p:cNvSpPr/>
          <p:nvPr/>
        </p:nvSpPr>
        <p:spPr>
          <a:xfrm>
            <a:off x="4849813" y="4899819"/>
            <a:ext cx="2420937" cy="2514600"/>
          </a:xfrm>
          <a:custGeom>
            <a:avLst/>
            <a:gdLst/>
            <a:ahLst/>
            <a:cxnLst/>
            <a:rect l="l" t="t" r="r" b="b"/>
            <a:pathLst>
              <a:path w="2420937" h="2514600">
                <a:moveTo>
                  <a:pt x="114300" y="0"/>
                </a:moveTo>
                <a:lnTo>
                  <a:pt x="2306637" y="0"/>
                </a:lnTo>
                <a:arcTo hR="114300" wR="114300" stAng="16200000" swAng="5400000"/>
                <a:lnTo>
                  <a:pt x="2420937" y="2514600"/>
                </a:lnTo>
                <a:lnTo>
                  <a:pt x="0" y="2514600"/>
                </a:lnTo>
                <a:lnTo>
                  <a:pt x="0" y="114300"/>
                </a:lnTo>
                <a:arcTo hR="114300" wR="114300" stAng="10800000" swAng="5400000"/>
                <a:close/>
              </a:path>
            </a:pathLst>
          </a:custGeom>
          <a:gradFill rotWithShape="1">
            <a:gsLst>
              <a:gs pos="0">
                <a:srgbClr val="E63946">
                  <a:alpha val="77000"/>
                </a:srgbClr>
              </a:gs>
              <a:gs pos="100000">
                <a:srgbClr val="E63946">
                  <a:alpha val="12000"/>
                </a:srgbClr>
              </a:gs>
            </a:gsLst>
            <a:lin ang="5400000" scaled="0"/>
          </a:gradFill>
          <a:ln/>
          <a:effectLst>
            <a:outerShdw sx="100000" sy="100000" kx="0" ky="0" algn="bl" rotWithShape="0" blurRad="361950" dist="50800" dir="16200000">
              <a:srgbClr val="E63946">
                <a:alpha val="70000"/>
              </a:srgbClr>
            </a:outerShdw>
          </a:effectLst>
        </p:spPr>
      </p:sp>
      <p:sp>
        <p:nvSpPr>
          <p:cNvPr id="24" name="Shape 22"/>
          <p:cNvSpPr/>
          <p:nvPr/>
        </p:nvSpPr>
        <p:spPr>
          <a:xfrm>
            <a:off x="4849813" y="4899819"/>
            <a:ext cx="2420937" cy="19050"/>
          </a:xfrm>
          <a:prstGeom prst="rect">
            <a:avLst/>
          </a:prstGeom>
          <a:solidFill>
            <a:srgbClr val="FF6B76"/>
          </a:solidFill>
          <a:ln/>
        </p:spPr>
      </p:sp>
      <p:sp>
        <p:nvSpPr>
          <p:cNvPr id="25" name="Text 23"/>
          <p:cNvSpPr/>
          <p:nvPr/>
        </p:nvSpPr>
        <p:spPr>
          <a:xfrm>
            <a:off x="8688705" y="3160395"/>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24.3%</a:t>
            </a:r>
            <a:endParaRPr lang="en-US" sz="2550" dirty="0"/>
          </a:p>
        </p:txBody>
      </p:sp>
      <p:sp>
        <p:nvSpPr>
          <p:cNvPr id="26" name="Shape 24"/>
          <p:cNvSpPr/>
          <p:nvPr/>
        </p:nvSpPr>
        <p:spPr>
          <a:xfrm>
            <a:off x="7937500" y="3652044"/>
            <a:ext cx="2420938" cy="3762375"/>
          </a:xfrm>
          <a:custGeom>
            <a:avLst/>
            <a:gdLst/>
            <a:ahLst/>
            <a:cxnLst/>
            <a:rect l="l" t="t" r="r" b="b"/>
            <a:pathLst>
              <a:path w="2420938" h="3762375">
                <a:moveTo>
                  <a:pt x="114300" y="0"/>
                </a:moveTo>
                <a:lnTo>
                  <a:pt x="2306638" y="0"/>
                </a:lnTo>
                <a:arcTo hR="114300" wR="114300" stAng="16200000" swAng="5400000"/>
                <a:lnTo>
                  <a:pt x="2420938" y="3762375"/>
                </a:lnTo>
                <a:lnTo>
                  <a:pt x="0" y="3762375"/>
                </a:lnTo>
                <a:lnTo>
                  <a:pt x="0" y="114300"/>
                </a:lnTo>
                <a:arcTo hR="114300" wR="114300" stAng="10800000" swAng="5400000"/>
                <a:close/>
              </a:path>
            </a:pathLst>
          </a:custGeom>
          <a:gradFill rotWithShape="1">
            <a:gsLst>
              <a:gs pos="0">
                <a:srgbClr val="E63946">
                  <a:alpha val="99000"/>
                </a:srgbClr>
              </a:gs>
              <a:gs pos="100000">
                <a:srgbClr val="E63946">
                  <a:alpha val="12000"/>
                </a:srgbClr>
              </a:gs>
            </a:gsLst>
            <a:lin ang="5400000" scaled="0"/>
          </a:gradFill>
          <a:ln/>
          <a:effectLst>
            <a:outerShdw sx="100000" sy="100000" kx="0" ky="0" algn="bl" rotWithShape="0" blurRad="533400" dist="50800" dir="16200000">
              <a:srgbClr val="E63946">
                <a:alpha val="70000"/>
              </a:srgbClr>
            </a:outerShdw>
          </a:effectLst>
        </p:spPr>
      </p:sp>
      <p:sp>
        <p:nvSpPr>
          <p:cNvPr id="27" name="Shape 25"/>
          <p:cNvSpPr/>
          <p:nvPr/>
        </p:nvSpPr>
        <p:spPr>
          <a:xfrm>
            <a:off x="7937500" y="3652044"/>
            <a:ext cx="2420938" cy="19050"/>
          </a:xfrm>
          <a:prstGeom prst="rect">
            <a:avLst/>
          </a:prstGeom>
          <a:solidFill>
            <a:srgbClr val="FF6B76"/>
          </a:solidFill>
          <a:ln/>
        </p:spPr>
      </p:sp>
      <p:pic>
        <p:nvPicPr>
          <p:cNvPr id="28" name="Image 0" descr="preencoded.png">    </p:cNvPr>
          <p:cNvPicPr>
            <a:picLocks noChangeAspect="1"/>
          </p:cNvPicPr>
          <p:nvPr/>
        </p:nvPicPr>
        <p:blipFill>
          <a:blip r:embed="rId2"/>
          <a:stretch>
            <a:fillRect/>
          </a:stretch>
        </p:blipFill>
        <p:spPr>
          <a:xfrm>
            <a:off x="2782094" y="7595394"/>
            <a:ext cx="381000" cy="381000"/>
          </a:xfrm>
          <a:prstGeom prst="rect">
            <a:avLst/>
          </a:prstGeom>
        </p:spPr>
      </p:pic>
      <p:sp>
        <p:nvSpPr>
          <p:cNvPr id="29" name="Text 26"/>
          <p:cNvSpPr/>
          <p:nvPr/>
        </p:nvSpPr>
        <p:spPr>
          <a:xfrm>
            <a:off x="2693670" y="8014494"/>
            <a:ext cx="63388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City</a:t>
            </a:r>
            <a:endParaRPr lang="en-US" sz="2550" dirty="0"/>
          </a:p>
        </p:txBody>
      </p:sp>
      <p:sp>
        <p:nvSpPr>
          <p:cNvPr id="30" name="Text 27"/>
          <p:cNvSpPr/>
          <p:nvPr/>
        </p:nvSpPr>
        <p:spPr>
          <a:xfrm>
            <a:off x="2044541" y="8499475"/>
            <a:ext cx="2041541"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densely populated</a:t>
            </a:r>
            <a:endParaRPr lang="en-US" sz="1800" dirty="0"/>
          </a:p>
        </p:txBody>
      </p:sp>
      <p:pic>
        <p:nvPicPr>
          <p:cNvPr id="31" name="Image 1" descr="preencoded.png">    </p:cNvPr>
          <p:cNvPicPr>
            <a:picLocks noChangeAspect="1"/>
          </p:cNvPicPr>
          <p:nvPr/>
        </p:nvPicPr>
        <p:blipFill>
          <a:blip r:embed="rId3"/>
          <a:stretch>
            <a:fillRect/>
          </a:stretch>
        </p:blipFill>
        <p:spPr>
          <a:xfrm>
            <a:off x="5869781" y="7595394"/>
            <a:ext cx="381000" cy="381000"/>
          </a:xfrm>
          <a:prstGeom prst="rect">
            <a:avLst/>
          </a:prstGeom>
        </p:spPr>
      </p:pic>
      <p:sp>
        <p:nvSpPr>
          <p:cNvPr id="32" name="Text 28"/>
          <p:cNvSpPr/>
          <p:nvPr/>
        </p:nvSpPr>
        <p:spPr>
          <a:xfrm>
            <a:off x="5682139" y="8014494"/>
            <a:ext cx="83232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Town</a:t>
            </a:r>
            <a:endParaRPr lang="en-US" sz="2550" dirty="0"/>
          </a:p>
        </p:txBody>
      </p:sp>
      <p:sp>
        <p:nvSpPr>
          <p:cNvPr id="33" name="Text 29"/>
          <p:cNvSpPr/>
          <p:nvPr/>
        </p:nvSpPr>
        <p:spPr>
          <a:xfrm>
            <a:off x="5259705" y="8499475"/>
            <a:ext cx="1761268"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medium density</a:t>
            </a:r>
            <a:endParaRPr lang="en-US" sz="1800" dirty="0"/>
          </a:p>
        </p:txBody>
      </p:sp>
      <p:pic>
        <p:nvPicPr>
          <p:cNvPr id="34" name="Image 2" descr="preencoded.png">    </p:cNvPr>
          <p:cNvPicPr>
            <a:picLocks noChangeAspect="1"/>
          </p:cNvPicPr>
          <p:nvPr/>
        </p:nvPicPr>
        <p:blipFill>
          <a:blip r:embed="rId4"/>
          <a:stretch>
            <a:fillRect/>
          </a:stretch>
        </p:blipFill>
        <p:spPr>
          <a:xfrm>
            <a:off x="8957469" y="7595394"/>
            <a:ext cx="381000" cy="381000"/>
          </a:xfrm>
          <a:prstGeom prst="rect">
            <a:avLst/>
          </a:prstGeom>
        </p:spPr>
      </p:pic>
      <p:sp>
        <p:nvSpPr>
          <p:cNvPr id="35" name="Text 30"/>
          <p:cNvSpPr/>
          <p:nvPr/>
        </p:nvSpPr>
        <p:spPr>
          <a:xfrm>
            <a:off x="8283734" y="8014494"/>
            <a:ext cx="190114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Countryside</a:t>
            </a:r>
            <a:endParaRPr lang="en-US" sz="2550" dirty="0"/>
          </a:p>
        </p:txBody>
      </p:sp>
      <p:sp>
        <p:nvSpPr>
          <p:cNvPr id="36" name="Text 31"/>
          <p:cNvSpPr/>
          <p:nvPr/>
        </p:nvSpPr>
        <p:spPr>
          <a:xfrm>
            <a:off x="8188325" y="8499475"/>
            <a:ext cx="2111216"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sparsely populated</a:t>
            </a:r>
            <a:endParaRPr lang="en-US" sz="1800" dirty="0"/>
          </a:p>
        </p:txBody>
      </p:sp>
      <p:sp>
        <p:nvSpPr>
          <p:cNvPr id="37" name="Text 32"/>
          <p:cNvSpPr/>
          <p:nvPr/>
        </p:nvSpPr>
        <p:spPr>
          <a:xfrm>
            <a:off x="1476375" y="8986361"/>
            <a:ext cx="9442847"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Severe share by municipality type. Dashed line: average 15.7%. All 2025 accidents, 272,812.</a:t>
            </a:r>
            <a:endParaRPr lang="en-US" sz="1800" dirty="0"/>
          </a:p>
        </p:txBody>
      </p:sp>
      <p:sp>
        <p:nvSpPr>
          <p:cNvPr id="38" name="Shape 33"/>
          <p:cNvSpPr/>
          <p:nvPr/>
        </p:nvSpPr>
        <p:spPr>
          <a:xfrm rot="2700000">
            <a:off x="11739563" y="4882039"/>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39" name="Text 34"/>
          <p:cNvSpPr/>
          <p:nvPr/>
        </p:nvSpPr>
        <p:spPr>
          <a:xfrm>
            <a:off x="12253913" y="4748689"/>
            <a:ext cx="5135928" cy="1957070"/>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Of the 13-point urban–rural gap, about </a:t>
            </a:r>
            <a:pPr algn="l" indent="0" marL="0">
              <a:lnSpc>
                <a:spcPct val="118427"/>
              </a:lnSpc>
              <a:buNone/>
            </a:pPr>
            <a:r>
              <a:rPr lang="en-US" sz="3300" b="1" dirty="0">
                <a:solidFill>
                  <a:srgbClr val="FFBE0B"/>
                </a:solidFill>
                <a:latin typeface="Arial" pitchFamily="34" charset="0"/>
                <a:ea typeface="Arial" pitchFamily="34" charset="-122"/>
                <a:cs typeface="Arial" pitchFamily="34" charset="-120"/>
              </a:rPr>
              <a:t>10.5 points </a:t>
            </a:r>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come from the same kind of accident being more severe in rural areas.</a:t>
            </a:r>
            <a:endParaRPr lang="en-US" sz="2550" dirty="0"/>
          </a:p>
        </p:txBody>
      </p:sp>
      <p:sp>
        <p:nvSpPr>
          <p:cNvPr id="40" name="Text 35"/>
          <p:cNvSpPr/>
          <p:nvPr/>
        </p:nvSpPr>
        <p:spPr>
          <a:xfrm>
            <a:off x="12253913" y="6991509"/>
            <a:ext cx="5151358"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Likely causes: higher speeds, longer rescue times. Gap measured on all 2025 accidents.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412930"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Motorcycles, nights and weekends carry the highest risk of a severe outcome</a:t>
            </a:r>
            <a:endParaRPr lang="en-US" sz="4200" dirty="0"/>
          </a:p>
        </p:txBody>
      </p:sp>
      <p:sp>
        <p:nvSpPr>
          <p:cNvPr id="4" name="Text 2"/>
          <p:cNvSpPr/>
          <p:nvPr/>
        </p:nvSpPr>
        <p:spPr>
          <a:xfrm>
            <a:off x="14641512" y="915670"/>
            <a:ext cx="1433671"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E63946"/>
                </a:solidFill>
                <a:latin typeface="Arial" pitchFamily="34" charset="0"/>
                <a:ea typeface="Arial" pitchFamily="34" charset="-122"/>
                <a:cs typeface="Arial" pitchFamily="34" charset="-120"/>
              </a:rPr>
              <a:t>FINDINGS</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solidFill>
          <a:ln/>
          <a:effectLst>
            <a:outerShdw sx="100000" sy="100000" kx="0" ky="0" algn="bl" rotWithShape="0" blurRad="114300" dist="50800" dir="16200000">
              <a:srgbClr val="E63946">
                <a:alpha val="100000"/>
              </a:srgbClr>
            </a:outerShdw>
          </a:effectLst>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Text 9"/>
          <p:cNvSpPr/>
          <p:nvPr/>
        </p:nvSpPr>
        <p:spPr>
          <a:xfrm>
            <a:off x="1047750" y="2769870"/>
            <a:ext cx="819340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SEVERE SHARE WHEN INVOLVED</a:t>
            </a:r>
            <a:endParaRPr lang="en-US" sz="1650" dirty="0"/>
          </a:p>
        </p:txBody>
      </p:sp>
      <p:pic>
        <p:nvPicPr>
          <p:cNvPr id="12" name="Image 0" descr="preencoded.png">    </p:cNvPr>
          <p:cNvPicPr>
            <a:picLocks noChangeAspect="1"/>
          </p:cNvPicPr>
          <p:nvPr/>
        </p:nvPicPr>
        <p:blipFill>
          <a:blip r:embed="rId2"/>
          <a:stretch>
            <a:fillRect/>
          </a:stretch>
        </p:blipFill>
        <p:spPr>
          <a:xfrm>
            <a:off x="1047750" y="3237071"/>
            <a:ext cx="400050" cy="400050"/>
          </a:xfrm>
          <a:prstGeom prst="rect">
            <a:avLst/>
          </a:prstGeom>
        </p:spPr>
      </p:pic>
      <p:sp>
        <p:nvSpPr>
          <p:cNvPr id="13" name="Text 10"/>
          <p:cNvSpPr/>
          <p:nvPr/>
        </p:nvSpPr>
        <p:spPr>
          <a:xfrm>
            <a:off x="1600200" y="3213735"/>
            <a:ext cx="172232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Motorcycle</a:t>
            </a:r>
            <a:endParaRPr lang="en-US" sz="2550" dirty="0"/>
          </a:p>
        </p:txBody>
      </p:sp>
      <p:sp>
        <p:nvSpPr>
          <p:cNvPr id="14" name="Shape 11"/>
          <p:cNvSpPr/>
          <p:nvPr/>
        </p:nvSpPr>
        <p:spPr>
          <a:xfrm>
            <a:off x="3848100" y="3227546"/>
            <a:ext cx="3448050" cy="419100"/>
          </a:xfrm>
          <a:custGeom>
            <a:avLst/>
            <a:gdLst/>
            <a:ahLst/>
            <a:cxnLst/>
            <a:rect l="l" t="t" r="r" b="b"/>
            <a:pathLst>
              <a:path w="3448050" h="419100">
                <a:moveTo>
                  <a:pt x="0" y="0"/>
                </a:moveTo>
                <a:lnTo>
                  <a:pt x="3352800" y="0"/>
                </a:lnTo>
                <a:arcTo hR="95250" wR="95250" stAng="16200000" swAng="5400000"/>
                <a:lnTo>
                  <a:pt x="3448050" y="323850"/>
                </a:lnTo>
                <a:arcTo hR="95250" wR="95250" stAng="0" swAng="5400000"/>
                <a:lnTo>
                  <a:pt x="0" y="419100"/>
                </a:lnTo>
                <a:lnTo>
                  <a:pt x="0" y="0"/>
                </a:lnTo>
                <a:close/>
              </a:path>
            </a:pathLst>
          </a:custGeom>
          <a:gradFill rotWithShape="1">
            <a:gsLst>
              <a:gs pos="0">
                <a:srgbClr val="E63946">
                  <a:alpha val="45000"/>
                </a:srgbClr>
              </a:gs>
              <a:gs pos="100000">
                <a:srgbClr val="E63946">
                  <a:alpha val="100000"/>
                </a:srgbClr>
              </a:gs>
            </a:gsLst>
            <a:lin ang="0" scaled="0"/>
          </a:gradFill>
          <a:ln/>
          <a:effectLst>
            <a:outerShdw sx="100000" sy="100000" kx="0" ky="0" algn="bl" rotWithShape="0" blurRad="247650" dist="50800" dir="16200000">
              <a:srgbClr val="E63946">
                <a:alpha val="60000"/>
              </a:srgbClr>
            </a:outerShdw>
          </a:effectLst>
        </p:spPr>
      </p:sp>
      <p:sp>
        <p:nvSpPr>
          <p:cNvPr id="15" name="Text 12"/>
          <p:cNvSpPr/>
          <p:nvPr/>
        </p:nvSpPr>
        <p:spPr>
          <a:xfrm>
            <a:off x="7467600" y="3248342"/>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24.8%</a:t>
            </a:r>
            <a:endParaRPr lang="en-US" sz="2550" dirty="0"/>
          </a:p>
        </p:txBody>
      </p:sp>
      <p:pic>
        <p:nvPicPr>
          <p:cNvPr id="16" name="Image 1" descr="preencoded.png">    </p:cNvPr>
          <p:cNvPicPr>
            <a:picLocks noChangeAspect="1"/>
          </p:cNvPicPr>
          <p:nvPr/>
        </p:nvPicPr>
        <p:blipFill>
          <a:blip r:embed="rId3"/>
          <a:stretch>
            <a:fillRect/>
          </a:stretch>
        </p:blipFill>
        <p:spPr>
          <a:xfrm>
            <a:off x="1047750" y="3855402"/>
            <a:ext cx="400050" cy="400050"/>
          </a:xfrm>
          <a:prstGeom prst="rect">
            <a:avLst/>
          </a:prstGeom>
        </p:spPr>
      </p:pic>
      <p:sp>
        <p:nvSpPr>
          <p:cNvPr id="17" name="Text 13"/>
          <p:cNvSpPr/>
          <p:nvPr/>
        </p:nvSpPr>
        <p:spPr>
          <a:xfrm>
            <a:off x="1600200" y="3832066"/>
            <a:ext cx="87376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Truck</a:t>
            </a:r>
            <a:endParaRPr lang="en-US" sz="2550" dirty="0"/>
          </a:p>
        </p:txBody>
      </p:sp>
      <p:sp>
        <p:nvSpPr>
          <p:cNvPr id="18" name="Shape 14"/>
          <p:cNvSpPr/>
          <p:nvPr/>
        </p:nvSpPr>
        <p:spPr>
          <a:xfrm>
            <a:off x="3848100" y="3845877"/>
            <a:ext cx="2924175" cy="419100"/>
          </a:xfrm>
          <a:custGeom>
            <a:avLst/>
            <a:gdLst/>
            <a:ahLst/>
            <a:cxnLst/>
            <a:rect l="l" t="t" r="r" b="b"/>
            <a:pathLst>
              <a:path w="2924175" h="419100">
                <a:moveTo>
                  <a:pt x="0" y="0"/>
                </a:moveTo>
                <a:lnTo>
                  <a:pt x="2828925" y="0"/>
                </a:lnTo>
                <a:arcTo hR="95250" wR="95250" stAng="16200000" swAng="5400000"/>
                <a:lnTo>
                  <a:pt x="2924175" y="323850"/>
                </a:lnTo>
                <a:arcTo hR="95250" wR="95250" stAng="0" swAng="5400000"/>
                <a:lnTo>
                  <a:pt x="0" y="419100"/>
                </a:lnTo>
                <a:lnTo>
                  <a:pt x="0" y="0"/>
                </a:lnTo>
                <a:close/>
              </a:path>
            </a:pathLst>
          </a:custGeom>
          <a:gradFill rotWithShape="1">
            <a:gsLst>
              <a:gs pos="0">
                <a:srgbClr val="E63946">
                  <a:alpha val="39000"/>
                </a:srgbClr>
              </a:gs>
              <a:gs pos="100000">
                <a:srgbClr val="E63946">
                  <a:alpha val="86000"/>
                </a:srgbClr>
              </a:gs>
            </a:gsLst>
            <a:lin ang="0" scaled="0"/>
          </a:gradFill>
          <a:ln/>
          <a:effectLst>
            <a:outerShdw sx="100000" sy="100000" kx="0" ky="0" algn="bl" rotWithShape="0" blurRad="247650" dist="50800" dir="16200000">
              <a:srgbClr val="E63946">
                <a:alpha val="51600"/>
              </a:srgbClr>
            </a:outerShdw>
          </a:effectLst>
        </p:spPr>
      </p:sp>
      <p:sp>
        <p:nvSpPr>
          <p:cNvPr id="19" name="Text 15"/>
          <p:cNvSpPr/>
          <p:nvPr/>
        </p:nvSpPr>
        <p:spPr>
          <a:xfrm>
            <a:off x="6943725" y="3866674"/>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21.0%</a:t>
            </a:r>
            <a:endParaRPr lang="en-US" sz="2550" dirty="0"/>
          </a:p>
        </p:txBody>
      </p:sp>
      <p:pic>
        <p:nvPicPr>
          <p:cNvPr id="20" name="Image 2" descr="preencoded.png">    </p:cNvPr>
          <p:cNvPicPr>
            <a:picLocks noChangeAspect="1"/>
          </p:cNvPicPr>
          <p:nvPr/>
        </p:nvPicPr>
        <p:blipFill>
          <a:blip r:embed="rId4"/>
          <a:stretch>
            <a:fillRect/>
          </a:stretch>
        </p:blipFill>
        <p:spPr>
          <a:xfrm>
            <a:off x="1047750" y="4473734"/>
            <a:ext cx="400050" cy="400050"/>
          </a:xfrm>
          <a:prstGeom prst="rect">
            <a:avLst/>
          </a:prstGeom>
        </p:spPr>
      </p:pic>
      <p:sp>
        <p:nvSpPr>
          <p:cNvPr id="21" name="Text 16"/>
          <p:cNvSpPr/>
          <p:nvPr/>
        </p:nvSpPr>
        <p:spPr>
          <a:xfrm>
            <a:off x="1600200" y="4450398"/>
            <a:ext cx="1703467"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Pedestrian</a:t>
            </a:r>
            <a:endParaRPr lang="en-US" sz="2550" dirty="0"/>
          </a:p>
        </p:txBody>
      </p:sp>
      <p:sp>
        <p:nvSpPr>
          <p:cNvPr id="22" name="Shape 17"/>
          <p:cNvSpPr/>
          <p:nvPr/>
        </p:nvSpPr>
        <p:spPr>
          <a:xfrm>
            <a:off x="3848100" y="4464209"/>
            <a:ext cx="2676525" cy="419100"/>
          </a:xfrm>
          <a:custGeom>
            <a:avLst/>
            <a:gdLst/>
            <a:ahLst/>
            <a:cxnLst/>
            <a:rect l="l" t="t" r="r" b="b"/>
            <a:pathLst>
              <a:path w="2676525" h="419100">
                <a:moveTo>
                  <a:pt x="0" y="0"/>
                </a:moveTo>
                <a:lnTo>
                  <a:pt x="2581275" y="0"/>
                </a:lnTo>
                <a:arcTo hR="95250" wR="95250" stAng="16200000" swAng="5400000"/>
                <a:lnTo>
                  <a:pt x="2676525" y="323850"/>
                </a:lnTo>
                <a:arcTo hR="95250" wR="95250" stAng="0" swAng="5400000"/>
                <a:lnTo>
                  <a:pt x="0" y="419100"/>
                </a:lnTo>
                <a:lnTo>
                  <a:pt x="0" y="0"/>
                </a:lnTo>
                <a:close/>
              </a:path>
            </a:pathLst>
          </a:custGeom>
          <a:gradFill rotWithShape="1">
            <a:gsLst>
              <a:gs pos="0">
                <a:srgbClr val="E63946">
                  <a:alpha val="32000"/>
                </a:srgbClr>
              </a:gs>
              <a:gs pos="100000">
                <a:srgbClr val="E63946">
                  <a:alpha val="72000"/>
                </a:srgbClr>
              </a:gs>
            </a:gsLst>
            <a:lin ang="0" scaled="0"/>
          </a:gradFill>
          <a:ln/>
          <a:effectLst>
            <a:outerShdw sx="100000" sy="100000" kx="0" ky="0" algn="bl" rotWithShape="0" blurRad="247650" dist="50800" dir="16200000">
              <a:srgbClr val="E63946">
                <a:alpha val="43200"/>
              </a:srgbClr>
            </a:outerShdw>
          </a:effectLst>
        </p:spPr>
      </p:sp>
      <p:sp>
        <p:nvSpPr>
          <p:cNvPr id="23" name="Text 18"/>
          <p:cNvSpPr/>
          <p:nvPr/>
        </p:nvSpPr>
        <p:spPr>
          <a:xfrm>
            <a:off x="6696075" y="4485005"/>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19.2%</a:t>
            </a:r>
            <a:endParaRPr lang="en-US" sz="2550" dirty="0"/>
          </a:p>
        </p:txBody>
      </p:sp>
      <p:pic>
        <p:nvPicPr>
          <p:cNvPr id="24" name="Image 3" descr="preencoded.png">    </p:cNvPr>
          <p:cNvPicPr>
            <a:picLocks noChangeAspect="1"/>
          </p:cNvPicPr>
          <p:nvPr/>
        </p:nvPicPr>
        <p:blipFill>
          <a:blip r:embed="rId5"/>
          <a:stretch>
            <a:fillRect/>
          </a:stretch>
        </p:blipFill>
        <p:spPr>
          <a:xfrm>
            <a:off x="1047750" y="5092065"/>
            <a:ext cx="400050" cy="400050"/>
          </a:xfrm>
          <a:prstGeom prst="rect">
            <a:avLst/>
          </a:prstGeom>
        </p:spPr>
      </p:pic>
      <p:sp>
        <p:nvSpPr>
          <p:cNvPr id="25" name="Text 19"/>
          <p:cNvSpPr/>
          <p:nvPr/>
        </p:nvSpPr>
        <p:spPr>
          <a:xfrm>
            <a:off x="1600200" y="5068729"/>
            <a:ext cx="110204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Bicycle</a:t>
            </a:r>
            <a:endParaRPr lang="en-US" sz="2550" dirty="0"/>
          </a:p>
        </p:txBody>
      </p:sp>
      <p:sp>
        <p:nvSpPr>
          <p:cNvPr id="26" name="Shape 20"/>
          <p:cNvSpPr/>
          <p:nvPr/>
        </p:nvSpPr>
        <p:spPr>
          <a:xfrm>
            <a:off x="3848100" y="5082540"/>
            <a:ext cx="2085975" cy="419100"/>
          </a:xfrm>
          <a:custGeom>
            <a:avLst/>
            <a:gdLst/>
            <a:ahLst/>
            <a:cxnLst/>
            <a:rect l="l" t="t" r="r" b="b"/>
            <a:pathLst>
              <a:path w="2085975" h="419100">
                <a:moveTo>
                  <a:pt x="0" y="0"/>
                </a:moveTo>
                <a:lnTo>
                  <a:pt x="1990725" y="0"/>
                </a:lnTo>
                <a:arcTo hR="95250" wR="95250" stAng="16200000" swAng="5400000"/>
                <a:lnTo>
                  <a:pt x="2085975" y="323850"/>
                </a:lnTo>
                <a:arcTo hR="95250" wR="95250" stAng="0" swAng="5400000"/>
                <a:lnTo>
                  <a:pt x="0" y="419100"/>
                </a:lnTo>
                <a:lnTo>
                  <a:pt x="0" y="0"/>
                </a:lnTo>
                <a:close/>
              </a:path>
            </a:pathLst>
          </a:custGeom>
          <a:gradFill rotWithShape="1">
            <a:gsLst>
              <a:gs pos="0">
                <a:srgbClr val="E63946">
                  <a:alpha val="26000"/>
                </a:srgbClr>
              </a:gs>
              <a:gs pos="100000">
                <a:srgbClr val="E63946">
                  <a:alpha val="58000"/>
                </a:srgbClr>
              </a:gs>
            </a:gsLst>
            <a:lin ang="0" scaled="0"/>
          </a:gradFill>
          <a:ln/>
          <a:effectLst>
            <a:outerShdw sx="100000" sy="100000" kx="0" ky="0" algn="bl" rotWithShape="0" blurRad="247650" dist="50800" dir="16200000">
              <a:srgbClr val="E63946">
                <a:alpha val="34800"/>
              </a:srgbClr>
            </a:outerShdw>
          </a:effectLst>
        </p:spPr>
      </p:sp>
      <p:sp>
        <p:nvSpPr>
          <p:cNvPr id="27" name="Text 21"/>
          <p:cNvSpPr/>
          <p:nvPr/>
        </p:nvSpPr>
        <p:spPr>
          <a:xfrm>
            <a:off x="6105525" y="5103336"/>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15.0%</a:t>
            </a:r>
            <a:endParaRPr lang="en-US" sz="2550" dirty="0"/>
          </a:p>
        </p:txBody>
      </p:sp>
      <p:pic>
        <p:nvPicPr>
          <p:cNvPr id="28" name="Image 4" descr="preencoded.png">    </p:cNvPr>
          <p:cNvPicPr>
            <a:picLocks noChangeAspect="1"/>
          </p:cNvPicPr>
          <p:nvPr/>
        </p:nvPicPr>
        <p:blipFill>
          <a:blip r:embed="rId6"/>
          <a:stretch>
            <a:fillRect/>
          </a:stretch>
        </p:blipFill>
        <p:spPr>
          <a:xfrm>
            <a:off x="1047750" y="5710396"/>
            <a:ext cx="400050" cy="400050"/>
          </a:xfrm>
          <a:prstGeom prst="rect">
            <a:avLst/>
          </a:prstGeom>
        </p:spPr>
      </p:pic>
      <p:sp>
        <p:nvSpPr>
          <p:cNvPr id="29" name="Text 22"/>
          <p:cNvSpPr/>
          <p:nvPr/>
        </p:nvSpPr>
        <p:spPr>
          <a:xfrm>
            <a:off x="1600200" y="5687060"/>
            <a:ext cx="59801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Car</a:t>
            </a:r>
            <a:endParaRPr lang="en-US" sz="2550" dirty="0"/>
          </a:p>
        </p:txBody>
      </p:sp>
      <p:sp>
        <p:nvSpPr>
          <p:cNvPr id="30" name="Shape 23"/>
          <p:cNvSpPr/>
          <p:nvPr/>
        </p:nvSpPr>
        <p:spPr>
          <a:xfrm>
            <a:off x="3848100" y="5700871"/>
            <a:ext cx="1905000" cy="419100"/>
          </a:xfrm>
          <a:custGeom>
            <a:avLst/>
            <a:gdLst/>
            <a:ahLst/>
            <a:cxnLst/>
            <a:rect l="l" t="t" r="r" b="b"/>
            <a:pathLst>
              <a:path w="1905000" h="419100">
                <a:moveTo>
                  <a:pt x="0" y="0"/>
                </a:moveTo>
                <a:lnTo>
                  <a:pt x="1809750" y="0"/>
                </a:lnTo>
                <a:arcTo hR="95250" wR="95250" stAng="16200000" swAng="5400000"/>
                <a:lnTo>
                  <a:pt x="1905000" y="323850"/>
                </a:lnTo>
                <a:arcTo hR="95250" wR="95250" stAng="0" swAng="5400000"/>
                <a:lnTo>
                  <a:pt x="0" y="419100"/>
                </a:lnTo>
                <a:lnTo>
                  <a:pt x="0" y="0"/>
                </a:lnTo>
                <a:close/>
              </a:path>
            </a:pathLst>
          </a:custGeom>
          <a:gradFill rotWithShape="1">
            <a:gsLst>
              <a:gs pos="0">
                <a:srgbClr val="E63946">
                  <a:alpha val="20000"/>
                </a:srgbClr>
              </a:gs>
              <a:gs pos="100000">
                <a:srgbClr val="E63946">
                  <a:alpha val="44000"/>
                </a:srgbClr>
              </a:gs>
            </a:gsLst>
            <a:lin ang="0" scaled="0"/>
          </a:gradFill>
          <a:ln/>
          <a:effectLst>
            <a:outerShdw sx="100000" sy="100000" kx="0" ky="0" algn="bl" rotWithShape="0" blurRad="247650" dist="50800" dir="16200000">
              <a:srgbClr val="E63946">
                <a:alpha val="26400"/>
              </a:srgbClr>
            </a:outerShdw>
          </a:effectLst>
        </p:spPr>
      </p:sp>
      <p:sp>
        <p:nvSpPr>
          <p:cNvPr id="31" name="Text 24"/>
          <p:cNvSpPr/>
          <p:nvPr/>
        </p:nvSpPr>
        <p:spPr>
          <a:xfrm>
            <a:off x="5924550" y="5721668"/>
            <a:ext cx="994728"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13.7%</a:t>
            </a:r>
            <a:endParaRPr lang="en-US" sz="2550" dirty="0"/>
          </a:p>
        </p:txBody>
      </p:sp>
      <p:sp>
        <p:nvSpPr>
          <p:cNvPr id="32" name="Shape 25"/>
          <p:cNvSpPr/>
          <p:nvPr/>
        </p:nvSpPr>
        <p:spPr>
          <a:xfrm>
            <a:off x="1047750" y="6400641"/>
            <a:ext cx="7448550" cy="2019300"/>
          </a:xfrm>
          <a:prstGeom prst="roundRect">
            <a:avLst>
              <a:gd name="adj" fmla="val 10377"/>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33" name="Shape 26"/>
          <p:cNvSpPr/>
          <p:nvPr/>
        </p:nvSpPr>
        <p:spPr>
          <a:xfrm>
            <a:off x="1323975" y="6600666"/>
            <a:ext cx="1619250" cy="1619250"/>
          </a:xfrm>
          <a:prstGeom prst="ellipse">
            <a:avLst/>
          </a:prstGeom>
          <a:gradFill rotWithShape="1">
            <a:gsLst>
              <a:gs pos="0">
                <a:srgbClr val="25292D">
                  <a:alpha val="100000"/>
                </a:srgbClr>
              </a:gs>
              <a:gs pos="100000">
                <a:srgbClr val="111315">
                  <a:alpha val="100000"/>
                </a:srgbClr>
              </a:gs>
            </a:gsLst>
            <a:path path="circle">
              <a:fillToRect l="50000" t="40000" r="50000" b="60000"/>
            </a:path>
          </a:gradFill>
          <a:ln w="114300">
            <a:solidFill>
              <a:srgbClr val="E63946"/>
            </a:solidFill>
            <a:prstDash val="solid"/>
          </a:ln>
          <a:effectLst>
            <a:outerShdw sx="100000" sy="100000" kx="0" ky="0" algn="bl" rotWithShape="0" blurRad="476250" dist="50800" dir="16200000">
              <a:srgbClr val="E63946">
                <a:alpha val="55000"/>
              </a:srgbClr>
            </a:outerShdw>
          </a:effectLst>
        </p:spPr>
      </p:sp>
      <p:sp>
        <p:nvSpPr>
          <p:cNvPr id="34" name="Text 27"/>
          <p:cNvSpPr/>
          <p:nvPr/>
        </p:nvSpPr>
        <p:spPr>
          <a:xfrm>
            <a:off x="1400175" y="6714966"/>
            <a:ext cx="1466850" cy="1428750"/>
          </a:xfrm>
          <a:prstGeom prst="rect">
            <a:avLst/>
          </a:prstGeom>
          <a:noFill/>
          <a:ln/>
        </p:spPr>
        <p:txBody>
          <a:bodyPr wrap="square" lIns="25400" tIns="25400" rIns="25400" bIns="25400" rtlCol="0" anchor="ctr">
            <a:normAutofit/>
          </a:bodyPr>
          <a:lstStyle/>
          <a:p>
            <a:pPr algn="ctr" indent="0" marL="0">
              <a:lnSpc>
                <a:spcPct val="118622"/>
              </a:lnSpc>
              <a:buNone/>
            </a:pPr>
            <a:r>
              <a:rPr lang="en-US" sz="3150" b="1" dirty="0">
                <a:solidFill>
                  <a:srgbClr val="F5F7FA"/>
                </a:solidFill>
                <a:latin typeface="Arial" pitchFamily="34" charset="0"/>
                <a:ea typeface="Arial" pitchFamily="34" charset="-122"/>
                <a:cs typeface="Arial" pitchFamily="34" charset="-120"/>
              </a:rPr>
              <a:t>35.1%</a:t>
            </a:r>
            <a:endParaRPr lang="en-US" sz="3150" dirty="0"/>
          </a:p>
        </p:txBody>
      </p:sp>
      <p:sp>
        <p:nvSpPr>
          <p:cNvPr id="35" name="Text 28"/>
          <p:cNvSpPr/>
          <p:nvPr/>
        </p:nvSpPr>
        <p:spPr>
          <a:xfrm>
            <a:off x="3228975" y="7186771"/>
            <a:ext cx="5167678"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Motorcycle in a rural municipality</a:t>
            </a:r>
            <a:endParaRPr lang="en-US" sz="2550" dirty="0"/>
          </a:p>
        </p:txBody>
      </p:sp>
      <p:sp>
        <p:nvSpPr>
          <p:cNvPr id="36" name="Shape 29"/>
          <p:cNvSpPr/>
          <p:nvPr/>
        </p:nvSpPr>
        <p:spPr>
          <a:xfrm>
            <a:off x="9029700" y="2769870"/>
            <a:ext cx="8210550" cy="6344444"/>
          </a:xfrm>
          <a:prstGeom prst="roundRect">
            <a:avLst>
              <a:gd name="adj" fmla="val 330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37" name="Text 30"/>
          <p:cNvSpPr/>
          <p:nvPr/>
        </p:nvSpPr>
        <p:spPr>
          <a:xfrm>
            <a:off x="9324975" y="3084195"/>
            <a:ext cx="838200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SEVERE SHARE BY HOUR OF DAY</a:t>
            </a:r>
            <a:endParaRPr lang="en-US" sz="1650" dirty="0"/>
          </a:p>
        </p:txBody>
      </p:sp>
      <p:pic>
        <p:nvPicPr>
          <p:cNvPr id="38"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24975" y="3451860"/>
            <a:ext cx="7620000" cy="3619500"/>
          </a:xfrm>
          <a:prstGeom prst="rect">
            <a:avLst/>
          </a:prstGeom>
        </p:spPr>
      </p:pic>
      <p:sp>
        <p:nvSpPr>
          <p:cNvPr id="39" name="Shape 31"/>
          <p:cNvSpPr/>
          <p:nvPr/>
        </p:nvSpPr>
        <p:spPr>
          <a:xfrm>
            <a:off x="9324975" y="7166610"/>
            <a:ext cx="1486535" cy="1188720"/>
          </a:xfrm>
          <a:prstGeom prst="roundRect">
            <a:avLst>
              <a:gd name="adj" fmla="val 12821"/>
            </a:avLst>
          </a:prstGeom>
          <a:gradFill rotWithShape="1">
            <a:gsLst>
              <a:gs pos="0">
                <a:srgbClr val="FFFFFF">
                  <a:alpha val="6000"/>
                </a:srgbClr>
              </a:gs>
              <a:gs pos="100000">
                <a:srgbClr val="FFFFFF">
                  <a:alpha val="2000"/>
                </a:srgbClr>
              </a:gs>
            </a:gsLst>
            <a:lin ang="5400000" scaled="0"/>
          </a:gradFill>
          <a:ln w="9525">
            <a:solidFill>
              <a:srgbClr val="FFFFFF">
                <a:alpha val="9000"/>
              </a:srgbClr>
            </a:solidFill>
            <a:prstDash val="solid"/>
          </a:ln>
        </p:spPr>
      </p:sp>
      <p:sp>
        <p:nvSpPr>
          <p:cNvPr id="40" name="Text 32"/>
          <p:cNvSpPr/>
          <p:nvPr/>
        </p:nvSpPr>
        <p:spPr>
          <a:xfrm>
            <a:off x="9582150" y="7347585"/>
            <a:ext cx="104838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Saturday</a:t>
            </a:r>
            <a:endParaRPr lang="en-US" sz="1800" dirty="0"/>
          </a:p>
        </p:txBody>
      </p:sp>
      <p:sp>
        <p:nvSpPr>
          <p:cNvPr id="41" name="Text 33"/>
          <p:cNvSpPr/>
          <p:nvPr/>
        </p:nvSpPr>
        <p:spPr>
          <a:xfrm>
            <a:off x="9582150" y="7701121"/>
            <a:ext cx="1048385" cy="511334"/>
          </a:xfrm>
          <a:prstGeom prst="rect">
            <a:avLst/>
          </a:prstGeom>
          <a:noFill/>
          <a:ln/>
        </p:spPr>
        <p:txBody>
          <a:bodyPr wrap="square" lIns="25400" tIns="25400" rIns="25400" bIns="25400" rtlCol="0" anchor="t">
            <a:normAutofit/>
          </a:bodyPr>
          <a:lstStyle/>
          <a:p>
            <a:pPr algn="l" indent="0" marL="0">
              <a:lnSpc>
                <a:spcPct val="117779"/>
              </a:lnSpc>
              <a:buNone/>
            </a:pPr>
            <a:r>
              <a:rPr lang="en-US" sz="2700" b="1" dirty="0">
                <a:solidFill>
                  <a:srgbClr val="F5F7FA"/>
                </a:solidFill>
                <a:latin typeface="Arial" pitchFamily="34" charset="0"/>
                <a:ea typeface="Arial" pitchFamily="34" charset="-122"/>
                <a:cs typeface="Arial" pitchFamily="34" charset="-120"/>
              </a:rPr>
              <a:t>17.9%</a:t>
            </a:r>
            <a:endParaRPr lang="en-US" sz="2700" dirty="0"/>
          </a:p>
        </p:txBody>
      </p:sp>
      <p:sp>
        <p:nvSpPr>
          <p:cNvPr id="42" name="Shape 34"/>
          <p:cNvSpPr/>
          <p:nvPr/>
        </p:nvSpPr>
        <p:spPr>
          <a:xfrm>
            <a:off x="10963910" y="7166610"/>
            <a:ext cx="1486535" cy="1188720"/>
          </a:xfrm>
          <a:prstGeom prst="roundRect">
            <a:avLst>
              <a:gd name="adj" fmla="val 12821"/>
            </a:avLst>
          </a:prstGeom>
          <a:gradFill rotWithShape="1">
            <a:gsLst>
              <a:gs pos="0">
                <a:srgbClr val="FFFFFF">
                  <a:alpha val="6000"/>
                </a:srgbClr>
              </a:gs>
              <a:gs pos="100000">
                <a:srgbClr val="FFFFFF">
                  <a:alpha val="2000"/>
                </a:srgbClr>
              </a:gs>
            </a:gsLst>
            <a:lin ang="5400000" scaled="0"/>
          </a:gradFill>
          <a:ln w="9525">
            <a:solidFill>
              <a:srgbClr val="FFFFFF">
                <a:alpha val="9000"/>
              </a:srgbClr>
            </a:solidFill>
            <a:prstDash val="solid"/>
          </a:ln>
        </p:spPr>
      </p:sp>
      <p:sp>
        <p:nvSpPr>
          <p:cNvPr id="43" name="Text 35"/>
          <p:cNvSpPr/>
          <p:nvPr/>
        </p:nvSpPr>
        <p:spPr>
          <a:xfrm>
            <a:off x="11221085" y="7347585"/>
            <a:ext cx="104838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Sunday</a:t>
            </a:r>
            <a:endParaRPr lang="en-US" sz="1800" dirty="0"/>
          </a:p>
        </p:txBody>
      </p:sp>
      <p:sp>
        <p:nvSpPr>
          <p:cNvPr id="44" name="Text 36"/>
          <p:cNvSpPr/>
          <p:nvPr/>
        </p:nvSpPr>
        <p:spPr>
          <a:xfrm>
            <a:off x="11221085" y="7701121"/>
            <a:ext cx="1048385" cy="511334"/>
          </a:xfrm>
          <a:prstGeom prst="rect">
            <a:avLst/>
          </a:prstGeom>
          <a:noFill/>
          <a:ln/>
        </p:spPr>
        <p:txBody>
          <a:bodyPr wrap="square" lIns="25400" tIns="25400" rIns="25400" bIns="25400" rtlCol="0" anchor="t">
            <a:normAutofit/>
          </a:bodyPr>
          <a:lstStyle/>
          <a:p>
            <a:pPr algn="l" indent="0" marL="0">
              <a:lnSpc>
                <a:spcPct val="117779"/>
              </a:lnSpc>
              <a:buNone/>
            </a:pPr>
            <a:r>
              <a:rPr lang="en-US" sz="2700" b="1" dirty="0">
                <a:solidFill>
                  <a:srgbClr val="F5F7FA"/>
                </a:solidFill>
                <a:latin typeface="Arial" pitchFamily="34" charset="0"/>
                <a:ea typeface="Arial" pitchFamily="34" charset="-122"/>
                <a:cs typeface="Arial" pitchFamily="34" charset="-120"/>
              </a:rPr>
              <a:t>19.8%</a:t>
            </a:r>
            <a:endParaRPr lang="en-US" sz="2700" dirty="0"/>
          </a:p>
        </p:txBody>
      </p:sp>
      <p:sp>
        <p:nvSpPr>
          <p:cNvPr id="45" name="Text 37"/>
          <p:cNvSpPr/>
          <p:nvPr/>
        </p:nvSpPr>
        <p:spPr>
          <a:xfrm>
            <a:off x="12679045" y="7603173"/>
            <a:ext cx="2404586"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Mon–Fri: 14.2–15.6%</a:t>
            </a:r>
            <a:endParaRPr lang="en-US" sz="1800" dirty="0"/>
          </a:p>
        </p:txBody>
      </p:sp>
      <p:sp>
        <p:nvSpPr>
          <p:cNvPr id="46" name="Text 38"/>
          <p:cNvSpPr/>
          <p:nvPr/>
        </p:nvSpPr>
        <p:spPr>
          <a:xfrm>
            <a:off x="1047750" y="9285763"/>
            <a:ext cx="17811750"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Training data, 190,970 accidents. Dashed line: average.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793261"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A model is only useful if it beats two simple rules of thumb</a:t>
            </a:r>
            <a:endParaRPr lang="en-US" sz="4200" dirty="0"/>
          </a:p>
        </p:txBody>
      </p:sp>
      <p:sp>
        <p:nvSpPr>
          <p:cNvPr id="4" name="Text 2"/>
          <p:cNvSpPr/>
          <p:nvPr/>
        </p:nvSpPr>
        <p:spPr>
          <a:xfrm>
            <a:off x="15010765" y="915670"/>
            <a:ext cx="101028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6FA3E8"/>
                </a:solidFill>
                <a:latin typeface="Arial" pitchFamily="34" charset="0"/>
                <a:ea typeface="Arial" pitchFamily="34" charset="-122"/>
                <a:cs typeface="Arial" pitchFamily="34" charset="-120"/>
              </a:rPr>
              <a:t>MODEL</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solidFill>
          <a:ln/>
          <a:effectLst>
            <a:outerShdw sx="100000" sy="100000" kx="0" ky="0" algn="bl" rotWithShape="0" blurRad="114300" dist="50800" dir="16200000">
              <a:srgbClr val="6FA3E8">
                <a:alpha val="100000"/>
              </a:srgbClr>
            </a:outerShdw>
          </a:effectLst>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Text 9"/>
          <p:cNvSpPr/>
          <p:nvPr/>
        </p:nvSpPr>
        <p:spPr>
          <a:xfrm>
            <a:off x="1047750" y="2769870"/>
            <a:ext cx="848677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TWO PLAIN QUESTIONS</a:t>
            </a:r>
            <a:endParaRPr lang="en-US" sz="1650" dirty="0"/>
          </a:p>
        </p:txBody>
      </p:sp>
      <p:pic>
        <p:nvPicPr>
          <p:cNvPr id="12" name="Image 0" descr="preencoded.png">    </p:cNvPr>
          <p:cNvPicPr>
            <a:picLocks noChangeAspect="1"/>
          </p:cNvPicPr>
          <p:nvPr/>
        </p:nvPicPr>
        <p:blipFill>
          <a:blip r:embed="rId2"/>
          <a:stretch>
            <a:fillRect/>
          </a:stretch>
        </p:blipFill>
        <p:spPr>
          <a:xfrm>
            <a:off x="1047750" y="3366135"/>
            <a:ext cx="476250" cy="476250"/>
          </a:xfrm>
          <a:prstGeom prst="rect">
            <a:avLst/>
          </a:prstGeom>
        </p:spPr>
      </p:pic>
      <p:sp>
        <p:nvSpPr>
          <p:cNvPr id="13" name="Text 10"/>
          <p:cNvSpPr/>
          <p:nvPr/>
        </p:nvSpPr>
        <p:spPr>
          <a:xfrm>
            <a:off x="1771650" y="3366135"/>
            <a:ext cx="647614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How many severe accidents does it find?</a:t>
            </a:r>
            <a:endParaRPr lang="en-US" sz="2550" dirty="0"/>
          </a:p>
        </p:txBody>
      </p:sp>
      <p:sp>
        <p:nvSpPr>
          <p:cNvPr id="14" name="Text 11"/>
          <p:cNvSpPr/>
          <p:nvPr/>
        </p:nvSpPr>
        <p:spPr>
          <a:xfrm>
            <a:off x="1771650" y="3813016"/>
            <a:ext cx="6476142"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Recall</a:t>
            </a:r>
            <a:endParaRPr lang="en-US" sz="1800" dirty="0"/>
          </a:p>
        </p:txBody>
      </p:sp>
      <p:pic>
        <p:nvPicPr>
          <p:cNvPr id="15" name="Image 1" descr="preencoded.png">    </p:cNvPr>
          <p:cNvPicPr>
            <a:picLocks noChangeAspect="1"/>
          </p:cNvPicPr>
          <p:nvPr/>
        </p:nvPicPr>
        <p:blipFill>
          <a:blip r:embed="rId3"/>
          <a:stretch>
            <a:fillRect/>
          </a:stretch>
        </p:blipFill>
        <p:spPr>
          <a:xfrm>
            <a:off x="1047750" y="4452303"/>
            <a:ext cx="476250" cy="476250"/>
          </a:xfrm>
          <a:prstGeom prst="rect">
            <a:avLst/>
          </a:prstGeom>
        </p:spPr>
      </p:pic>
      <p:sp>
        <p:nvSpPr>
          <p:cNvPr id="16" name="Text 12"/>
          <p:cNvSpPr/>
          <p:nvPr/>
        </p:nvSpPr>
        <p:spPr>
          <a:xfrm>
            <a:off x="1771650" y="4452303"/>
            <a:ext cx="663313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How many of its alarms are really severe?</a:t>
            </a:r>
            <a:endParaRPr lang="en-US" sz="2550" dirty="0"/>
          </a:p>
        </p:txBody>
      </p:sp>
      <p:sp>
        <p:nvSpPr>
          <p:cNvPr id="17" name="Text 13"/>
          <p:cNvSpPr/>
          <p:nvPr/>
        </p:nvSpPr>
        <p:spPr>
          <a:xfrm>
            <a:off x="1771650" y="4899184"/>
            <a:ext cx="6633130"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Precision</a:t>
            </a:r>
            <a:endParaRPr lang="en-US" sz="1800" dirty="0"/>
          </a:p>
        </p:txBody>
      </p:sp>
      <p:sp>
        <p:nvSpPr>
          <p:cNvPr id="18" name="Shape 14"/>
          <p:cNvSpPr/>
          <p:nvPr/>
        </p:nvSpPr>
        <p:spPr>
          <a:xfrm>
            <a:off x="1047750" y="5538470"/>
            <a:ext cx="7715250" cy="9525"/>
          </a:xfrm>
          <a:prstGeom prst="rect">
            <a:avLst/>
          </a:prstGeom>
          <a:solidFill>
            <a:srgbClr val="FFFFFF">
              <a:alpha val="10000"/>
            </a:srgbClr>
          </a:solidFill>
          <a:ln/>
        </p:spPr>
      </p:sp>
      <p:sp>
        <p:nvSpPr>
          <p:cNvPr id="19" name="Text 15"/>
          <p:cNvSpPr/>
          <p:nvPr/>
        </p:nvSpPr>
        <p:spPr>
          <a:xfrm>
            <a:off x="1047750" y="5833745"/>
            <a:ext cx="552450" cy="616426"/>
          </a:xfrm>
          <a:prstGeom prst="rect">
            <a:avLst/>
          </a:prstGeom>
          <a:noFill/>
          <a:ln/>
        </p:spPr>
        <p:txBody>
          <a:bodyPr wrap="square" lIns="25400" tIns="25400" rIns="25400" bIns="25400" rtlCol="0" anchor="t">
            <a:normAutofit/>
          </a:bodyPr>
          <a:lstStyle/>
          <a:p>
            <a:pPr algn="l" indent="0" marL="0">
              <a:lnSpc>
                <a:spcPct val="119208"/>
              </a:lnSpc>
              <a:buNone/>
            </a:pPr>
            <a:r>
              <a:rPr lang="en-US" sz="3300" b="1" dirty="0">
                <a:solidFill>
                  <a:srgbClr val="6FA3E8"/>
                </a:solidFill>
                <a:latin typeface="Arial" pitchFamily="34" charset="0"/>
                <a:ea typeface="Arial" pitchFamily="34" charset="-122"/>
                <a:cs typeface="Arial" pitchFamily="34" charset="-120"/>
              </a:rPr>
              <a:t>F1</a:t>
            </a:r>
            <a:endParaRPr lang="en-US" sz="3300" dirty="0"/>
          </a:p>
        </p:txBody>
      </p:sp>
      <p:sp>
        <p:nvSpPr>
          <p:cNvPr id="20" name="Text 16"/>
          <p:cNvSpPr/>
          <p:nvPr/>
        </p:nvSpPr>
        <p:spPr>
          <a:xfrm>
            <a:off x="1771650" y="5833745"/>
            <a:ext cx="7201091"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One score that balances both, from 0 to 1. Higher is better.</a:t>
            </a:r>
            <a:endParaRPr lang="en-US" sz="2550" dirty="0"/>
          </a:p>
        </p:txBody>
      </p:sp>
      <p:sp>
        <p:nvSpPr>
          <p:cNvPr id="21" name="Text 17"/>
          <p:cNvSpPr/>
          <p:nvPr/>
        </p:nvSpPr>
        <p:spPr>
          <a:xfrm>
            <a:off x="9525000" y="2769870"/>
            <a:ext cx="848677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BASELINES TO BEAT</a:t>
            </a:r>
            <a:endParaRPr lang="en-US" sz="1650" dirty="0"/>
          </a:p>
        </p:txBody>
      </p:sp>
      <p:sp>
        <p:nvSpPr>
          <p:cNvPr id="22" name="Shape 18"/>
          <p:cNvSpPr/>
          <p:nvPr/>
        </p:nvSpPr>
        <p:spPr>
          <a:xfrm>
            <a:off x="9525000" y="3289935"/>
            <a:ext cx="7715250" cy="1637189"/>
          </a:xfrm>
          <a:prstGeom prst="roundRect">
            <a:avLst>
              <a:gd name="adj" fmla="val 12799"/>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3" name="Text 19"/>
          <p:cNvSpPr/>
          <p:nvPr/>
        </p:nvSpPr>
        <p:spPr>
          <a:xfrm>
            <a:off x="9877425" y="3727291"/>
            <a:ext cx="5907564"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Rule</a:t>
            </a:r>
            <a:endParaRPr lang="en-US" sz="2550" dirty="0"/>
          </a:p>
        </p:txBody>
      </p:sp>
      <p:sp>
        <p:nvSpPr>
          <p:cNvPr id="24" name="Text 20"/>
          <p:cNvSpPr/>
          <p:nvPr/>
        </p:nvSpPr>
        <p:spPr>
          <a:xfrm>
            <a:off x="9877425" y="4174173"/>
            <a:ext cx="5907564"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Motorcycle or pedestrian involved, or no car</a:t>
            </a:r>
            <a:endParaRPr lang="en-US" sz="1800" dirty="0"/>
          </a:p>
        </p:txBody>
      </p:sp>
      <p:sp>
        <p:nvSpPr>
          <p:cNvPr id="25" name="Text 21"/>
          <p:cNvSpPr/>
          <p:nvPr/>
        </p:nvSpPr>
        <p:spPr>
          <a:xfrm>
            <a:off x="15419229" y="3604260"/>
            <a:ext cx="1468596" cy="310515"/>
          </a:xfrm>
          <a:prstGeom prst="rect">
            <a:avLst/>
          </a:prstGeom>
          <a:noFill/>
          <a:ln/>
        </p:spPr>
        <p:txBody>
          <a:bodyPr wrap="square" lIns="25400" tIns="25400" rIns="25400" bIns="25400" rtlCol="0" anchor="t">
            <a:normAutofit/>
          </a:bodyPr>
          <a:lstStyle/>
          <a:p>
            <a:pPr algn="r"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F1</a:t>
            </a:r>
            <a:endParaRPr lang="en-US" sz="1650" dirty="0"/>
          </a:p>
        </p:txBody>
      </p:sp>
      <p:sp>
        <p:nvSpPr>
          <p:cNvPr id="26" name="Text 22"/>
          <p:cNvSpPr/>
          <p:nvPr/>
        </p:nvSpPr>
        <p:spPr>
          <a:xfrm>
            <a:off x="15419229" y="3876675"/>
            <a:ext cx="1468596" cy="774224"/>
          </a:xfrm>
          <a:prstGeom prst="rect">
            <a:avLst/>
          </a:prstGeom>
          <a:noFill/>
          <a:ln/>
        </p:spPr>
        <p:txBody>
          <a:bodyPr wrap="square" lIns="25400" tIns="25400" rIns="25400" bIns="25400" rtlCol="0" anchor="t">
            <a:normAutofit/>
          </a:bodyPr>
          <a:lstStyle/>
          <a:p>
            <a:pPr algn="r" indent="0" marL="0">
              <a:lnSpc>
                <a:spcPct val="119203"/>
              </a:lnSpc>
              <a:buNone/>
            </a:pPr>
            <a:r>
              <a:rPr lang="en-US" sz="4200" b="1" dirty="0">
                <a:solidFill>
                  <a:srgbClr val="B8C0C8"/>
                </a:solidFill>
                <a:latin typeface="Arial" pitchFamily="34" charset="0"/>
                <a:ea typeface="Arial" pitchFamily="34" charset="-122"/>
                <a:cs typeface="Arial" pitchFamily="34" charset="-120"/>
              </a:rPr>
              <a:t>0.303</a:t>
            </a:r>
            <a:endParaRPr lang="en-US" sz="4200" dirty="0"/>
          </a:p>
        </p:txBody>
      </p:sp>
      <p:sp>
        <p:nvSpPr>
          <p:cNvPr id="27" name="Shape 23"/>
          <p:cNvSpPr/>
          <p:nvPr/>
        </p:nvSpPr>
        <p:spPr>
          <a:xfrm>
            <a:off x="9525000" y="5174774"/>
            <a:ext cx="7715250" cy="1637189"/>
          </a:xfrm>
          <a:prstGeom prst="roundRect">
            <a:avLst>
              <a:gd name="adj" fmla="val 12799"/>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8" name="Text 24"/>
          <p:cNvSpPr/>
          <p:nvPr/>
        </p:nvSpPr>
        <p:spPr>
          <a:xfrm>
            <a:off x="9877425" y="5612130"/>
            <a:ext cx="5907564"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Historical lookup</a:t>
            </a:r>
            <a:endParaRPr lang="en-US" sz="2550" dirty="0"/>
          </a:p>
        </p:txBody>
      </p:sp>
      <p:sp>
        <p:nvSpPr>
          <p:cNvPr id="29" name="Text 25"/>
          <p:cNvSpPr/>
          <p:nvPr/>
        </p:nvSpPr>
        <p:spPr>
          <a:xfrm>
            <a:off x="9877425" y="6059012"/>
            <a:ext cx="5907564"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Severe share of similar past accidents</a:t>
            </a:r>
            <a:endParaRPr lang="en-US" sz="1800" dirty="0"/>
          </a:p>
        </p:txBody>
      </p:sp>
      <p:sp>
        <p:nvSpPr>
          <p:cNvPr id="30" name="Text 26"/>
          <p:cNvSpPr/>
          <p:nvPr/>
        </p:nvSpPr>
        <p:spPr>
          <a:xfrm>
            <a:off x="15419229" y="5489099"/>
            <a:ext cx="1468596" cy="310515"/>
          </a:xfrm>
          <a:prstGeom prst="rect">
            <a:avLst/>
          </a:prstGeom>
          <a:noFill/>
          <a:ln/>
        </p:spPr>
        <p:txBody>
          <a:bodyPr wrap="square" lIns="25400" tIns="25400" rIns="25400" bIns="25400" rtlCol="0" anchor="t">
            <a:normAutofit/>
          </a:bodyPr>
          <a:lstStyle/>
          <a:p>
            <a:pPr algn="r"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F1</a:t>
            </a:r>
            <a:endParaRPr lang="en-US" sz="1650" dirty="0"/>
          </a:p>
        </p:txBody>
      </p:sp>
      <p:sp>
        <p:nvSpPr>
          <p:cNvPr id="31" name="Text 27"/>
          <p:cNvSpPr/>
          <p:nvPr/>
        </p:nvSpPr>
        <p:spPr>
          <a:xfrm>
            <a:off x="15419229" y="5761513"/>
            <a:ext cx="1468596" cy="774224"/>
          </a:xfrm>
          <a:prstGeom prst="rect">
            <a:avLst/>
          </a:prstGeom>
          <a:noFill/>
          <a:ln/>
        </p:spPr>
        <p:txBody>
          <a:bodyPr wrap="square" lIns="25400" tIns="25400" rIns="25400" bIns="25400" rtlCol="0" anchor="t">
            <a:normAutofit/>
          </a:bodyPr>
          <a:lstStyle/>
          <a:p>
            <a:pPr algn="r" indent="0" marL="0">
              <a:lnSpc>
                <a:spcPct val="119203"/>
              </a:lnSpc>
              <a:buNone/>
            </a:pPr>
            <a:r>
              <a:rPr lang="en-US" sz="4200" b="1" dirty="0">
                <a:solidFill>
                  <a:srgbClr val="B8C0C8"/>
                </a:solidFill>
                <a:latin typeface="Arial" pitchFamily="34" charset="0"/>
                <a:ea typeface="Arial" pitchFamily="34" charset="-122"/>
                <a:cs typeface="Arial" pitchFamily="34" charset="-120"/>
              </a:rPr>
              <a:t>0.315</a:t>
            </a:r>
            <a:endParaRPr lang="en-US" sz="4200" dirty="0"/>
          </a:p>
        </p:txBody>
      </p:sp>
      <p:sp>
        <p:nvSpPr>
          <p:cNvPr id="32" name="Text 28"/>
          <p:cNvSpPr/>
          <p:nvPr/>
        </p:nvSpPr>
        <p:spPr>
          <a:xfrm>
            <a:off x="9525000" y="7059613"/>
            <a:ext cx="84867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set, 40,915 accidents.</a:t>
            </a:r>
            <a:endParaRPr lang="en-US" sz="1800" dirty="0"/>
          </a:p>
        </p:txBody>
      </p:sp>
      <p:sp>
        <p:nvSpPr>
          <p:cNvPr id="33" name="Text 29"/>
          <p:cNvSpPr/>
          <p:nvPr/>
        </p:nvSpPr>
        <p:spPr>
          <a:xfrm>
            <a:off x="9525000" y="7622699"/>
            <a:ext cx="84867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On the test set: 0.300 and 0.312. Test set, 40,927 accidents, used once.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4068139" cy="65151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Every approach we tried ends at about the same score</a:t>
            </a:r>
            <a:endParaRPr lang="en-US" sz="4200" dirty="0"/>
          </a:p>
        </p:txBody>
      </p:sp>
      <p:sp>
        <p:nvSpPr>
          <p:cNvPr id="4" name="Text 2"/>
          <p:cNvSpPr/>
          <p:nvPr/>
        </p:nvSpPr>
        <p:spPr>
          <a:xfrm>
            <a:off x="15010765" y="915670"/>
            <a:ext cx="101028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6FA3E8"/>
                </a:solidFill>
                <a:latin typeface="Arial" pitchFamily="34" charset="0"/>
                <a:ea typeface="Arial" pitchFamily="34" charset="-122"/>
                <a:cs typeface="Arial" pitchFamily="34" charset="-120"/>
              </a:rPr>
              <a:t>MODEL</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solidFill>
          <a:ln/>
          <a:effectLst>
            <a:outerShdw sx="100000" sy="100000" kx="0" ky="0" algn="bl" rotWithShape="0" blurRad="114300" dist="50800" dir="16200000">
              <a:srgbClr val="6FA3E8">
                <a:alpha val="100000"/>
              </a:srgbClr>
            </a:outerShdw>
          </a:effectLst>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1661160"/>
            <a:ext cx="16192500" cy="19050"/>
          </a:xfrm>
          <a:prstGeom prst="rect">
            <a:avLst/>
          </a:prstGeom>
          <a:blipFill>
            <a:blip r:embed="rId1"/>
            <a:tile tx="0" ty="0" sx="100000" sy="100000" flip="none" algn="tl"/>
          </a:blipFill>
          <a:ln/>
        </p:spPr>
      </p:sp>
      <p:sp>
        <p:nvSpPr>
          <p:cNvPr id="11" name="Shape 9"/>
          <p:cNvSpPr/>
          <p:nvPr/>
        </p:nvSpPr>
        <p:spPr>
          <a:xfrm>
            <a:off x="1047750" y="2156460"/>
            <a:ext cx="11019313" cy="7444740"/>
          </a:xfrm>
          <a:prstGeom prst="roundRect">
            <a:avLst>
              <a:gd name="adj" fmla="val 2815"/>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476375" y="2451735"/>
            <a:ext cx="1117827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F1 AFTER TUNING, SCALE 0 TO 0.4</a:t>
            </a:r>
            <a:endParaRPr lang="en-US" sz="1650" dirty="0"/>
          </a:p>
        </p:txBody>
      </p:sp>
      <p:sp>
        <p:nvSpPr>
          <p:cNvPr id="13" name="Text 11"/>
          <p:cNvSpPr/>
          <p:nvPr/>
        </p:nvSpPr>
        <p:spPr>
          <a:xfrm>
            <a:off x="1476375" y="2838450"/>
            <a:ext cx="297054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Logistic regression</a:t>
            </a:r>
            <a:endParaRPr lang="en-US" sz="2550" dirty="0"/>
          </a:p>
        </p:txBody>
      </p:sp>
      <p:sp>
        <p:nvSpPr>
          <p:cNvPr id="14" name="Shape 12"/>
          <p:cNvSpPr/>
          <p:nvPr/>
        </p:nvSpPr>
        <p:spPr>
          <a:xfrm>
            <a:off x="5610225" y="2852261"/>
            <a:ext cx="3743325" cy="419100"/>
          </a:xfrm>
          <a:custGeom>
            <a:avLst/>
            <a:gdLst/>
            <a:ahLst/>
            <a:cxnLst/>
            <a:rect l="l" t="t" r="r" b="b"/>
            <a:pathLst>
              <a:path w="3743325" h="419100">
                <a:moveTo>
                  <a:pt x="0" y="0"/>
                </a:moveTo>
                <a:lnTo>
                  <a:pt x="3648075" y="0"/>
                </a:lnTo>
                <a:arcTo hR="95250" wR="95250" stAng="16200000" swAng="5400000"/>
                <a:lnTo>
                  <a:pt x="3743325"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15" name="Text 13"/>
          <p:cNvSpPr/>
          <p:nvPr/>
        </p:nvSpPr>
        <p:spPr>
          <a:xfrm>
            <a:off x="9525000" y="2873057"/>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0.334</a:t>
            </a:r>
            <a:endParaRPr lang="en-US" sz="2550" dirty="0"/>
          </a:p>
        </p:txBody>
      </p:sp>
      <p:sp>
        <p:nvSpPr>
          <p:cNvPr id="16" name="Text 14"/>
          <p:cNvSpPr/>
          <p:nvPr/>
        </p:nvSpPr>
        <p:spPr>
          <a:xfrm>
            <a:off x="1476375" y="3399631"/>
            <a:ext cx="207926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Decision tree</a:t>
            </a:r>
            <a:endParaRPr lang="en-US" sz="2550" dirty="0"/>
          </a:p>
        </p:txBody>
      </p:sp>
      <p:sp>
        <p:nvSpPr>
          <p:cNvPr id="17" name="Shape 15"/>
          <p:cNvSpPr/>
          <p:nvPr/>
        </p:nvSpPr>
        <p:spPr>
          <a:xfrm>
            <a:off x="5610225" y="3413443"/>
            <a:ext cx="3648075" cy="419100"/>
          </a:xfrm>
          <a:custGeom>
            <a:avLst/>
            <a:gdLst/>
            <a:ahLst/>
            <a:cxnLst/>
            <a:rect l="l" t="t" r="r" b="b"/>
            <a:pathLst>
              <a:path w="3648075" h="419100">
                <a:moveTo>
                  <a:pt x="0" y="0"/>
                </a:moveTo>
                <a:lnTo>
                  <a:pt x="3552825" y="0"/>
                </a:lnTo>
                <a:arcTo hR="95250" wR="95250" stAng="16200000" swAng="5400000"/>
                <a:lnTo>
                  <a:pt x="3648075"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18" name="Text 16"/>
          <p:cNvSpPr/>
          <p:nvPr/>
        </p:nvSpPr>
        <p:spPr>
          <a:xfrm>
            <a:off x="9429750" y="3434239"/>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0.326</a:t>
            </a:r>
            <a:endParaRPr lang="en-US" sz="2550" dirty="0"/>
          </a:p>
        </p:txBody>
      </p:sp>
      <p:sp>
        <p:nvSpPr>
          <p:cNvPr id="19" name="Text 17"/>
          <p:cNvSpPr/>
          <p:nvPr/>
        </p:nvSpPr>
        <p:spPr>
          <a:xfrm>
            <a:off x="1476375" y="3960812"/>
            <a:ext cx="3564795"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Random forest (tuned)</a:t>
            </a:r>
            <a:endParaRPr lang="en-US" sz="2550" dirty="0"/>
          </a:p>
        </p:txBody>
      </p:sp>
      <p:sp>
        <p:nvSpPr>
          <p:cNvPr id="20" name="Shape 18"/>
          <p:cNvSpPr/>
          <p:nvPr/>
        </p:nvSpPr>
        <p:spPr>
          <a:xfrm>
            <a:off x="5610225" y="3974624"/>
            <a:ext cx="3810000" cy="419100"/>
          </a:xfrm>
          <a:custGeom>
            <a:avLst/>
            <a:gdLst/>
            <a:ahLst/>
            <a:cxnLst/>
            <a:rect l="l" t="t" r="r" b="b"/>
            <a:pathLst>
              <a:path w="3810000" h="419100">
                <a:moveTo>
                  <a:pt x="0" y="0"/>
                </a:moveTo>
                <a:lnTo>
                  <a:pt x="3714750" y="0"/>
                </a:lnTo>
                <a:arcTo hR="95250" wR="95250" stAng="16200000" swAng="5400000"/>
                <a:lnTo>
                  <a:pt x="3810000"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21" name="Text 19"/>
          <p:cNvSpPr/>
          <p:nvPr/>
        </p:nvSpPr>
        <p:spPr>
          <a:xfrm>
            <a:off x="9591675" y="3995420"/>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0.340</a:t>
            </a:r>
            <a:endParaRPr lang="en-US" sz="2550" dirty="0"/>
          </a:p>
        </p:txBody>
      </p:sp>
      <p:sp>
        <p:nvSpPr>
          <p:cNvPr id="22" name="Text 20"/>
          <p:cNvSpPr/>
          <p:nvPr/>
        </p:nvSpPr>
        <p:spPr>
          <a:xfrm>
            <a:off x="1476375" y="4521994"/>
            <a:ext cx="4040823"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Gradient boosting (tuned)</a:t>
            </a:r>
            <a:endParaRPr lang="en-US" sz="2550" dirty="0"/>
          </a:p>
        </p:txBody>
      </p:sp>
      <p:sp>
        <p:nvSpPr>
          <p:cNvPr id="23" name="Shape 21"/>
          <p:cNvSpPr/>
          <p:nvPr/>
        </p:nvSpPr>
        <p:spPr>
          <a:xfrm>
            <a:off x="5610225" y="4535805"/>
            <a:ext cx="3876675" cy="419100"/>
          </a:xfrm>
          <a:custGeom>
            <a:avLst/>
            <a:gdLst/>
            <a:ahLst/>
            <a:cxnLst/>
            <a:rect l="l" t="t" r="r" b="b"/>
            <a:pathLst>
              <a:path w="3876675" h="419100">
                <a:moveTo>
                  <a:pt x="0" y="0"/>
                </a:moveTo>
                <a:lnTo>
                  <a:pt x="3781425" y="0"/>
                </a:lnTo>
                <a:arcTo hR="95250" wR="95250" stAng="16200000" swAng="5400000"/>
                <a:lnTo>
                  <a:pt x="3876675" y="323850"/>
                </a:lnTo>
                <a:arcTo hR="95250" wR="95250" stAng="0" swAng="5400000"/>
                <a:lnTo>
                  <a:pt x="0" y="419100"/>
                </a:lnTo>
                <a:lnTo>
                  <a:pt x="0" y="0"/>
                </a:lnTo>
                <a:close/>
              </a:path>
            </a:pathLst>
          </a:custGeom>
          <a:gradFill rotWithShape="1">
            <a:gsLst>
              <a:gs pos="0">
                <a:srgbClr val="2ECC71">
                  <a:alpha val="45000"/>
                </a:srgbClr>
              </a:gs>
              <a:gs pos="100000">
                <a:srgbClr val="2ECC71">
                  <a:alpha val="100000"/>
                </a:srgbClr>
              </a:gs>
            </a:gsLst>
            <a:lin ang="0" scaled="0"/>
          </a:gradFill>
          <a:ln/>
          <a:effectLst>
            <a:outerShdw sx="100000" sy="100000" kx="0" ky="0" algn="bl" rotWithShape="0" blurRad="247650" dist="50800" dir="16200000">
              <a:srgbClr val="2ECC71">
                <a:alpha val="60000"/>
              </a:srgbClr>
            </a:outerShdw>
          </a:effectLst>
        </p:spPr>
      </p:sp>
      <p:sp>
        <p:nvSpPr>
          <p:cNvPr id="24" name="Text 22"/>
          <p:cNvSpPr/>
          <p:nvPr/>
        </p:nvSpPr>
        <p:spPr>
          <a:xfrm>
            <a:off x="9658350" y="4556601"/>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2ECC71"/>
                </a:solidFill>
                <a:latin typeface="Arial" pitchFamily="34" charset="0"/>
                <a:ea typeface="Arial" pitchFamily="34" charset="-122"/>
                <a:cs typeface="Arial" pitchFamily="34" charset="-120"/>
              </a:rPr>
              <a:t>0.346</a:t>
            </a:r>
            <a:endParaRPr lang="en-US" sz="2550" dirty="0"/>
          </a:p>
        </p:txBody>
      </p:sp>
      <p:sp>
        <p:nvSpPr>
          <p:cNvPr id="25" name="Text 23"/>
          <p:cNvSpPr/>
          <p:nvPr/>
        </p:nvSpPr>
        <p:spPr>
          <a:xfrm>
            <a:off x="10640537" y="4621530"/>
            <a:ext cx="1074102" cy="285750"/>
          </a:xfrm>
          <a:prstGeom prst="rect">
            <a:avLst/>
          </a:prstGeom>
          <a:noFill/>
          <a:ln/>
        </p:spPr>
        <p:txBody>
          <a:bodyPr wrap="square" lIns="25400" tIns="25400" rIns="25400" bIns="25400" rtlCol="0" anchor="t">
            <a:normAutofit/>
          </a:bodyPr>
          <a:lstStyle/>
          <a:p>
            <a:pPr algn="l" indent="0" marL="0">
              <a:lnSpc>
                <a:spcPct val="109937"/>
              </a:lnSpc>
              <a:buNone/>
            </a:pPr>
            <a:r>
              <a:rPr lang="en-US" sz="1500" b="1" spc="240" kern="0" dirty="0">
                <a:solidFill>
                  <a:srgbClr val="B8C0C8"/>
                </a:solidFill>
                <a:latin typeface="Arial" pitchFamily="34" charset="0"/>
                <a:ea typeface="Arial" pitchFamily="34" charset="-122"/>
                <a:cs typeface="Arial" pitchFamily="34" charset="-120"/>
              </a:rPr>
              <a:t>CHOSEN</a:t>
            </a:r>
            <a:endParaRPr lang="en-US" sz="1500" dirty="0"/>
          </a:p>
        </p:txBody>
      </p:sp>
      <p:sp>
        <p:nvSpPr>
          <p:cNvPr id="26" name="Text 24"/>
          <p:cNvSpPr/>
          <p:nvPr/>
        </p:nvSpPr>
        <p:spPr>
          <a:xfrm>
            <a:off x="1476375" y="5083175"/>
            <a:ext cx="336624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Ensemble (stacking)*</a:t>
            </a:r>
            <a:endParaRPr lang="en-US" sz="2550" dirty="0"/>
          </a:p>
        </p:txBody>
      </p:sp>
      <p:sp>
        <p:nvSpPr>
          <p:cNvPr id="27" name="Shape 25"/>
          <p:cNvSpPr/>
          <p:nvPr/>
        </p:nvSpPr>
        <p:spPr>
          <a:xfrm>
            <a:off x="5610225" y="5096987"/>
            <a:ext cx="3857625" cy="419100"/>
          </a:xfrm>
          <a:custGeom>
            <a:avLst/>
            <a:gdLst/>
            <a:ahLst/>
            <a:cxnLst/>
            <a:rect l="l" t="t" r="r" b="b"/>
            <a:pathLst>
              <a:path w="3857625" h="419100">
                <a:moveTo>
                  <a:pt x="0" y="0"/>
                </a:moveTo>
                <a:lnTo>
                  <a:pt x="3762375" y="0"/>
                </a:lnTo>
                <a:arcTo hR="95250" wR="95250" stAng="16200000" swAng="5400000"/>
                <a:lnTo>
                  <a:pt x="3857625" y="323850"/>
                </a:lnTo>
                <a:arcTo hR="95250" wR="95250" stAng="0" swAng="5400000"/>
                <a:lnTo>
                  <a:pt x="0" y="419100"/>
                </a:lnTo>
                <a:lnTo>
                  <a:pt x="0" y="0"/>
                </a:lnTo>
                <a:close/>
              </a:path>
            </a:pathLst>
          </a:custGeom>
          <a:gradFill rotWithShape="1">
            <a:gsLst>
              <a:gs pos="0">
                <a:srgbClr val="6FA3E8">
                  <a:alpha val="22000"/>
                </a:srgbClr>
              </a:gs>
              <a:gs pos="100000">
                <a:srgbClr val="6FA3E8">
                  <a:alpha val="50000"/>
                </a:srgbClr>
              </a:gs>
            </a:gsLst>
            <a:lin ang="0" scaled="0"/>
          </a:gradFill>
          <a:ln/>
        </p:spPr>
      </p:sp>
      <p:sp>
        <p:nvSpPr>
          <p:cNvPr id="28" name="Text 26"/>
          <p:cNvSpPr/>
          <p:nvPr/>
        </p:nvSpPr>
        <p:spPr>
          <a:xfrm>
            <a:off x="9639300" y="5117782"/>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0.344</a:t>
            </a:r>
            <a:endParaRPr lang="en-US" sz="2550" dirty="0"/>
          </a:p>
        </p:txBody>
      </p:sp>
      <p:sp>
        <p:nvSpPr>
          <p:cNvPr id="29" name="Text 27"/>
          <p:cNvSpPr/>
          <p:nvPr/>
        </p:nvSpPr>
        <p:spPr>
          <a:xfrm>
            <a:off x="1476375" y="5644356"/>
            <a:ext cx="10466925" cy="774065"/>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B8C0C8"/>
                </a:solidFill>
                <a:latin typeface="Arial" pitchFamily="34" charset="0"/>
                <a:ea typeface="Arial" pitchFamily="34" charset="-122"/>
                <a:cs typeface="Arial" pitchFamily="34" charset="-120"/>
              </a:rPr>
              <a:t>Chosen by the best cross-validated score on training data (PR-AUC 0.267), not by validation, so the choice isn’t fitted to one data set.</a:t>
            </a:r>
            <a:endParaRPr lang="en-US" sz="2100" dirty="0"/>
          </a:p>
        </p:txBody>
      </p:sp>
      <p:sp>
        <p:nvSpPr>
          <p:cNvPr id="30" name="Shape 28"/>
          <p:cNvSpPr/>
          <p:nvPr/>
        </p:nvSpPr>
        <p:spPr>
          <a:xfrm rot="2700000">
            <a:off x="1476375" y="6670358"/>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31" name="Text 29"/>
          <p:cNvSpPr/>
          <p:nvPr/>
        </p:nvSpPr>
        <p:spPr>
          <a:xfrm>
            <a:off x="1990725" y="6570821"/>
            <a:ext cx="887269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The limit is the information in the data, not the algorithm.</a:t>
            </a:r>
            <a:endParaRPr lang="en-US" sz="2550" dirty="0"/>
          </a:p>
        </p:txBody>
      </p:sp>
      <p:sp>
        <p:nvSpPr>
          <p:cNvPr id="32" name="Text 30"/>
          <p:cNvSpPr/>
          <p:nvPr/>
        </p:nvSpPr>
        <p:spPr>
          <a:xfrm>
            <a:off x="1476375" y="8416766"/>
            <a:ext cx="10466925" cy="984409"/>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set, 40,915 accidents. Tuning changed almost nothing (≤ 0.001). *Stacking: from the team’s other final notebook (Micheal), same data and split; combining models added at most +0.003.</a:t>
            </a:r>
            <a:endParaRPr lang="en-US" sz="1800" dirty="0"/>
          </a:p>
        </p:txBody>
      </p:sp>
      <p:sp>
        <p:nvSpPr>
          <p:cNvPr id="33" name="Text 31"/>
          <p:cNvSpPr/>
          <p:nvPr/>
        </p:nvSpPr>
        <p:spPr>
          <a:xfrm>
            <a:off x="12829063" y="3255962"/>
            <a:ext cx="485230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WHAT MATTERS MOST</a:t>
            </a:r>
            <a:endParaRPr lang="en-US" sz="1650" dirty="0"/>
          </a:p>
        </p:txBody>
      </p:sp>
      <p:sp>
        <p:nvSpPr>
          <p:cNvPr id="34" name="Shape 32"/>
          <p:cNvSpPr/>
          <p:nvPr/>
        </p:nvSpPr>
        <p:spPr>
          <a:xfrm>
            <a:off x="12829063" y="3776028"/>
            <a:ext cx="4411186" cy="1484312"/>
          </a:xfrm>
          <a:prstGeom prst="roundRect">
            <a:avLst>
              <a:gd name="adj" fmla="val 14118"/>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35" name="Image 0" descr="preencoded.png">    </p:cNvPr>
          <p:cNvPicPr>
            <a:picLocks noChangeAspect="1"/>
          </p:cNvPicPr>
          <p:nvPr/>
        </p:nvPicPr>
        <p:blipFill>
          <a:blip r:embed="rId2"/>
          <a:stretch>
            <a:fillRect/>
          </a:stretch>
        </p:blipFill>
        <p:spPr>
          <a:xfrm>
            <a:off x="13162438" y="4299109"/>
            <a:ext cx="438150" cy="438150"/>
          </a:xfrm>
          <a:prstGeom prst="rect">
            <a:avLst/>
          </a:prstGeom>
        </p:spPr>
      </p:pic>
      <p:pic>
        <p:nvPicPr>
          <p:cNvPr id="36" name="Image 1" descr="preencoded.png">    </p:cNvPr>
          <p:cNvPicPr>
            <a:picLocks noChangeAspect="1"/>
          </p:cNvPicPr>
          <p:nvPr/>
        </p:nvPicPr>
        <p:blipFill>
          <a:blip r:embed="rId3"/>
          <a:stretch>
            <a:fillRect/>
          </a:stretch>
        </p:blipFill>
        <p:spPr>
          <a:xfrm>
            <a:off x="13695838" y="4299109"/>
            <a:ext cx="438150" cy="438150"/>
          </a:xfrm>
          <a:prstGeom prst="rect">
            <a:avLst/>
          </a:prstGeom>
        </p:spPr>
      </p:pic>
      <p:pic>
        <p:nvPicPr>
          <p:cNvPr id="37" name="Image 2" descr="preencoded.png">    </p:cNvPr>
          <p:cNvPicPr>
            <a:picLocks noChangeAspect="1"/>
          </p:cNvPicPr>
          <p:nvPr/>
        </p:nvPicPr>
        <p:blipFill>
          <a:blip r:embed="rId4"/>
          <a:stretch>
            <a:fillRect/>
          </a:stretch>
        </p:blipFill>
        <p:spPr>
          <a:xfrm>
            <a:off x="14229238" y="4299109"/>
            <a:ext cx="438150" cy="438150"/>
          </a:xfrm>
          <a:prstGeom prst="rect">
            <a:avLst/>
          </a:prstGeom>
        </p:spPr>
      </p:pic>
      <p:sp>
        <p:nvSpPr>
          <p:cNvPr id="38" name="Text 33"/>
          <p:cNvSpPr/>
          <p:nvPr/>
        </p:nvSpPr>
        <p:spPr>
          <a:xfrm>
            <a:off x="14915038" y="4071303"/>
            <a:ext cx="2068036"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Who is involved</a:t>
            </a:r>
            <a:endParaRPr lang="en-US" sz="2550" dirty="0"/>
          </a:p>
        </p:txBody>
      </p:sp>
      <p:sp>
        <p:nvSpPr>
          <p:cNvPr id="39" name="Shape 34"/>
          <p:cNvSpPr/>
          <p:nvPr/>
        </p:nvSpPr>
        <p:spPr>
          <a:xfrm>
            <a:off x="12829063" y="5507990"/>
            <a:ext cx="4411186" cy="1484313"/>
          </a:xfrm>
          <a:prstGeom prst="roundRect">
            <a:avLst>
              <a:gd name="adj" fmla="val 14118"/>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40" name="Image 3" descr="preencoded.png">    </p:cNvPr>
          <p:cNvPicPr>
            <a:picLocks noChangeAspect="1"/>
          </p:cNvPicPr>
          <p:nvPr/>
        </p:nvPicPr>
        <p:blipFill>
          <a:blip r:embed="rId5"/>
          <a:stretch>
            <a:fillRect/>
          </a:stretch>
        </p:blipFill>
        <p:spPr>
          <a:xfrm>
            <a:off x="13162438" y="6031071"/>
            <a:ext cx="438150" cy="438150"/>
          </a:xfrm>
          <a:prstGeom prst="rect">
            <a:avLst/>
          </a:prstGeom>
        </p:spPr>
      </p:pic>
      <p:pic>
        <p:nvPicPr>
          <p:cNvPr id="41" name="Image 4" descr="preencoded.png">    </p:cNvPr>
          <p:cNvPicPr>
            <a:picLocks noChangeAspect="1"/>
          </p:cNvPicPr>
          <p:nvPr/>
        </p:nvPicPr>
        <p:blipFill>
          <a:blip r:embed="rId6"/>
          <a:stretch>
            <a:fillRect/>
          </a:stretch>
        </p:blipFill>
        <p:spPr>
          <a:xfrm>
            <a:off x="13695838" y="6031071"/>
            <a:ext cx="438150" cy="438150"/>
          </a:xfrm>
          <a:prstGeom prst="rect">
            <a:avLst/>
          </a:prstGeom>
        </p:spPr>
      </p:pic>
      <p:sp>
        <p:nvSpPr>
          <p:cNvPr id="42" name="Text 35"/>
          <p:cNvSpPr/>
          <p:nvPr/>
        </p:nvSpPr>
        <p:spPr>
          <a:xfrm>
            <a:off x="14381638" y="5803265"/>
            <a:ext cx="2601436"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How rural the place is</a:t>
            </a:r>
            <a:endParaRPr lang="en-US" sz="2550" dirty="0"/>
          </a:p>
        </p:txBody>
      </p:sp>
      <p:sp>
        <p:nvSpPr>
          <p:cNvPr id="43" name="Text 36"/>
          <p:cNvSpPr/>
          <p:nvPr/>
        </p:nvSpPr>
        <p:spPr>
          <a:xfrm>
            <a:off x="12829063" y="7239952"/>
            <a:ext cx="4543522" cy="1299845"/>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Population density is by far the most important factor (about 4–5× more than the next), followed by motorcycle and car involvement.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4193170" cy="65151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Our model beats both baselines, but the gain is modest</a:t>
            </a:r>
            <a:endParaRPr lang="en-US" sz="4200" dirty="0"/>
          </a:p>
        </p:txBody>
      </p:sp>
      <p:sp>
        <p:nvSpPr>
          <p:cNvPr id="4" name="Text 2"/>
          <p:cNvSpPr/>
          <p:nvPr/>
        </p:nvSpPr>
        <p:spPr>
          <a:xfrm>
            <a:off x="15010765" y="915670"/>
            <a:ext cx="101028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6FA3E8"/>
                </a:solidFill>
                <a:latin typeface="Arial" pitchFamily="34" charset="0"/>
                <a:ea typeface="Arial" pitchFamily="34" charset="-122"/>
                <a:cs typeface="Arial" pitchFamily="34" charset="-120"/>
              </a:rPr>
              <a:t>MODEL</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solidFill>
          <a:ln/>
          <a:effectLst>
            <a:outerShdw sx="100000" sy="100000" kx="0" ky="0" algn="bl" rotWithShape="0" blurRad="114300" dist="50800" dir="16200000">
              <a:srgbClr val="6FA3E8">
                <a:alpha val="100000"/>
              </a:srgbClr>
            </a:outerShdw>
          </a:effectLst>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1661160"/>
            <a:ext cx="16192500" cy="19050"/>
          </a:xfrm>
          <a:prstGeom prst="rect">
            <a:avLst/>
          </a:prstGeom>
          <a:blipFill>
            <a:blip r:embed="rId1"/>
            <a:tile tx="0" ty="0" sx="100000" sy="100000" flip="none" algn="tl"/>
          </a:blipFill>
          <a:ln/>
        </p:spPr>
      </p:sp>
      <p:sp>
        <p:nvSpPr>
          <p:cNvPr id="11" name="Text 9"/>
          <p:cNvSpPr/>
          <p:nvPr/>
        </p:nvSpPr>
        <p:spPr>
          <a:xfrm>
            <a:off x="1047750" y="2156460"/>
            <a:ext cx="10619994"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F1 SCORE · TEST SET, USED ONCE</a:t>
            </a:r>
            <a:endParaRPr lang="en-US" sz="1650" dirty="0"/>
          </a:p>
        </p:txBody>
      </p:sp>
      <p:sp>
        <p:nvSpPr>
          <p:cNvPr id="12" name="Text 10"/>
          <p:cNvSpPr/>
          <p:nvPr/>
        </p:nvSpPr>
        <p:spPr>
          <a:xfrm>
            <a:off x="1047750" y="2700655"/>
            <a:ext cx="742315"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Rule</a:t>
            </a:r>
            <a:endParaRPr lang="en-US" sz="2550" dirty="0"/>
          </a:p>
        </p:txBody>
      </p:sp>
      <p:sp>
        <p:nvSpPr>
          <p:cNvPr id="13" name="Shape 11"/>
          <p:cNvSpPr/>
          <p:nvPr/>
        </p:nvSpPr>
        <p:spPr>
          <a:xfrm>
            <a:off x="4038600" y="2657475"/>
            <a:ext cx="3714750" cy="533400"/>
          </a:xfrm>
          <a:custGeom>
            <a:avLst/>
            <a:gdLst/>
            <a:ahLst/>
            <a:cxnLst/>
            <a:rect l="l" t="t" r="r" b="b"/>
            <a:pathLst>
              <a:path w="3714750" h="533400">
                <a:moveTo>
                  <a:pt x="0" y="0"/>
                </a:moveTo>
                <a:lnTo>
                  <a:pt x="3619500" y="0"/>
                </a:lnTo>
                <a:arcTo hR="95250" wR="95250" stAng="16200000" swAng="5400000"/>
                <a:lnTo>
                  <a:pt x="3714750" y="438150"/>
                </a:lnTo>
                <a:arcTo hR="95250" wR="95250" stAng="0" swAng="5400000"/>
                <a:lnTo>
                  <a:pt x="0" y="533400"/>
                </a:lnTo>
                <a:lnTo>
                  <a:pt x="0" y="0"/>
                </a:lnTo>
                <a:close/>
              </a:path>
            </a:pathLst>
          </a:custGeom>
          <a:gradFill rotWithShape="1">
            <a:gsLst>
              <a:gs pos="0">
                <a:srgbClr val="B8C0C8">
                  <a:alpha val="25000"/>
                </a:srgbClr>
              </a:gs>
              <a:gs pos="100000">
                <a:srgbClr val="B8C0C8">
                  <a:alpha val="60000"/>
                </a:srgbClr>
              </a:gs>
            </a:gsLst>
            <a:lin ang="0" scaled="0"/>
          </a:gradFill>
          <a:ln/>
        </p:spPr>
      </p:sp>
      <p:sp>
        <p:nvSpPr>
          <p:cNvPr id="14" name="Text 12"/>
          <p:cNvSpPr/>
          <p:nvPr/>
        </p:nvSpPr>
        <p:spPr>
          <a:xfrm>
            <a:off x="7924800" y="2735421"/>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B8C0C8"/>
                </a:solidFill>
                <a:latin typeface="Arial" pitchFamily="34" charset="0"/>
                <a:ea typeface="Arial" pitchFamily="34" charset="-122"/>
                <a:cs typeface="Arial" pitchFamily="34" charset="-120"/>
              </a:rPr>
              <a:t>0.300</a:t>
            </a:r>
            <a:endParaRPr lang="en-US" sz="2550" dirty="0"/>
          </a:p>
        </p:txBody>
      </p:sp>
      <p:sp>
        <p:nvSpPr>
          <p:cNvPr id="15" name="Text 13"/>
          <p:cNvSpPr/>
          <p:nvPr/>
        </p:nvSpPr>
        <p:spPr>
          <a:xfrm>
            <a:off x="1047750" y="3462655"/>
            <a:ext cx="2613787"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Historical lookup</a:t>
            </a:r>
            <a:endParaRPr lang="en-US" sz="2550" dirty="0"/>
          </a:p>
        </p:txBody>
      </p:sp>
      <p:sp>
        <p:nvSpPr>
          <p:cNvPr id="16" name="Shape 14"/>
          <p:cNvSpPr/>
          <p:nvPr/>
        </p:nvSpPr>
        <p:spPr>
          <a:xfrm>
            <a:off x="4038600" y="3419475"/>
            <a:ext cx="3867150" cy="533400"/>
          </a:xfrm>
          <a:custGeom>
            <a:avLst/>
            <a:gdLst/>
            <a:ahLst/>
            <a:cxnLst/>
            <a:rect l="l" t="t" r="r" b="b"/>
            <a:pathLst>
              <a:path w="3867150" h="533400">
                <a:moveTo>
                  <a:pt x="0" y="0"/>
                </a:moveTo>
                <a:lnTo>
                  <a:pt x="3771900" y="0"/>
                </a:lnTo>
                <a:arcTo hR="95250" wR="95250" stAng="16200000" swAng="5400000"/>
                <a:lnTo>
                  <a:pt x="3867150" y="438150"/>
                </a:lnTo>
                <a:arcTo hR="95250" wR="95250" stAng="0" swAng="5400000"/>
                <a:lnTo>
                  <a:pt x="0" y="533400"/>
                </a:lnTo>
                <a:lnTo>
                  <a:pt x="0" y="0"/>
                </a:lnTo>
                <a:close/>
              </a:path>
            </a:pathLst>
          </a:custGeom>
          <a:gradFill rotWithShape="1">
            <a:gsLst>
              <a:gs pos="0">
                <a:srgbClr val="B8C0C8">
                  <a:alpha val="25000"/>
                </a:srgbClr>
              </a:gs>
              <a:gs pos="100000">
                <a:srgbClr val="B8C0C8">
                  <a:alpha val="60000"/>
                </a:srgbClr>
              </a:gs>
            </a:gsLst>
            <a:lin ang="0" scaled="0"/>
          </a:gradFill>
          <a:ln/>
        </p:spPr>
      </p:sp>
      <p:sp>
        <p:nvSpPr>
          <p:cNvPr id="17" name="Text 15"/>
          <p:cNvSpPr/>
          <p:nvPr/>
        </p:nvSpPr>
        <p:spPr>
          <a:xfrm>
            <a:off x="8077200" y="3497421"/>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B8C0C8"/>
                </a:solidFill>
                <a:latin typeface="Arial" pitchFamily="34" charset="0"/>
                <a:ea typeface="Arial" pitchFamily="34" charset="-122"/>
                <a:cs typeface="Arial" pitchFamily="34" charset="-120"/>
              </a:rPr>
              <a:t>0.312</a:t>
            </a:r>
            <a:endParaRPr lang="en-US" sz="2550" dirty="0"/>
          </a:p>
        </p:txBody>
      </p:sp>
      <p:sp>
        <p:nvSpPr>
          <p:cNvPr id="18" name="Text 16"/>
          <p:cNvSpPr/>
          <p:nvPr/>
        </p:nvSpPr>
        <p:spPr>
          <a:xfrm>
            <a:off x="1047750" y="4224655"/>
            <a:ext cx="1663303"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Our model</a:t>
            </a:r>
            <a:endParaRPr lang="en-US" sz="2550" dirty="0"/>
          </a:p>
        </p:txBody>
      </p:sp>
      <p:sp>
        <p:nvSpPr>
          <p:cNvPr id="19" name="Shape 17"/>
          <p:cNvSpPr/>
          <p:nvPr/>
        </p:nvSpPr>
        <p:spPr>
          <a:xfrm>
            <a:off x="4038600" y="4181475"/>
            <a:ext cx="4200525" cy="533400"/>
          </a:xfrm>
          <a:custGeom>
            <a:avLst/>
            <a:gdLst/>
            <a:ahLst/>
            <a:cxnLst/>
            <a:rect l="l" t="t" r="r" b="b"/>
            <a:pathLst>
              <a:path w="4200525" h="533400">
                <a:moveTo>
                  <a:pt x="0" y="0"/>
                </a:moveTo>
                <a:lnTo>
                  <a:pt x="4105275" y="0"/>
                </a:lnTo>
                <a:arcTo hR="95250" wR="95250" stAng="16200000" swAng="5400000"/>
                <a:lnTo>
                  <a:pt x="4200525" y="438150"/>
                </a:lnTo>
                <a:arcTo hR="95250" wR="95250" stAng="0" swAng="5400000"/>
                <a:lnTo>
                  <a:pt x="0" y="533400"/>
                </a:lnTo>
                <a:lnTo>
                  <a:pt x="0" y="0"/>
                </a:lnTo>
                <a:close/>
              </a:path>
            </a:pathLst>
          </a:custGeom>
          <a:gradFill rotWithShape="1">
            <a:gsLst>
              <a:gs pos="0">
                <a:srgbClr val="2ECC71">
                  <a:alpha val="45000"/>
                </a:srgbClr>
              </a:gs>
              <a:gs pos="100000">
                <a:srgbClr val="2ECC71">
                  <a:alpha val="100000"/>
                </a:srgbClr>
              </a:gs>
            </a:gsLst>
            <a:lin ang="0" scaled="0"/>
          </a:gradFill>
          <a:ln/>
          <a:effectLst>
            <a:outerShdw sx="100000" sy="100000" kx="0" ky="0" algn="bl" rotWithShape="0" blurRad="247650" dist="50800" dir="16200000">
              <a:srgbClr val="2ECC71">
                <a:alpha val="60000"/>
              </a:srgbClr>
            </a:outerShdw>
          </a:effectLst>
        </p:spPr>
      </p:sp>
      <p:sp>
        <p:nvSpPr>
          <p:cNvPr id="20" name="Shape 18"/>
          <p:cNvSpPr/>
          <p:nvPr/>
        </p:nvSpPr>
        <p:spPr>
          <a:xfrm>
            <a:off x="8153400" y="4086225"/>
            <a:ext cx="28575" cy="723900"/>
          </a:xfrm>
          <a:prstGeom prst="rect">
            <a:avLst/>
          </a:prstGeom>
          <a:solidFill>
            <a:srgbClr val="F5F7FA"/>
          </a:solidFill>
          <a:ln/>
        </p:spPr>
      </p:sp>
      <p:sp>
        <p:nvSpPr>
          <p:cNvPr id="21" name="Shape 19"/>
          <p:cNvSpPr/>
          <p:nvPr/>
        </p:nvSpPr>
        <p:spPr>
          <a:xfrm>
            <a:off x="8305800" y="4086225"/>
            <a:ext cx="28575" cy="723900"/>
          </a:xfrm>
          <a:prstGeom prst="rect">
            <a:avLst/>
          </a:prstGeom>
          <a:solidFill>
            <a:srgbClr val="F5F7FA"/>
          </a:solidFill>
          <a:ln/>
        </p:spPr>
      </p:sp>
      <p:sp>
        <p:nvSpPr>
          <p:cNvPr id="22" name="Shape 20"/>
          <p:cNvSpPr/>
          <p:nvPr/>
        </p:nvSpPr>
        <p:spPr>
          <a:xfrm>
            <a:off x="8153400" y="4438650"/>
            <a:ext cx="180975" cy="28575"/>
          </a:xfrm>
          <a:prstGeom prst="rect">
            <a:avLst/>
          </a:prstGeom>
          <a:solidFill>
            <a:srgbClr val="F5F7FA"/>
          </a:solidFill>
          <a:ln/>
        </p:spPr>
      </p:sp>
      <p:sp>
        <p:nvSpPr>
          <p:cNvPr id="23" name="Text 21"/>
          <p:cNvSpPr/>
          <p:nvPr/>
        </p:nvSpPr>
        <p:spPr>
          <a:xfrm>
            <a:off x="8448675" y="4259421"/>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2ECC71"/>
                </a:solidFill>
                <a:latin typeface="Arial" pitchFamily="34" charset="0"/>
                <a:ea typeface="Arial" pitchFamily="34" charset="-122"/>
                <a:cs typeface="Arial" pitchFamily="34" charset="-120"/>
              </a:rPr>
              <a:t>0.339</a:t>
            </a:r>
            <a:endParaRPr lang="en-US" sz="2550" dirty="0"/>
          </a:p>
        </p:txBody>
      </p:sp>
      <p:sp>
        <p:nvSpPr>
          <p:cNvPr id="24" name="Text 22"/>
          <p:cNvSpPr/>
          <p:nvPr/>
        </p:nvSpPr>
        <p:spPr>
          <a:xfrm>
            <a:off x="9430862" y="4290378"/>
            <a:ext cx="1398572" cy="353536"/>
          </a:xfrm>
          <a:prstGeom prst="rect">
            <a:avLst/>
          </a:prstGeom>
          <a:noFill/>
          <a:ln/>
        </p:spPr>
        <p:txBody>
          <a:bodyPr wrap="non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0.332–0.347</a:t>
            </a:r>
            <a:endParaRPr lang="en-US" sz="1800" dirty="0"/>
          </a:p>
        </p:txBody>
      </p:sp>
      <p:sp>
        <p:nvSpPr>
          <p:cNvPr id="25" name="Shape 23"/>
          <p:cNvSpPr/>
          <p:nvPr/>
        </p:nvSpPr>
        <p:spPr>
          <a:xfrm rot="2700000">
            <a:off x="1047750" y="5114925"/>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26" name="Text 24"/>
          <p:cNvSpPr/>
          <p:nvPr/>
        </p:nvSpPr>
        <p:spPr>
          <a:xfrm>
            <a:off x="1562100" y="5000625"/>
            <a:ext cx="9414395"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2ECC71"/>
                </a:solidFill>
                <a:latin typeface="Arial" pitchFamily="34" charset="0"/>
                <a:ea typeface="Arial" pitchFamily="34" charset="-122"/>
                <a:cs typeface="Arial" pitchFamily="34" charset="-120"/>
              </a:rPr>
              <a:t>+0.039 </a:t>
            </a:r>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over the rule (95% range 0.033–0.046): the gain is real, not luck</a:t>
            </a:r>
            <a:endParaRPr lang="en-US" sz="2550" dirty="0"/>
          </a:p>
        </p:txBody>
      </p:sp>
      <p:sp>
        <p:nvSpPr>
          <p:cNvPr id="27" name="Text 25"/>
          <p:cNvSpPr/>
          <p:nvPr/>
        </p:nvSpPr>
        <p:spPr>
          <a:xfrm>
            <a:off x="1562100" y="5951537"/>
            <a:ext cx="10054209"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b="1" dirty="0">
                <a:solidFill>
                  <a:srgbClr val="B8C0C8"/>
                </a:solidFill>
                <a:latin typeface="Arial" pitchFamily="34" charset="0"/>
                <a:ea typeface="Arial" pitchFamily="34" charset="-122"/>
                <a:cs typeface="Arial" pitchFamily="34" charset="-120"/>
              </a:rPr>
              <a:t>+0.027 over the historical lookup</a:t>
            </a:r>
            <a:endParaRPr lang="en-US" sz="1800" dirty="0"/>
          </a:p>
        </p:txBody>
      </p:sp>
      <p:sp>
        <p:nvSpPr>
          <p:cNvPr id="28" name="Shape 26"/>
          <p:cNvSpPr/>
          <p:nvPr/>
        </p:nvSpPr>
        <p:spPr>
          <a:xfrm>
            <a:off x="1047750" y="7612856"/>
            <a:ext cx="9654540" cy="1128871"/>
          </a:xfrm>
          <a:prstGeom prst="roundRect">
            <a:avLst>
              <a:gd name="adj" fmla="val 16875"/>
            </a:avLst>
          </a:prstGeom>
          <a:solidFill>
            <a:srgbClr val="2ECC71">
              <a:alpha val="7000"/>
            </a:srgbClr>
          </a:solidFill>
          <a:ln w="14288">
            <a:solidFill>
              <a:srgbClr val="2ECC71">
                <a:alpha val="55000"/>
              </a:srgbClr>
            </a:solidFill>
            <a:prstDash val="solid"/>
          </a:ln>
          <a:effectLst>
            <a:outerShdw sx="100000" sy="100000" kx="0" ky="0" algn="bl" rotWithShape="0" blurRad="285750" dist="50800" dir="16200000">
              <a:srgbClr val="2ECC71">
                <a:alpha val="80000"/>
              </a:srgbClr>
            </a:outerShdw>
          </a:effectLst>
        </p:spPr>
      </p:sp>
      <p:pic>
        <p:nvPicPr>
          <p:cNvPr id="29" name="Image 0" descr="preencoded.png">    </p:cNvPr>
          <p:cNvPicPr>
            <a:picLocks noChangeAspect="1"/>
          </p:cNvPicPr>
          <p:nvPr/>
        </p:nvPicPr>
        <p:blipFill>
          <a:blip r:embed="rId2"/>
          <a:stretch>
            <a:fillRect/>
          </a:stretch>
        </p:blipFill>
        <p:spPr>
          <a:xfrm>
            <a:off x="1347788" y="7977188"/>
            <a:ext cx="400050" cy="400050"/>
          </a:xfrm>
          <a:prstGeom prst="rect">
            <a:avLst/>
          </a:prstGeom>
        </p:spPr>
      </p:pic>
      <p:sp>
        <p:nvSpPr>
          <p:cNvPr id="30" name="Text 27"/>
          <p:cNvSpPr/>
          <p:nvPr/>
        </p:nvSpPr>
        <p:spPr>
          <a:xfrm>
            <a:off x="1957388" y="7817644"/>
            <a:ext cx="8432816"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HOLDS UP</a:t>
            </a:r>
            <a:endParaRPr lang="en-US" sz="1650" dirty="0"/>
          </a:p>
        </p:txBody>
      </p:sp>
      <p:sp>
        <p:nvSpPr>
          <p:cNvPr id="31" name="Text 28"/>
          <p:cNvSpPr/>
          <p:nvPr/>
        </p:nvSpPr>
        <p:spPr>
          <a:xfrm>
            <a:off x="1957388" y="8090059"/>
            <a:ext cx="843281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Validation 0.346 → Test 0.339: stable on unseen data</a:t>
            </a:r>
            <a:endParaRPr lang="en-US" sz="2550" dirty="0"/>
          </a:p>
        </p:txBody>
      </p:sp>
      <p:sp>
        <p:nvSpPr>
          <p:cNvPr id="32" name="Text 29"/>
          <p:cNvSpPr/>
          <p:nvPr/>
        </p:nvSpPr>
        <p:spPr>
          <a:xfrm>
            <a:off x="1047750" y="8970327"/>
            <a:ext cx="9944176"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Test set, 40,927 accidents, used once after all choices were fixed. 95% ranges from 1,000 bootstrap resamples. PR-AUC 0.268.</a:t>
            </a:r>
            <a:endParaRPr lang="en-US" sz="1800" dirty="0"/>
          </a:p>
        </p:txBody>
      </p:sp>
      <p:sp>
        <p:nvSpPr>
          <p:cNvPr id="33" name="Shape 30"/>
          <p:cNvSpPr/>
          <p:nvPr/>
        </p:nvSpPr>
        <p:spPr>
          <a:xfrm>
            <a:off x="11369040" y="2818447"/>
            <a:ext cx="1838325" cy="1209675"/>
          </a:xfrm>
          <a:prstGeom prst="roundRect">
            <a:avLst>
              <a:gd name="adj" fmla="val 18898"/>
            </a:avLst>
          </a:prstGeom>
          <a:gradFill rotWithShape="1">
            <a:gsLst>
              <a:gs pos="0">
                <a:srgbClr val="2ECC71">
                  <a:alpha val="16000"/>
                </a:srgbClr>
              </a:gs>
              <a:gs pos="100000">
                <a:srgbClr val="2ECC71">
                  <a:alpha val="4000"/>
                </a:srgbClr>
              </a:gs>
            </a:gsLst>
            <a:lin ang="5400000" scaled="0"/>
          </a:gradFill>
          <a:ln w="14288">
            <a:solidFill>
              <a:srgbClr val="2ECC71">
                <a:alpha val="55000"/>
              </a:srgbClr>
            </a:solidFill>
            <a:prstDash val="solid"/>
          </a:ln>
          <a:effectLst>
            <a:outerShdw sx="100000" sy="100000" kx="0" ky="0" algn="bl" rotWithShape="0" blurRad="419100" dist="50800" dir="16200000">
              <a:srgbClr val="2ECC71">
                <a:alpha val="70000"/>
              </a:srgbClr>
            </a:outerShdw>
          </a:effectLst>
        </p:spPr>
      </p:sp>
      <p:sp>
        <p:nvSpPr>
          <p:cNvPr id="34" name="Text 31"/>
          <p:cNvSpPr/>
          <p:nvPr/>
        </p:nvSpPr>
        <p:spPr>
          <a:xfrm>
            <a:off x="11991498" y="2932747"/>
            <a:ext cx="669608" cy="774224"/>
          </a:xfrm>
          <a:prstGeom prst="rect">
            <a:avLst/>
          </a:prstGeom>
          <a:noFill/>
          <a:ln/>
        </p:spPr>
        <p:txBody>
          <a:bodyPr wrap="square" lIns="25400" tIns="25400" rIns="25400" bIns="25400" rtlCol="0" anchor="t">
            <a:normAutofit/>
          </a:bodyPr>
          <a:lstStyle/>
          <a:p>
            <a:pPr algn="l" indent="0" marL="0">
              <a:lnSpc>
                <a:spcPct val="119203"/>
              </a:lnSpc>
              <a:buNone/>
            </a:pPr>
            <a:r>
              <a:rPr lang="en-US" sz="4200" b="1" dirty="0">
                <a:solidFill>
                  <a:srgbClr val="2ECC71"/>
                </a:solidFill>
                <a:latin typeface="Arial" pitchFamily="34" charset="0"/>
                <a:ea typeface="Arial" pitchFamily="34" charset="-122"/>
                <a:cs typeface="Arial" pitchFamily="34" charset="-120"/>
              </a:rPr>
              <a:t>58</a:t>
            </a:r>
            <a:endParaRPr lang="en-US" sz="4200" dirty="0"/>
          </a:p>
        </p:txBody>
      </p:sp>
      <p:sp>
        <p:nvSpPr>
          <p:cNvPr id="35" name="Text 32"/>
          <p:cNvSpPr/>
          <p:nvPr/>
        </p:nvSpPr>
        <p:spPr>
          <a:xfrm>
            <a:off x="11996896" y="3668871"/>
            <a:ext cx="658813" cy="283051"/>
          </a:xfrm>
          <a:prstGeom prst="rect">
            <a:avLst/>
          </a:prstGeom>
          <a:noFill/>
          <a:ln/>
        </p:spPr>
        <p:txBody>
          <a:bodyPr wrap="square" lIns="25400" tIns="25400" rIns="25400" bIns="25400" rtlCol="0" anchor="t">
            <a:normAutofit/>
          </a:bodyPr>
          <a:lstStyle/>
          <a:p>
            <a:pPr algn="l" indent="0" marL="0">
              <a:buNone/>
            </a:pPr>
            <a:r>
              <a:rPr lang="en-US" sz="1650" b="1" dirty="0">
                <a:solidFill>
                  <a:srgbClr val="B8C0C8"/>
                </a:solidFill>
                <a:latin typeface="Arial" pitchFamily="34" charset="0"/>
                <a:ea typeface="Arial" pitchFamily="34" charset="-122"/>
                <a:cs typeface="Arial" pitchFamily="34" charset="-120"/>
              </a:rPr>
              <a:t>of 100</a:t>
            </a:r>
            <a:endParaRPr lang="en-US" sz="1650" dirty="0"/>
          </a:p>
        </p:txBody>
      </p:sp>
      <p:sp>
        <p:nvSpPr>
          <p:cNvPr id="36" name="Text 33"/>
          <p:cNvSpPr/>
          <p:nvPr/>
        </p:nvSpPr>
        <p:spPr>
          <a:xfrm>
            <a:off x="13474065" y="3086894"/>
            <a:ext cx="3125089" cy="383381"/>
          </a:xfrm>
          <a:prstGeom prst="rect">
            <a:avLst/>
          </a:prstGeom>
          <a:noFill/>
          <a:ln/>
        </p:spPr>
        <p:txBody>
          <a:bodyPr wrap="square" lIns="25400" tIns="25400" rIns="25400" bIns="25400" rtlCol="0" anchor="t">
            <a:normAutofit/>
          </a:bodyPr>
          <a:lstStyle/>
          <a:p>
            <a:pPr algn="l" indent="0" marL="0">
              <a:lnSpc>
                <a:spcPct val="106775"/>
              </a:lnSpc>
              <a:buNone/>
            </a:pPr>
            <a:r>
              <a:rPr lang="en-US" sz="2175" b="1" dirty="0">
                <a:solidFill>
                  <a:srgbClr val="F5F7FA"/>
                </a:solidFill>
                <a:latin typeface="Arial" pitchFamily="34" charset="0"/>
                <a:ea typeface="Arial" pitchFamily="34" charset="-122"/>
                <a:cs typeface="Arial" pitchFamily="34" charset="-120"/>
              </a:rPr>
              <a:t>severe accidents found</a:t>
            </a:r>
            <a:endParaRPr lang="en-US" sz="2175" dirty="0"/>
          </a:p>
        </p:txBody>
      </p:sp>
      <p:sp>
        <p:nvSpPr>
          <p:cNvPr id="37" name="Text 34"/>
          <p:cNvSpPr/>
          <p:nvPr/>
        </p:nvSpPr>
        <p:spPr>
          <a:xfrm>
            <a:off x="13474065" y="3470275"/>
            <a:ext cx="3125089"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Test set</a:t>
            </a:r>
            <a:endParaRPr lang="en-US" sz="1650" dirty="0"/>
          </a:p>
        </p:txBody>
      </p:sp>
      <p:sp>
        <p:nvSpPr>
          <p:cNvPr id="38" name="Shape 35"/>
          <p:cNvSpPr/>
          <p:nvPr/>
        </p:nvSpPr>
        <p:spPr>
          <a:xfrm>
            <a:off x="11369040" y="4256722"/>
            <a:ext cx="1838325" cy="1209675"/>
          </a:xfrm>
          <a:prstGeom prst="roundRect">
            <a:avLst>
              <a:gd name="adj" fmla="val 18898"/>
            </a:avLst>
          </a:prstGeom>
          <a:gradFill rotWithShape="1">
            <a:gsLst>
              <a:gs pos="0">
                <a:srgbClr val="2ECC71">
                  <a:alpha val="16000"/>
                </a:srgbClr>
              </a:gs>
              <a:gs pos="100000">
                <a:srgbClr val="2ECC71">
                  <a:alpha val="4000"/>
                </a:srgbClr>
              </a:gs>
            </a:gsLst>
            <a:lin ang="5400000" scaled="0"/>
          </a:gradFill>
          <a:ln w="14288">
            <a:solidFill>
              <a:srgbClr val="2ECC71">
                <a:alpha val="55000"/>
              </a:srgbClr>
            </a:solidFill>
            <a:prstDash val="solid"/>
          </a:ln>
          <a:effectLst>
            <a:outerShdw sx="100000" sy="100000" kx="0" ky="0" algn="bl" rotWithShape="0" blurRad="419100" dist="50800" dir="16200000">
              <a:srgbClr val="2ECC71">
                <a:alpha val="70000"/>
              </a:srgbClr>
            </a:outerShdw>
          </a:effectLst>
        </p:spPr>
      </p:sp>
      <p:sp>
        <p:nvSpPr>
          <p:cNvPr id="39" name="Text 36"/>
          <p:cNvSpPr/>
          <p:nvPr/>
        </p:nvSpPr>
        <p:spPr>
          <a:xfrm>
            <a:off x="11822112" y="4598670"/>
            <a:ext cx="1008380" cy="563880"/>
          </a:xfrm>
          <a:prstGeom prst="rect">
            <a:avLst/>
          </a:prstGeom>
          <a:noFill/>
          <a:ln/>
        </p:spPr>
        <p:txBody>
          <a:bodyPr wrap="square" lIns="25400" tIns="25400" rIns="25400" bIns="25400" rtlCol="0" anchor="t">
            <a:normAutofit/>
          </a:bodyPr>
          <a:lstStyle/>
          <a:p>
            <a:pPr algn="l" indent="0" marL="0">
              <a:lnSpc>
                <a:spcPct val="119180"/>
              </a:lnSpc>
              <a:buNone/>
            </a:pPr>
            <a:r>
              <a:rPr lang="en-US" sz="3000" b="1" dirty="0">
                <a:solidFill>
                  <a:srgbClr val="2ECC71"/>
                </a:solidFill>
                <a:latin typeface="Arial" pitchFamily="34" charset="0"/>
                <a:ea typeface="Arial" pitchFamily="34" charset="-122"/>
                <a:cs typeface="Arial" pitchFamily="34" charset="-120"/>
              </a:rPr>
              <a:t>1 in 4</a:t>
            </a:r>
            <a:endParaRPr lang="en-US" sz="3000" dirty="0"/>
          </a:p>
        </p:txBody>
      </p:sp>
      <p:sp>
        <p:nvSpPr>
          <p:cNvPr id="40" name="Text 37"/>
          <p:cNvSpPr/>
          <p:nvPr/>
        </p:nvSpPr>
        <p:spPr>
          <a:xfrm>
            <a:off x="13474065" y="4525169"/>
            <a:ext cx="4172315" cy="383381"/>
          </a:xfrm>
          <a:prstGeom prst="rect">
            <a:avLst/>
          </a:prstGeom>
          <a:noFill/>
          <a:ln/>
        </p:spPr>
        <p:txBody>
          <a:bodyPr wrap="square" lIns="25400" tIns="25400" rIns="25400" bIns="25400" rtlCol="0" anchor="t">
            <a:normAutofit/>
          </a:bodyPr>
          <a:lstStyle/>
          <a:p>
            <a:pPr algn="l" indent="0" marL="0">
              <a:lnSpc>
                <a:spcPct val="106775"/>
              </a:lnSpc>
              <a:buNone/>
            </a:pPr>
            <a:r>
              <a:rPr lang="en-US" sz="2175" b="1" dirty="0">
                <a:solidFill>
                  <a:srgbClr val="F5F7FA"/>
                </a:solidFill>
                <a:latin typeface="Arial" pitchFamily="34" charset="0"/>
                <a:ea typeface="Arial" pitchFamily="34" charset="-122"/>
                <a:cs typeface="Arial" pitchFamily="34" charset="-120"/>
              </a:rPr>
              <a:t>flagged accidents really severe</a:t>
            </a:r>
            <a:endParaRPr lang="en-US" sz="2175" dirty="0"/>
          </a:p>
        </p:txBody>
      </p:sp>
      <p:sp>
        <p:nvSpPr>
          <p:cNvPr id="41" name="Text 38"/>
          <p:cNvSpPr/>
          <p:nvPr/>
        </p:nvSpPr>
        <p:spPr>
          <a:xfrm>
            <a:off x="13474065" y="4908550"/>
            <a:ext cx="4172315"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Test set · average 1 in 6</a:t>
            </a:r>
            <a:endParaRPr lang="en-US" sz="1650" dirty="0"/>
          </a:p>
        </p:txBody>
      </p:sp>
      <p:sp>
        <p:nvSpPr>
          <p:cNvPr id="42" name="Shape 39"/>
          <p:cNvSpPr/>
          <p:nvPr/>
        </p:nvSpPr>
        <p:spPr>
          <a:xfrm>
            <a:off x="11369040" y="5916295"/>
            <a:ext cx="1838325" cy="1209675"/>
          </a:xfrm>
          <a:prstGeom prst="roundRect">
            <a:avLst>
              <a:gd name="adj" fmla="val 18898"/>
            </a:avLst>
          </a:prstGeom>
          <a:gradFill rotWithShape="1">
            <a:gsLst>
              <a:gs pos="0">
                <a:srgbClr val="2ECC71">
                  <a:alpha val="16000"/>
                </a:srgbClr>
              </a:gs>
              <a:gs pos="100000">
                <a:srgbClr val="2ECC71">
                  <a:alpha val="4000"/>
                </a:srgbClr>
              </a:gs>
            </a:gsLst>
            <a:lin ang="5400000" scaled="0"/>
          </a:gradFill>
          <a:ln w="14288">
            <a:solidFill>
              <a:srgbClr val="2ECC71">
                <a:alpha val="55000"/>
              </a:srgbClr>
            </a:solidFill>
            <a:prstDash val="solid"/>
          </a:ln>
          <a:effectLst>
            <a:outerShdw sx="100000" sy="100000" kx="0" ky="0" algn="bl" rotWithShape="0" blurRad="419100" dist="50800" dir="16200000">
              <a:srgbClr val="2ECC71">
                <a:alpha val="70000"/>
              </a:srgbClr>
            </a:outerShdw>
          </a:effectLst>
        </p:spPr>
      </p:sp>
      <p:sp>
        <p:nvSpPr>
          <p:cNvPr id="43" name="Text 40"/>
          <p:cNvSpPr/>
          <p:nvPr/>
        </p:nvSpPr>
        <p:spPr>
          <a:xfrm>
            <a:off x="11822112" y="6258242"/>
            <a:ext cx="1008380" cy="563880"/>
          </a:xfrm>
          <a:prstGeom prst="rect">
            <a:avLst/>
          </a:prstGeom>
          <a:noFill/>
          <a:ln/>
        </p:spPr>
        <p:txBody>
          <a:bodyPr wrap="square" lIns="25400" tIns="25400" rIns="25400" bIns="25400" rtlCol="0" anchor="t">
            <a:normAutofit/>
          </a:bodyPr>
          <a:lstStyle/>
          <a:p>
            <a:pPr algn="l" indent="0" marL="0">
              <a:lnSpc>
                <a:spcPct val="119180"/>
              </a:lnSpc>
              <a:buNone/>
            </a:pPr>
            <a:r>
              <a:rPr lang="en-US" sz="3000" b="1" dirty="0">
                <a:solidFill>
                  <a:srgbClr val="2ECC71"/>
                </a:solidFill>
                <a:latin typeface="Arial" pitchFamily="34" charset="0"/>
                <a:ea typeface="Arial" pitchFamily="34" charset="-122"/>
                <a:cs typeface="Arial" pitchFamily="34" charset="-120"/>
              </a:rPr>
              <a:t>1 in 3</a:t>
            </a:r>
            <a:endParaRPr lang="en-US" sz="3000" dirty="0"/>
          </a:p>
        </p:txBody>
      </p:sp>
      <p:sp>
        <p:nvSpPr>
          <p:cNvPr id="44" name="Text 41"/>
          <p:cNvSpPr/>
          <p:nvPr/>
        </p:nvSpPr>
        <p:spPr>
          <a:xfrm>
            <a:off x="13474065" y="5694998"/>
            <a:ext cx="4306919" cy="1073944"/>
          </a:xfrm>
          <a:prstGeom prst="rect">
            <a:avLst/>
          </a:prstGeom>
          <a:noFill/>
          <a:ln/>
        </p:spPr>
        <p:txBody>
          <a:bodyPr wrap="square" lIns="25400" tIns="25400" rIns="25400" bIns="25400" rtlCol="0" anchor="t">
            <a:normAutofit/>
          </a:bodyPr>
          <a:lstStyle/>
          <a:p>
            <a:pPr algn="l" indent="0" marL="0">
              <a:lnSpc>
                <a:spcPct val="106775"/>
              </a:lnSpc>
              <a:buNone/>
            </a:pPr>
            <a:r>
              <a:rPr lang="en-US" sz="2175" b="1" dirty="0">
                <a:solidFill>
                  <a:srgbClr val="F5F7FA"/>
                </a:solidFill>
                <a:latin typeface="Arial" pitchFamily="34" charset="0"/>
                <a:ea typeface="Arial" pitchFamily="34" charset="-122"/>
                <a:cs typeface="Arial" pitchFamily="34" charset="-120"/>
              </a:rPr>
              <a:t>of the 10% highest-risk accidents are severe (33%), about twice the average</a:t>
            </a:r>
            <a:endParaRPr lang="en-US" sz="2175" dirty="0"/>
          </a:p>
        </p:txBody>
      </p:sp>
      <p:sp>
        <p:nvSpPr>
          <p:cNvPr id="45" name="Text 42"/>
          <p:cNvSpPr/>
          <p:nvPr/>
        </p:nvSpPr>
        <p:spPr>
          <a:xfrm>
            <a:off x="13474065" y="6768941"/>
            <a:ext cx="4306919" cy="616585"/>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Historical lookup: 27% · Validation set, 40,915 accidents</a:t>
            </a:r>
            <a:endParaRPr lang="en-US" sz="1650" dirty="0"/>
          </a:p>
        </p:txBody>
      </p:sp>
      <p:sp>
        <p:nvSpPr>
          <p:cNvPr id="46" name="Shape 43"/>
          <p:cNvSpPr/>
          <p:nvPr/>
        </p:nvSpPr>
        <p:spPr>
          <a:xfrm>
            <a:off x="11369040" y="7652703"/>
            <a:ext cx="1838325" cy="1209675"/>
          </a:xfrm>
          <a:prstGeom prst="roundRect">
            <a:avLst>
              <a:gd name="adj" fmla="val 18898"/>
            </a:avLst>
          </a:prstGeom>
          <a:gradFill rotWithShape="1">
            <a:gsLst>
              <a:gs pos="0">
                <a:srgbClr val="2ECC71">
                  <a:alpha val="16000"/>
                </a:srgbClr>
              </a:gs>
              <a:gs pos="100000">
                <a:srgbClr val="2ECC71">
                  <a:alpha val="4000"/>
                </a:srgbClr>
              </a:gs>
            </a:gsLst>
            <a:lin ang="5400000" scaled="0"/>
          </a:gradFill>
          <a:ln w="14288">
            <a:solidFill>
              <a:srgbClr val="2ECC71">
                <a:alpha val="55000"/>
              </a:srgbClr>
            </a:solidFill>
            <a:prstDash val="solid"/>
          </a:ln>
          <a:effectLst>
            <a:outerShdw sx="100000" sy="100000" kx="0" ky="0" algn="bl" rotWithShape="0" blurRad="419100" dist="50800" dir="16200000">
              <a:srgbClr val="2ECC71">
                <a:alpha val="70000"/>
              </a:srgbClr>
            </a:outerShdw>
          </a:effectLst>
        </p:spPr>
      </p:sp>
      <p:sp>
        <p:nvSpPr>
          <p:cNvPr id="47" name="Text 44"/>
          <p:cNvSpPr/>
          <p:nvPr/>
        </p:nvSpPr>
        <p:spPr>
          <a:xfrm>
            <a:off x="11746389" y="7968297"/>
            <a:ext cx="1159669" cy="616426"/>
          </a:xfrm>
          <a:prstGeom prst="rect">
            <a:avLst/>
          </a:prstGeom>
          <a:noFill/>
          <a:ln/>
        </p:spPr>
        <p:txBody>
          <a:bodyPr wrap="square" lIns="25400" tIns="25400" rIns="25400" bIns="25400" rtlCol="0" anchor="t">
            <a:normAutofit/>
          </a:bodyPr>
          <a:lstStyle/>
          <a:p>
            <a:pPr algn="l" indent="0" marL="0">
              <a:lnSpc>
                <a:spcPct val="119208"/>
              </a:lnSpc>
              <a:buNone/>
            </a:pPr>
            <a:r>
              <a:rPr lang="en-US" sz="3300" b="1" dirty="0">
                <a:solidFill>
                  <a:srgbClr val="2ECC71"/>
                </a:solidFill>
                <a:latin typeface="Arial" pitchFamily="34" charset="0"/>
                <a:ea typeface="Arial" pitchFamily="34" charset="-122"/>
                <a:cs typeface="Arial" pitchFamily="34" charset="-120"/>
              </a:rPr>
              <a:t>−17%</a:t>
            </a:r>
            <a:endParaRPr lang="en-US" sz="3300" dirty="0"/>
          </a:p>
        </p:txBody>
      </p:sp>
      <p:sp>
        <p:nvSpPr>
          <p:cNvPr id="48" name="Text 45"/>
          <p:cNvSpPr/>
          <p:nvPr/>
        </p:nvSpPr>
        <p:spPr>
          <a:xfrm>
            <a:off x="13474065" y="7576026"/>
            <a:ext cx="4306919" cy="1073944"/>
          </a:xfrm>
          <a:prstGeom prst="rect">
            <a:avLst/>
          </a:prstGeom>
          <a:noFill/>
          <a:ln/>
        </p:spPr>
        <p:txBody>
          <a:bodyPr wrap="square" lIns="25400" tIns="25400" rIns="25400" bIns="25400" rtlCol="0" anchor="t">
            <a:normAutofit/>
          </a:bodyPr>
          <a:lstStyle/>
          <a:p>
            <a:pPr algn="l" indent="0" marL="0">
              <a:lnSpc>
                <a:spcPct val="106775"/>
              </a:lnSpc>
              <a:buNone/>
            </a:pPr>
            <a:r>
              <a:rPr lang="en-US" sz="2175" b="1" dirty="0">
                <a:solidFill>
                  <a:srgbClr val="F5F7FA"/>
                </a:solidFill>
                <a:latin typeface="Arial" pitchFamily="34" charset="0"/>
                <a:ea typeface="Arial" pitchFamily="34" charset="-122"/>
                <a:cs typeface="Arial" pitchFamily="34" charset="-120"/>
              </a:rPr>
              <a:t>false alarms vs the historical lookup, finding almost as many severe accidents</a:t>
            </a:r>
            <a:endParaRPr lang="en-US" sz="2175" dirty="0"/>
          </a:p>
        </p:txBody>
      </p:sp>
      <p:sp>
        <p:nvSpPr>
          <p:cNvPr id="49" name="Text 46"/>
          <p:cNvSpPr/>
          <p:nvPr/>
        </p:nvSpPr>
        <p:spPr>
          <a:xfrm>
            <a:off x="13474065" y="8649970"/>
            <a:ext cx="4599623"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Validation set, 40,915 accidents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973318" cy="65151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The predicted percentages match what really happens</a:t>
            </a:r>
            <a:endParaRPr lang="en-US" sz="4200" dirty="0"/>
          </a:p>
        </p:txBody>
      </p:sp>
      <p:sp>
        <p:nvSpPr>
          <p:cNvPr id="4" name="Text 2"/>
          <p:cNvSpPr/>
          <p:nvPr/>
        </p:nvSpPr>
        <p:spPr>
          <a:xfrm>
            <a:off x="15010765" y="915670"/>
            <a:ext cx="101028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6FA3E8"/>
                </a:solidFill>
                <a:latin typeface="Arial" pitchFamily="34" charset="0"/>
                <a:ea typeface="Arial" pitchFamily="34" charset="-122"/>
                <a:cs typeface="Arial" pitchFamily="34" charset="-120"/>
              </a:rPr>
              <a:t>MODEL</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solidFill>
          <a:ln/>
          <a:effectLst>
            <a:outerShdw sx="100000" sy="100000" kx="0" ky="0" algn="bl" rotWithShape="0" blurRad="114300" dist="50800" dir="16200000">
              <a:srgbClr val="6FA3E8">
                <a:alpha val="100000"/>
              </a:srgbClr>
            </a:outerShdw>
          </a:effectLst>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1661160"/>
            <a:ext cx="16192500" cy="19050"/>
          </a:xfrm>
          <a:prstGeom prst="rect">
            <a:avLst/>
          </a:prstGeom>
          <a:blipFill>
            <a:blip r:embed="rId1"/>
            <a:tile tx="0" ty="0" sx="100000" sy="100000" flip="none" algn="tl"/>
          </a:blipFill>
          <a:ln/>
        </p:spPr>
      </p:sp>
      <p:sp>
        <p:nvSpPr>
          <p:cNvPr id="11" name="Shape 9"/>
          <p:cNvSpPr/>
          <p:nvPr/>
        </p:nvSpPr>
        <p:spPr>
          <a:xfrm>
            <a:off x="1047750" y="2156460"/>
            <a:ext cx="1933575" cy="1933575"/>
          </a:xfrm>
          <a:prstGeom prst="roundRect">
            <a:avLst>
              <a:gd name="adj" fmla="val 14778"/>
            </a:avLst>
          </a:prstGeom>
          <a:gradFill rotWithShape="1">
            <a:gsLst>
              <a:gs pos="0">
                <a:srgbClr val="6FA3E8">
                  <a:alpha val="16000"/>
                </a:srgbClr>
              </a:gs>
              <a:gs pos="100000">
                <a:srgbClr val="6FA3E8">
                  <a:alpha val="4000"/>
                </a:srgbClr>
              </a:gs>
            </a:gsLst>
            <a:lin ang="5400000" scaled="0"/>
          </a:gradFill>
          <a:ln w="14288">
            <a:solidFill>
              <a:srgbClr val="6FA3E8">
                <a:alpha val="55000"/>
              </a:srgbClr>
            </a:solidFill>
            <a:prstDash val="solid"/>
          </a:ln>
          <a:effectLst>
            <a:outerShdw sx="100000" sy="100000" kx="0" ky="0" algn="bl" rotWithShape="0" blurRad="419100" dist="50800" dir="16200000">
              <a:srgbClr val="6FA3E8">
                <a:alpha val="70000"/>
              </a:srgbClr>
            </a:outerShdw>
          </a:effectLst>
        </p:spPr>
      </p:sp>
      <p:sp>
        <p:nvSpPr>
          <p:cNvPr id="12" name="Text 10"/>
          <p:cNvSpPr/>
          <p:nvPr/>
        </p:nvSpPr>
        <p:spPr>
          <a:xfrm>
            <a:off x="1023937" y="2170747"/>
            <a:ext cx="1981200" cy="1943100"/>
          </a:xfrm>
          <a:prstGeom prst="rect">
            <a:avLst/>
          </a:prstGeom>
          <a:noFill/>
          <a:ln/>
        </p:spPr>
        <p:txBody>
          <a:bodyPr wrap="square" lIns="25400" tIns="25400" rIns="25400" bIns="25400" rtlCol="0" anchor="ctr">
            <a:normAutofit/>
          </a:bodyPr>
          <a:lstStyle/>
          <a:p>
            <a:pPr algn="ctr" indent="0" marL="0">
              <a:lnSpc>
                <a:spcPct val="118232"/>
              </a:lnSpc>
              <a:buNone/>
            </a:pPr>
            <a:r>
              <a:rPr lang="en-US" sz="3900" b="1" dirty="0">
                <a:solidFill>
                  <a:srgbClr val="6FA3E8"/>
                </a:solidFill>
                <a:latin typeface="Arial" pitchFamily="34" charset="0"/>
                <a:ea typeface="Arial" pitchFamily="34" charset="-122"/>
                <a:cs typeface="Arial" pitchFamily="34" charset="-120"/>
              </a:rPr>
              <a:t>15.6%</a:t>
            </a:r>
            <a:endParaRPr lang="en-US" sz="3900" dirty="0"/>
          </a:p>
        </p:txBody>
      </p:sp>
      <p:sp>
        <p:nvSpPr>
          <p:cNvPr id="13" name="Text 11"/>
          <p:cNvSpPr/>
          <p:nvPr/>
        </p:nvSpPr>
        <p:spPr>
          <a:xfrm>
            <a:off x="1258570" y="4242435"/>
            <a:ext cx="1663129"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PREDICTED</a:t>
            </a:r>
            <a:endParaRPr lang="en-US" sz="1650" dirty="0"/>
          </a:p>
        </p:txBody>
      </p:sp>
      <p:sp>
        <p:nvSpPr>
          <p:cNvPr id="14" name="Text 12"/>
          <p:cNvSpPr/>
          <p:nvPr/>
        </p:nvSpPr>
        <p:spPr>
          <a:xfrm>
            <a:off x="3514725" y="2581275"/>
            <a:ext cx="494347" cy="1089660"/>
          </a:xfrm>
          <a:prstGeom prst="rect">
            <a:avLst/>
          </a:prstGeom>
          <a:noFill/>
          <a:ln/>
        </p:spPr>
        <p:txBody>
          <a:bodyPr wrap="square" lIns="25400" tIns="25400" rIns="25400" bIns="25400" rtlCol="0" anchor="t">
            <a:normAutofit/>
          </a:bodyPr>
          <a:lstStyle/>
          <a:p>
            <a:pPr algn="l" indent="0" marL="0">
              <a:lnSpc>
                <a:spcPct val="119848"/>
              </a:lnSpc>
              <a:buNone/>
            </a:pPr>
            <a:r>
              <a:rPr lang="en-US" sz="6000" dirty="0">
                <a:solidFill>
                  <a:srgbClr val="B8C0C8"/>
                </a:solidFill>
                <a:latin typeface="Arial" pitchFamily="34" charset="0"/>
                <a:ea typeface="Arial" pitchFamily="34" charset="-122"/>
                <a:cs typeface="Arial" pitchFamily="34" charset="-120"/>
              </a:rPr>
              <a:t>≈</a:t>
            </a:r>
            <a:endParaRPr lang="en-US" sz="6000" dirty="0"/>
          </a:p>
        </p:txBody>
      </p:sp>
      <p:sp>
        <p:nvSpPr>
          <p:cNvPr id="15" name="Shape 13"/>
          <p:cNvSpPr/>
          <p:nvPr/>
        </p:nvSpPr>
        <p:spPr>
          <a:xfrm>
            <a:off x="4466272" y="2170747"/>
            <a:ext cx="1905000" cy="1905000"/>
          </a:xfrm>
          <a:prstGeom prst="ellipse">
            <a:avLst/>
          </a:prstGeom>
          <a:gradFill rotWithShape="1">
            <a:gsLst>
              <a:gs pos="0">
                <a:srgbClr val="25292D">
                  <a:alpha val="100000"/>
                </a:srgbClr>
              </a:gs>
              <a:gs pos="100000">
                <a:srgbClr val="111315">
                  <a:alpha val="100000"/>
                </a:srgbClr>
              </a:gs>
            </a:gsLst>
            <a:path path="circle">
              <a:fillToRect l="50000" t="40000" r="50000" b="60000"/>
            </a:path>
          </a:gradFill>
          <a:ln w="133350">
            <a:solidFill>
              <a:srgbClr val="E63946"/>
            </a:solidFill>
            <a:prstDash val="solid"/>
          </a:ln>
          <a:effectLst>
            <a:outerShdw sx="100000" sy="100000" kx="0" ky="0" algn="bl" rotWithShape="0" blurRad="476250" dist="50800" dir="16200000">
              <a:srgbClr val="E63946">
                <a:alpha val="55000"/>
              </a:srgbClr>
            </a:outerShdw>
          </a:effectLst>
        </p:spPr>
      </p:sp>
      <p:sp>
        <p:nvSpPr>
          <p:cNvPr id="16" name="Text 14"/>
          <p:cNvSpPr/>
          <p:nvPr/>
        </p:nvSpPr>
        <p:spPr>
          <a:xfrm>
            <a:off x="4561522" y="2304097"/>
            <a:ext cx="1714500" cy="1676400"/>
          </a:xfrm>
          <a:prstGeom prst="rect">
            <a:avLst/>
          </a:prstGeom>
          <a:noFill/>
          <a:ln/>
        </p:spPr>
        <p:txBody>
          <a:bodyPr wrap="square" lIns="25400" tIns="25400" rIns="25400" bIns="25400" rtlCol="0" anchor="ctr">
            <a:normAutofit/>
          </a:bodyPr>
          <a:lstStyle/>
          <a:p>
            <a:pPr algn="ctr" indent="0" marL="0">
              <a:lnSpc>
                <a:spcPct val="118232"/>
              </a:lnSpc>
              <a:buNone/>
            </a:pPr>
            <a:r>
              <a:rPr lang="en-US" sz="3900" b="1" dirty="0">
                <a:solidFill>
                  <a:srgbClr val="F5F7FA"/>
                </a:solidFill>
                <a:latin typeface="Arial" pitchFamily="34" charset="0"/>
                <a:ea typeface="Arial" pitchFamily="34" charset="-122"/>
                <a:cs typeface="Arial" pitchFamily="34" charset="-120"/>
              </a:rPr>
              <a:t>15.7%</a:t>
            </a:r>
            <a:endParaRPr lang="en-US" sz="3900" dirty="0"/>
          </a:p>
        </p:txBody>
      </p:sp>
      <p:sp>
        <p:nvSpPr>
          <p:cNvPr id="17" name="Text 15"/>
          <p:cNvSpPr/>
          <p:nvPr/>
        </p:nvSpPr>
        <p:spPr>
          <a:xfrm>
            <a:off x="4704556" y="4228147"/>
            <a:ext cx="1571101"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OBSERVED</a:t>
            </a:r>
            <a:endParaRPr lang="en-US" sz="1650" dirty="0"/>
          </a:p>
        </p:txBody>
      </p:sp>
      <p:sp>
        <p:nvSpPr>
          <p:cNvPr id="18" name="Shape 16"/>
          <p:cNvSpPr/>
          <p:nvPr/>
        </p:nvSpPr>
        <p:spPr>
          <a:xfrm rot="2700000">
            <a:off x="7285672" y="2949257"/>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19" name="Text 17"/>
          <p:cNvSpPr/>
          <p:nvPr/>
        </p:nvSpPr>
        <p:spPr>
          <a:xfrm>
            <a:off x="7800023" y="2849721"/>
            <a:ext cx="721044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All groups within about 1.3 percentage points.</a:t>
            </a:r>
            <a:endParaRPr lang="en-US" sz="2550" dirty="0"/>
          </a:p>
        </p:txBody>
      </p:sp>
      <p:sp>
        <p:nvSpPr>
          <p:cNvPr id="20" name="Text 18"/>
          <p:cNvSpPr/>
          <p:nvPr/>
        </p:nvSpPr>
        <p:spPr>
          <a:xfrm>
            <a:off x="7800023" y="3506153"/>
            <a:ext cx="1043568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Trained with normal class weights, so no correction step was needed.</a:t>
            </a:r>
            <a:endParaRPr lang="en-US" sz="1800" dirty="0"/>
          </a:p>
        </p:txBody>
      </p:sp>
      <p:sp>
        <p:nvSpPr>
          <p:cNvPr id="21" name="Shape 19"/>
          <p:cNvSpPr/>
          <p:nvPr/>
        </p:nvSpPr>
        <p:spPr>
          <a:xfrm>
            <a:off x="1047750" y="4895850"/>
            <a:ext cx="16192500" cy="4705350"/>
          </a:xfrm>
          <a:prstGeom prst="roundRect">
            <a:avLst>
              <a:gd name="adj" fmla="val 445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2" name="Text 20"/>
          <p:cNvSpPr/>
          <p:nvPr/>
        </p:nvSpPr>
        <p:spPr>
          <a:xfrm>
            <a:off x="1476375" y="5174456"/>
            <a:ext cx="7866158"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PREDICTED VS OBSERVED SEVERE SHARE, BY GROUP</a:t>
            </a:r>
            <a:endParaRPr lang="en-US" sz="1650" dirty="0"/>
          </a:p>
        </p:txBody>
      </p:sp>
      <p:sp>
        <p:nvSpPr>
          <p:cNvPr id="23" name="Shape 21"/>
          <p:cNvSpPr/>
          <p:nvPr/>
        </p:nvSpPr>
        <p:spPr>
          <a:xfrm>
            <a:off x="14092555" y="5224939"/>
            <a:ext cx="171450" cy="171450"/>
          </a:xfrm>
          <a:prstGeom prst="roundRect">
            <a:avLst>
              <a:gd name="adj" fmla="val 22222"/>
            </a:avLst>
          </a:prstGeom>
          <a:solidFill>
            <a:srgbClr val="6FA3E8"/>
          </a:solidFill>
          <a:ln/>
        </p:spPr>
      </p:sp>
      <p:sp>
        <p:nvSpPr>
          <p:cNvPr id="24" name="Text 22"/>
          <p:cNvSpPr/>
          <p:nvPr/>
        </p:nvSpPr>
        <p:spPr>
          <a:xfrm>
            <a:off x="14359255" y="5179695"/>
            <a:ext cx="1042035" cy="300038"/>
          </a:xfrm>
          <a:prstGeom prst="rect">
            <a:avLst/>
          </a:prstGeom>
          <a:noFill/>
          <a:ln/>
        </p:spPr>
        <p:txBody>
          <a:bodyPr wrap="square" lIns="0" tIns="0" rIns="0" bIns="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Predicted</a:t>
            </a:r>
            <a:endParaRPr lang="en-US" sz="1800" dirty="0"/>
          </a:p>
        </p:txBody>
      </p:sp>
      <p:sp>
        <p:nvSpPr>
          <p:cNvPr id="25" name="Shape 23"/>
          <p:cNvSpPr/>
          <p:nvPr/>
        </p:nvSpPr>
        <p:spPr>
          <a:xfrm>
            <a:off x="15553690" y="5224939"/>
            <a:ext cx="171450" cy="171450"/>
          </a:xfrm>
          <a:prstGeom prst="roundRect">
            <a:avLst>
              <a:gd name="adj" fmla="val 22222"/>
            </a:avLst>
          </a:prstGeom>
          <a:solidFill>
            <a:srgbClr val="E63946"/>
          </a:solidFill>
          <a:ln/>
        </p:spPr>
      </p:sp>
      <p:sp>
        <p:nvSpPr>
          <p:cNvPr id="26" name="Text 24"/>
          <p:cNvSpPr/>
          <p:nvPr/>
        </p:nvSpPr>
        <p:spPr>
          <a:xfrm>
            <a:off x="15820390" y="5179695"/>
            <a:ext cx="1067435" cy="300038"/>
          </a:xfrm>
          <a:prstGeom prst="rect">
            <a:avLst/>
          </a:prstGeom>
          <a:noFill/>
          <a:ln/>
        </p:spPr>
        <p:txBody>
          <a:bodyPr wrap="square" lIns="0" tIns="0" rIns="0" bIns="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Observed</a:t>
            </a:r>
            <a:endParaRPr lang="en-US" sz="1800" dirty="0"/>
          </a:p>
        </p:txBody>
      </p:sp>
      <p:sp>
        <p:nvSpPr>
          <p:cNvPr id="27" name="Shape 25"/>
          <p:cNvSpPr/>
          <p:nvPr/>
        </p:nvSpPr>
        <p:spPr>
          <a:xfrm>
            <a:off x="1476375" y="8422482"/>
            <a:ext cx="15335250" cy="9525"/>
          </a:xfrm>
          <a:prstGeom prst="rect">
            <a:avLst/>
          </a:prstGeom>
          <a:solidFill>
            <a:srgbClr val="F5F7FA">
              <a:alpha val="30000"/>
            </a:srgbClr>
          </a:solidFill>
          <a:ln/>
        </p:spPr>
      </p:sp>
      <p:sp>
        <p:nvSpPr>
          <p:cNvPr id="28" name="Text 26"/>
          <p:cNvSpPr/>
          <p:nvPr/>
        </p:nvSpPr>
        <p:spPr>
          <a:xfrm>
            <a:off x="2033111" y="626633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23.5%</a:t>
            </a:r>
            <a:endParaRPr lang="en-US" sz="1650" dirty="0"/>
          </a:p>
        </p:txBody>
      </p:sp>
      <p:sp>
        <p:nvSpPr>
          <p:cNvPr id="29" name="Shape 27"/>
          <p:cNvSpPr/>
          <p:nvPr/>
        </p:nvSpPr>
        <p:spPr>
          <a:xfrm>
            <a:off x="2053907" y="6631781"/>
            <a:ext cx="552450" cy="1790700"/>
          </a:xfrm>
          <a:custGeom>
            <a:avLst/>
            <a:gdLst/>
            <a:ahLst/>
            <a:cxnLst/>
            <a:rect l="l" t="t" r="r" b="b"/>
            <a:pathLst>
              <a:path w="552450" h="1790700">
                <a:moveTo>
                  <a:pt x="76200" y="0"/>
                </a:moveTo>
                <a:lnTo>
                  <a:pt x="476250" y="0"/>
                </a:lnTo>
                <a:arcTo hR="76200" wR="76200" stAng="16200000" swAng="5400000"/>
                <a:lnTo>
                  <a:pt x="552450" y="1790700"/>
                </a:lnTo>
                <a:lnTo>
                  <a:pt x="0" y="1790700"/>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30" name="Text 28"/>
          <p:cNvSpPr/>
          <p:nvPr/>
        </p:nvSpPr>
        <p:spPr>
          <a:xfrm>
            <a:off x="2722562" y="617108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24.8%</a:t>
            </a:r>
            <a:endParaRPr lang="en-US" sz="1650" dirty="0"/>
          </a:p>
        </p:txBody>
      </p:sp>
      <p:sp>
        <p:nvSpPr>
          <p:cNvPr id="31" name="Shape 29"/>
          <p:cNvSpPr/>
          <p:nvPr/>
        </p:nvSpPr>
        <p:spPr>
          <a:xfrm>
            <a:off x="2743359" y="6536531"/>
            <a:ext cx="552450" cy="1885950"/>
          </a:xfrm>
          <a:custGeom>
            <a:avLst/>
            <a:gdLst/>
            <a:ahLst/>
            <a:cxnLst/>
            <a:rect l="l" t="t" r="r" b="b"/>
            <a:pathLst>
              <a:path w="552450" h="1885950">
                <a:moveTo>
                  <a:pt x="76200" y="0"/>
                </a:moveTo>
                <a:lnTo>
                  <a:pt x="476250" y="0"/>
                </a:lnTo>
                <a:arcTo hR="76200" wR="76200" stAng="16200000" swAng="5400000"/>
                <a:lnTo>
                  <a:pt x="552450" y="1885950"/>
                </a:lnTo>
                <a:lnTo>
                  <a:pt x="0" y="1885950"/>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sp>
        <p:nvSpPr>
          <p:cNvPr id="32" name="Text 30"/>
          <p:cNvSpPr/>
          <p:nvPr/>
        </p:nvSpPr>
        <p:spPr>
          <a:xfrm>
            <a:off x="4620736" y="681878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16.3%</a:t>
            </a:r>
            <a:endParaRPr lang="en-US" sz="1650" dirty="0"/>
          </a:p>
        </p:txBody>
      </p:sp>
      <p:sp>
        <p:nvSpPr>
          <p:cNvPr id="33" name="Shape 31"/>
          <p:cNvSpPr/>
          <p:nvPr/>
        </p:nvSpPr>
        <p:spPr>
          <a:xfrm>
            <a:off x="4641532" y="7184231"/>
            <a:ext cx="552450" cy="1238250"/>
          </a:xfrm>
          <a:custGeom>
            <a:avLst/>
            <a:gdLst/>
            <a:ahLst/>
            <a:cxnLst/>
            <a:rect l="l" t="t" r="r" b="b"/>
            <a:pathLst>
              <a:path w="552450" h="1238250">
                <a:moveTo>
                  <a:pt x="76200" y="0"/>
                </a:moveTo>
                <a:lnTo>
                  <a:pt x="476250" y="0"/>
                </a:lnTo>
                <a:arcTo hR="76200" wR="76200" stAng="16200000" swAng="5400000"/>
                <a:lnTo>
                  <a:pt x="552450" y="1238250"/>
                </a:lnTo>
                <a:lnTo>
                  <a:pt x="0" y="1238250"/>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34" name="Text 32"/>
          <p:cNvSpPr/>
          <p:nvPr/>
        </p:nvSpPr>
        <p:spPr>
          <a:xfrm>
            <a:off x="5310188" y="679973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16.5%</a:t>
            </a:r>
            <a:endParaRPr lang="en-US" sz="1650" dirty="0"/>
          </a:p>
        </p:txBody>
      </p:sp>
      <p:sp>
        <p:nvSpPr>
          <p:cNvPr id="35" name="Shape 33"/>
          <p:cNvSpPr/>
          <p:nvPr/>
        </p:nvSpPr>
        <p:spPr>
          <a:xfrm>
            <a:off x="5330984" y="7165181"/>
            <a:ext cx="552450" cy="1257300"/>
          </a:xfrm>
          <a:custGeom>
            <a:avLst/>
            <a:gdLst/>
            <a:ahLst/>
            <a:cxnLst/>
            <a:rect l="l" t="t" r="r" b="b"/>
            <a:pathLst>
              <a:path w="552450" h="1257300">
                <a:moveTo>
                  <a:pt x="76200" y="0"/>
                </a:moveTo>
                <a:lnTo>
                  <a:pt x="476250" y="0"/>
                </a:lnTo>
                <a:arcTo hR="76200" wR="76200" stAng="16200000" swAng="5400000"/>
                <a:lnTo>
                  <a:pt x="552450" y="1257300"/>
                </a:lnTo>
                <a:lnTo>
                  <a:pt x="0" y="1257300"/>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sp>
        <p:nvSpPr>
          <p:cNvPr id="36" name="Text 34"/>
          <p:cNvSpPr/>
          <p:nvPr/>
        </p:nvSpPr>
        <p:spPr>
          <a:xfrm>
            <a:off x="7216140" y="7190263"/>
            <a:ext cx="654844"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11.4%</a:t>
            </a:r>
            <a:endParaRPr lang="en-US" sz="1650" dirty="0"/>
          </a:p>
        </p:txBody>
      </p:sp>
      <p:sp>
        <p:nvSpPr>
          <p:cNvPr id="37" name="Shape 35"/>
          <p:cNvSpPr/>
          <p:nvPr/>
        </p:nvSpPr>
        <p:spPr>
          <a:xfrm>
            <a:off x="7229158" y="7555706"/>
            <a:ext cx="552450" cy="866775"/>
          </a:xfrm>
          <a:custGeom>
            <a:avLst/>
            <a:gdLst/>
            <a:ahLst/>
            <a:cxnLst/>
            <a:rect l="l" t="t" r="r" b="b"/>
            <a:pathLst>
              <a:path w="552450" h="866775">
                <a:moveTo>
                  <a:pt x="76200" y="0"/>
                </a:moveTo>
                <a:lnTo>
                  <a:pt x="476250" y="0"/>
                </a:lnTo>
                <a:arcTo hR="76200" wR="76200" stAng="16200000" swAng="5400000"/>
                <a:lnTo>
                  <a:pt x="552450" y="866775"/>
                </a:lnTo>
                <a:lnTo>
                  <a:pt x="0" y="866775"/>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38" name="Text 36"/>
          <p:cNvSpPr/>
          <p:nvPr/>
        </p:nvSpPr>
        <p:spPr>
          <a:xfrm>
            <a:off x="7890034" y="723788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10.8%</a:t>
            </a:r>
            <a:endParaRPr lang="en-US" sz="1650" dirty="0"/>
          </a:p>
        </p:txBody>
      </p:sp>
      <p:sp>
        <p:nvSpPr>
          <p:cNvPr id="39" name="Shape 37"/>
          <p:cNvSpPr/>
          <p:nvPr/>
        </p:nvSpPr>
        <p:spPr>
          <a:xfrm>
            <a:off x="7910830" y="7603331"/>
            <a:ext cx="552450" cy="819150"/>
          </a:xfrm>
          <a:custGeom>
            <a:avLst/>
            <a:gdLst/>
            <a:ahLst/>
            <a:cxnLst/>
            <a:rect l="l" t="t" r="r" b="b"/>
            <a:pathLst>
              <a:path w="552450" h="819150">
                <a:moveTo>
                  <a:pt x="76200" y="0"/>
                </a:moveTo>
                <a:lnTo>
                  <a:pt x="476250" y="0"/>
                </a:lnTo>
                <a:arcTo hR="76200" wR="76200" stAng="16200000" swAng="5400000"/>
                <a:lnTo>
                  <a:pt x="552450" y="819150"/>
                </a:lnTo>
                <a:lnTo>
                  <a:pt x="0" y="819150"/>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sp>
        <p:nvSpPr>
          <p:cNvPr id="40" name="Text 38"/>
          <p:cNvSpPr/>
          <p:nvPr/>
        </p:nvSpPr>
        <p:spPr>
          <a:xfrm>
            <a:off x="9795986" y="653303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20.0%</a:t>
            </a:r>
            <a:endParaRPr lang="en-US" sz="1650" dirty="0"/>
          </a:p>
        </p:txBody>
      </p:sp>
      <p:sp>
        <p:nvSpPr>
          <p:cNvPr id="41" name="Shape 39"/>
          <p:cNvSpPr/>
          <p:nvPr/>
        </p:nvSpPr>
        <p:spPr>
          <a:xfrm>
            <a:off x="9816782" y="6898481"/>
            <a:ext cx="552450" cy="1524000"/>
          </a:xfrm>
          <a:custGeom>
            <a:avLst/>
            <a:gdLst/>
            <a:ahLst/>
            <a:cxnLst/>
            <a:rect l="l" t="t" r="r" b="b"/>
            <a:pathLst>
              <a:path w="552450" h="1524000">
                <a:moveTo>
                  <a:pt x="76200" y="0"/>
                </a:moveTo>
                <a:lnTo>
                  <a:pt x="476250" y="0"/>
                </a:lnTo>
                <a:arcTo hR="76200" wR="76200" stAng="16200000" swAng="5400000"/>
                <a:lnTo>
                  <a:pt x="552450" y="1524000"/>
                </a:lnTo>
                <a:lnTo>
                  <a:pt x="0" y="1524000"/>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42" name="Text 40"/>
          <p:cNvSpPr/>
          <p:nvPr/>
        </p:nvSpPr>
        <p:spPr>
          <a:xfrm>
            <a:off x="10485438" y="647588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20.8%</a:t>
            </a:r>
            <a:endParaRPr lang="en-US" sz="1650" dirty="0"/>
          </a:p>
        </p:txBody>
      </p:sp>
      <p:sp>
        <p:nvSpPr>
          <p:cNvPr id="43" name="Shape 41"/>
          <p:cNvSpPr/>
          <p:nvPr/>
        </p:nvSpPr>
        <p:spPr>
          <a:xfrm>
            <a:off x="10506233" y="6841331"/>
            <a:ext cx="552450" cy="1581150"/>
          </a:xfrm>
          <a:custGeom>
            <a:avLst/>
            <a:gdLst/>
            <a:ahLst/>
            <a:cxnLst/>
            <a:rect l="l" t="t" r="r" b="b"/>
            <a:pathLst>
              <a:path w="552450" h="1581150">
                <a:moveTo>
                  <a:pt x="76200" y="0"/>
                </a:moveTo>
                <a:lnTo>
                  <a:pt x="476250" y="0"/>
                </a:lnTo>
                <a:arcTo hR="76200" wR="76200" stAng="16200000" swAng="5400000"/>
                <a:lnTo>
                  <a:pt x="552450" y="1581150"/>
                </a:lnTo>
                <a:lnTo>
                  <a:pt x="0" y="1581150"/>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sp>
        <p:nvSpPr>
          <p:cNvPr id="44" name="Text 42"/>
          <p:cNvSpPr/>
          <p:nvPr/>
        </p:nvSpPr>
        <p:spPr>
          <a:xfrm>
            <a:off x="12383612" y="6637813"/>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18.6%</a:t>
            </a:r>
            <a:endParaRPr lang="en-US" sz="1650" dirty="0"/>
          </a:p>
        </p:txBody>
      </p:sp>
      <p:sp>
        <p:nvSpPr>
          <p:cNvPr id="45" name="Shape 43"/>
          <p:cNvSpPr/>
          <p:nvPr/>
        </p:nvSpPr>
        <p:spPr>
          <a:xfrm>
            <a:off x="12404408" y="7003256"/>
            <a:ext cx="552450" cy="1419225"/>
          </a:xfrm>
          <a:custGeom>
            <a:avLst/>
            <a:gdLst/>
            <a:ahLst/>
            <a:cxnLst/>
            <a:rect l="l" t="t" r="r" b="b"/>
            <a:pathLst>
              <a:path w="552450" h="1419225">
                <a:moveTo>
                  <a:pt x="76200" y="0"/>
                </a:moveTo>
                <a:lnTo>
                  <a:pt x="476250" y="0"/>
                </a:lnTo>
                <a:arcTo hR="76200" wR="76200" stAng="16200000" swAng="5400000"/>
                <a:lnTo>
                  <a:pt x="552450" y="1419225"/>
                </a:lnTo>
                <a:lnTo>
                  <a:pt x="0" y="1419225"/>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46" name="Text 44"/>
          <p:cNvSpPr/>
          <p:nvPr/>
        </p:nvSpPr>
        <p:spPr>
          <a:xfrm>
            <a:off x="13073063" y="6571138"/>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19.5%</a:t>
            </a:r>
            <a:endParaRPr lang="en-US" sz="1650" dirty="0"/>
          </a:p>
        </p:txBody>
      </p:sp>
      <p:sp>
        <p:nvSpPr>
          <p:cNvPr id="47" name="Shape 45"/>
          <p:cNvSpPr/>
          <p:nvPr/>
        </p:nvSpPr>
        <p:spPr>
          <a:xfrm>
            <a:off x="13093859" y="6936581"/>
            <a:ext cx="552450" cy="1485900"/>
          </a:xfrm>
          <a:custGeom>
            <a:avLst/>
            <a:gdLst/>
            <a:ahLst/>
            <a:cxnLst/>
            <a:rect l="l" t="t" r="r" b="b"/>
            <a:pathLst>
              <a:path w="552450" h="1485900">
                <a:moveTo>
                  <a:pt x="76200" y="0"/>
                </a:moveTo>
                <a:lnTo>
                  <a:pt x="476250" y="0"/>
                </a:lnTo>
                <a:arcTo hR="76200" wR="76200" stAng="16200000" swAng="5400000"/>
                <a:lnTo>
                  <a:pt x="552450" y="1485900"/>
                </a:lnTo>
                <a:lnTo>
                  <a:pt x="0" y="1485900"/>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sp>
        <p:nvSpPr>
          <p:cNvPr id="48" name="Text 46"/>
          <p:cNvSpPr/>
          <p:nvPr/>
        </p:nvSpPr>
        <p:spPr>
          <a:xfrm>
            <a:off x="14971236" y="6180613"/>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6FA3E8"/>
                </a:solidFill>
                <a:latin typeface="Arial" pitchFamily="34" charset="0"/>
                <a:ea typeface="Arial" pitchFamily="34" charset="-122"/>
                <a:cs typeface="Arial" pitchFamily="34" charset="-120"/>
              </a:rPr>
              <a:t>24.6%</a:t>
            </a:r>
            <a:endParaRPr lang="en-US" sz="1650" dirty="0"/>
          </a:p>
        </p:txBody>
      </p:sp>
      <p:sp>
        <p:nvSpPr>
          <p:cNvPr id="49" name="Shape 47"/>
          <p:cNvSpPr/>
          <p:nvPr/>
        </p:nvSpPr>
        <p:spPr>
          <a:xfrm>
            <a:off x="14992033" y="6546056"/>
            <a:ext cx="552450" cy="1876425"/>
          </a:xfrm>
          <a:custGeom>
            <a:avLst/>
            <a:gdLst/>
            <a:ahLst/>
            <a:cxnLst/>
            <a:rect l="l" t="t" r="r" b="b"/>
            <a:pathLst>
              <a:path w="552450" h="1876425">
                <a:moveTo>
                  <a:pt x="76200" y="0"/>
                </a:moveTo>
                <a:lnTo>
                  <a:pt x="476250" y="0"/>
                </a:lnTo>
                <a:arcTo hR="76200" wR="76200" stAng="16200000" swAng="5400000"/>
                <a:lnTo>
                  <a:pt x="552450" y="1876425"/>
                </a:lnTo>
                <a:lnTo>
                  <a:pt x="0" y="1876425"/>
                </a:lnTo>
                <a:lnTo>
                  <a:pt x="0" y="76200"/>
                </a:lnTo>
                <a:arcTo hR="76200" wR="76200" stAng="10800000" swAng="5400000"/>
                <a:close/>
              </a:path>
            </a:pathLst>
          </a:custGeom>
          <a:gradFill rotWithShape="1">
            <a:gsLst>
              <a:gs pos="0">
                <a:srgbClr val="6FA3E8">
                  <a:alpha val="100000"/>
                </a:srgbClr>
              </a:gs>
              <a:gs pos="100000">
                <a:srgbClr val="6FA3E8">
                  <a:alpha val="25000"/>
                </a:srgbClr>
              </a:gs>
            </a:gsLst>
            <a:lin ang="5400000" scaled="0"/>
          </a:gradFill>
          <a:ln/>
        </p:spPr>
      </p:sp>
      <p:sp>
        <p:nvSpPr>
          <p:cNvPr id="50" name="Text 48"/>
          <p:cNvSpPr/>
          <p:nvPr/>
        </p:nvSpPr>
        <p:spPr>
          <a:xfrm>
            <a:off x="15660687" y="6199663"/>
            <a:ext cx="670401" cy="327343"/>
          </a:xfrm>
          <a:prstGeom prst="rect">
            <a:avLst/>
          </a:prstGeom>
          <a:noFill/>
          <a:ln/>
        </p:spPr>
        <p:txBody>
          <a:bodyPr wrap="square" lIns="25400" tIns="25400" rIns="25400" bIns="25400" rtlCol="0" anchor="t">
            <a:normAutofit/>
          </a:bodyPr>
          <a:lstStyle/>
          <a:p>
            <a:pPr algn="l" indent="0" marL="0">
              <a:lnSpc>
                <a:spcPct val="118082"/>
              </a:lnSpc>
              <a:buNone/>
            </a:pPr>
            <a:r>
              <a:rPr lang="en-US" sz="1650" b="1" dirty="0">
                <a:solidFill>
                  <a:srgbClr val="FF6B76"/>
                </a:solidFill>
                <a:latin typeface="Arial" pitchFamily="34" charset="0"/>
                <a:ea typeface="Arial" pitchFamily="34" charset="-122"/>
                <a:cs typeface="Arial" pitchFamily="34" charset="-120"/>
              </a:rPr>
              <a:t>24.4%</a:t>
            </a:r>
            <a:endParaRPr lang="en-US" sz="1650" dirty="0"/>
          </a:p>
        </p:txBody>
      </p:sp>
      <p:sp>
        <p:nvSpPr>
          <p:cNvPr id="51" name="Shape 49"/>
          <p:cNvSpPr/>
          <p:nvPr/>
        </p:nvSpPr>
        <p:spPr>
          <a:xfrm>
            <a:off x="15681484" y="6565106"/>
            <a:ext cx="552450" cy="1857375"/>
          </a:xfrm>
          <a:custGeom>
            <a:avLst/>
            <a:gdLst/>
            <a:ahLst/>
            <a:cxnLst/>
            <a:rect l="l" t="t" r="r" b="b"/>
            <a:pathLst>
              <a:path w="552450" h="1857375">
                <a:moveTo>
                  <a:pt x="76200" y="0"/>
                </a:moveTo>
                <a:lnTo>
                  <a:pt x="476250" y="0"/>
                </a:lnTo>
                <a:arcTo hR="76200" wR="76200" stAng="16200000" swAng="5400000"/>
                <a:lnTo>
                  <a:pt x="552450" y="1857375"/>
                </a:lnTo>
                <a:lnTo>
                  <a:pt x="0" y="1857375"/>
                </a:lnTo>
                <a:lnTo>
                  <a:pt x="0" y="76200"/>
                </a:lnTo>
                <a:arcTo hR="76200" wR="76200" stAng="10800000" swAng="5400000"/>
                <a:close/>
              </a:path>
            </a:pathLst>
          </a:custGeom>
          <a:gradFill rotWithShape="1">
            <a:gsLst>
              <a:gs pos="0">
                <a:srgbClr val="E63946">
                  <a:alpha val="100000"/>
                </a:srgbClr>
              </a:gs>
              <a:gs pos="100000">
                <a:srgbClr val="E63946">
                  <a:alpha val="25000"/>
                </a:srgbClr>
              </a:gs>
            </a:gsLst>
            <a:lin ang="5400000" scaled="0"/>
          </a:gradFill>
          <a:ln/>
        </p:spPr>
      </p:sp>
      <p:pic>
        <p:nvPicPr>
          <p:cNvPr id="52" name="Image 0" descr="preencoded.png">    </p:cNvPr>
          <p:cNvPicPr>
            <a:picLocks noChangeAspect="1"/>
          </p:cNvPicPr>
          <p:nvPr/>
        </p:nvPicPr>
        <p:blipFill>
          <a:blip r:embed="rId2"/>
          <a:stretch>
            <a:fillRect/>
          </a:stretch>
        </p:blipFill>
        <p:spPr>
          <a:xfrm>
            <a:off x="2156301" y="8596947"/>
            <a:ext cx="304800" cy="304800"/>
          </a:xfrm>
          <a:prstGeom prst="rect">
            <a:avLst/>
          </a:prstGeom>
        </p:spPr>
      </p:pic>
      <p:sp>
        <p:nvSpPr>
          <p:cNvPr id="53" name="Text 50"/>
          <p:cNvSpPr/>
          <p:nvPr/>
        </p:nvSpPr>
        <p:spPr>
          <a:xfrm>
            <a:off x="2556351" y="8565356"/>
            <a:ext cx="713264"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Rural</a:t>
            </a:r>
            <a:endParaRPr lang="en-US" sz="2100" dirty="0"/>
          </a:p>
        </p:txBody>
      </p:sp>
      <p:pic>
        <p:nvPicPr>
          <p:cNvPr id="54" name="Image 1" descr="preencoded.png">    </p:cNvPr>
          <p:cNvPicPr>
            <a:picLocks noChangeAspect="1"/>
          </p:cNvPicPr>
          <p:nvPr/>
        </p:nvPicPr>
        <p:blipFill>
          <a:blip r:embed="rId3"/>
          <a:stretch>
            <a:fillRect/>
          </a:stretch>
        </p:blipFill>
        <p:spPr>
          <a:xfrm>
            <a:off x="4751229" y="8596947"/>
            <a:ext cx="304800" cy="304800"/>
          </a:xfrm>
          <a:prstGeom prst="rect">
            <a:avLst/>
          </a:prstGeom>
        </p:spPr>
      </p:pic>
      <p:sp>
        <p:nvSpPr>
          <p:cNvPr id="55" name="Text 51"/>
          <p:cNvSpPr/>
          <p:nvPr/>
        </p:nvSpPr>
        <p:spPr>
          <a:xfrm>
            <a:off x="5151279" y="8565356"/>
            <a:ext cx="698659"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Town</a:t>
            </a:r>
            <a:endParaRPr lang="en-US" sz="2100" dirty="0"/>
          </a:p>
        </p:txBody>
      </p:sp>
      <p:pic>
        <p:nvPicPr>
          <p:cNvPr id="56" name="Image 2" descr="preencoded.png">    </p:cNvPr>
          <p:cNvPicPr>
            <a:picLocks noChangeAspect="1"/>
          </p:cNvPicPr>
          <p:nvPr/>
        </p:nvPicPr>
        <p:blipFill>
          <a:blip r:embed="rId4"/>
          <a:stretch>
            <a:fillRect/>
          </a:stretch>
        </p:blipFill>
        <p:spPr>
          <a:xfrm>
            <a:off x="7420451" y="8596947"/>
            <a:ext cx="304800" cy="304800"/>
          </a:xfrm>
          <a:prstGeom prst="rect">
            <a:avLst/>
          </a:prstGeom>
        </p:spPr>
      </p:pic>
      <p:sp>
        <p:nvSpPr>
          <p:cNvPr id="57" name="Text 52"/>
          <p:cNvSpPr/>
          <p:nvPr/>
        </p:nvSpPr>
        <p:spPr>
          <a:xfrm>
            <a:off x="7820501" y="8565356"/>
            <a:ext cx="535464"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City</a:t>
            </a:r>
            <a:endParaRPr lang="en-US" sz="2100" dirty="0"/>
          </a:p>
        </p:txBody>
      </p:sp>
      <p:pic>
        <p:nvPicPr>
          <p:cNvPr id="58" name="Image 3" descr="preencoded.png">    </p:cNvPr>
          <p:cNvPicPr>
            <a:picLocks noChangeAspect="1"/>
          </p:cNvPicPr>
          <p:nvPr/>
        </p:nvPicPr>
        <p:blipFill>
          <a:blip r:embed="rId5"/>
          <a:stretch>
            <a:fillRect/>
          </a:stretch>
        </p:blipFill>
        <p:spPr>
          <a:xfrm>
            <a:off x="9926479" y="8596947"/>
            <a:ext cx="304800" cy="304800"/>
          </a:xfrm>
          <a:prstGeom prst="rect">
            <a:avLst/>
          </a:prstGeom>
        </p:spPr>
      </p:pic>
      <p:sp>
        <p:nvSpPr>
          <p:cNvPr id="59" name="Text 53"/>
          <p:cNvSpPr/>
          <p:nvPr/>
        </p:nvSpPr>
        <p:spPr>
          <a:xfrm>
            <a:off x="10326529" y="8565356"/>
            <a:ext cx="698659"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Night</a:t>
            </a:r>
            <a:endParaRPr lang="en-US" sz="2100" dirty="0"/>
          </a:p>
        </p:txBody>
      </p:sp>
      <p:pic>
        <p:nvPicPr>
          <p:cNvPr id="60" name="Image 4" descr="preencoded.png">    </p:cNvPr>
          <p:cNvPicPr>
            <a:picLocks noChangeAspect="1"/>
          </p:cNvPicPr>
          <p:nvPr/>
        </p:nvPicPr>
        <p:blipFill>
          <a:blip r:embed="rId6"/>
          <a:stretch>
            <a:fillRect/>
          </a:stretch>
        </p:blipFill>
        <p:spPr>
          <a:xfrm>
            <a:off x="12264549" y="8596947"/>
            <a:ext cx="304800" cy="304800"/>
          </a:xfrm>
          <a:prstGeom prst="rect">
            <a:avLst/>
          </a:prstGeom>
        </p:spPr>
      </p:pic>
      <p:sp>
        <p:nvSpPr>
          <p:cNvPr id="61" name="Text 54"/>
          <p:cNvSpPr/>
          <p:nvPr/>
        </p:nvSpPr>
        <p:spPr>
          <a:xfrm>
            <a:off x="12664599" y="8565356"/>
            <a:ext cx="1197769"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Weekend</a:t>
            </a:r>
            <a:endParaRPr lang="en-US" sz="2100" dirty="0"/>
          </a:p>
        </p:txBody>
      </p:sp>
      <p:pic>
        <p:nvPicPr>
          <p:cNvPr id="62" name="Image 5" descr="preencoded.png">    </p:cNvPr>
          <p:cNvPicPr>
            <a:picLocks noChangeAspect="1"/>
          </p:cNvPicPr>
          <p:nvPr/>
        </p:nvPicPr>
        <p:blipFill>
          <a:blip r:embed="rId7"/>
          <a:stretch>
            <a:fillRect/>
          </a:stretch>
        </p:blipFill>
        <p:spPr>
          <a:xfrm>
            <a:off x="14768513" y="8596947"/>
            <a:ext cx="304800" cy="304800"/>
          </a:xfrm>
          <a:prstGeom prst="rect">
            <a:avLst/>
          </a:prstGeom>
        </p:spPr>
      </p:pic>
      <p:sp>
        <p:nvSpPr>
          <p:cNvPr id="63" name="Text 55"/>
          <p:cNvSpPr/>
          <p:nvPr/>
        </p:nvSpPr>
        <p:spPr>
          <a:xfrm>
            <a:off x="15168563" y="8565356"/>
            <a:ext cx="1417955"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Motorcycle</a:t>
            </a:r>
            <a:endParaRPr lang="en-US" sz="2100" dirty="0"/>
          </a:p>
        </p:txBody>
      </p:sp>
      <p:sp>
        <p:nvSpPr>
          <p:cNvPr id="64" name="Text 56"/>
          <p:cNvSpPr/>
          <p:nvPr/>
        </p:nvSpPr>
        <p:spPr>
          <a:xfrm>
            <a:off x="1476375" y="9066688"/>
            <a:ext cx="168687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set, 40,915 accidents.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793261"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The model finds most severe accidents in the countryside but few in cities</a:t>
            </a:r>
            <a:endParaRPr lang="en-US" sz="4200" dirty="0"/>
          </a:p>
        </p:txBody>
      </p:sp>
      <p:sp>
        <p:nvSpPr>
          <p:cNvPr id="4" name="Text 2"/>
          <p:cNvSpPr/>
          <p:nvPr/>
        </p:nvSpPr>
        <p:spPr>
          <a:xfrm>
            <a:off x="15010765" y="915670"/>
            <a:ext cx="1010285"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6FA3E8"/>
                </a:solidFill>
                <a:latin typeface="Arial" pitchFamily="34" charset="0"/>
                <a:ea typeface="Arial" pitchFamily="34" charset="-122"/>
                <a:cs typeface="Arial" pitchFamily="34" charset="-120"/>
              </a:rPr>
              <a:t>MODEL</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solidFill>
          <a:ln/>
          <a:effectLst>
            <a:outerShdw sx="100000" sy="100000" kx="0" ky="0" algn="bl" rotWithShape="0" blurRad="114300" dist="50800" dir="16200000">
              <a:srgbClr val="6FA3E8">
                <a:alpha val="100000"/>
              </a:srgbClr>
            </a:outerShdw>
          </a:effectLst>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10391775" cy="6831330"/>
          </a:xfrm>
          <a:prstGeom prst="roundRect">
            <a:avLst>
              <a:gd name="adj" fmla="val 3067"/>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476375" y="3084195"/>
            <a:ext cx="10487978"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SEVERE ACCIDENTS FOUND, OUT OF 100</a:t>
            </a:r>
            <a:endParaRPr lang="en-US" sz="1650" dirty="0"/>
          </a:p>
        </p:txBody>
      </p:sp>
      <p:pic>
        <p:nvPicPr>
          <p:cNvPr id="13" name="Image 0" descr="preencoded.png">    </p:cNvPr>
          <p:cNvPicPr>
            <a:picLocks noChangeAspect="1"/>
          </p:cNvPicPr>
          <p:nvPr/>
        </p:nvPicPr>
        <p:blipFill>
          <a:blip r:embed="rId2"/>
          <a:stretch>
            <a:fillRect/>
          </a:stretch>
        </p:blipFill>
        <p:spPr>
          <a:xfrm>
            <a:off x="1476375" y="3513296"/>
            <a:ext cx="400050" cy="400050"/>
          </a:xfrm>
          <a:prstGeom prst="rect">
            <a:avLst/>
          </a:prstGeom>
        </p:spPr>
      </p:pic>
      <p:sp>
        <p:nvSpPr>
          <p:cNvPr id="14" name="Text 11"/>
          <p:cNvSpPr/>
          <p:nvPr/>
        </p:nvSpPr>
        <p:spPr>
          <a:xfrm>
            <a:off x="2028825" y="3489960"/>
            <a:ext cx="312858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Motorcycle involved</a:t>
            </a:r>
            <a:endParaRPr lang="en-US" sz="2550" dirty="0"/>
          </a:p>
        </p:txBody>
      </p:sp>
      <p:sp>
        <p:nvSpPr>
          <p:cNvPr id="15" name="Shape 12"/>
          <p:cNvSpPr/>
          <p:nvPr/>
        </p:nvSpPr>
        <p:spPr>
          <a:xfrm>
            <a:off x="5419725" y="3503771"/>
            <a:ext cx="4305300" cy="419100"/>
          </a:xfrm>
          <a:custGeom>
            <a:avLst/>
            <a:gdLst/>
            <a:ahLst/>
            <a:cxnLst/>
            <a:rect l="l" t="t" r="r" b="b"/>
            <a:pathLst>
              <a:path w="4305300" h="419100">
                <a:moveTo>
                  <a:pt x="0" y="0"/>
                </a:moveTo>
                <a:lnTo>
                  <a:pt x="4210050" y="0"/>
                </a:lnTo>
                <a:arcTo hR="95250" wR="95250" stAng="16200000" swAng="5400000"/>
                <a:lnTo>
                  <a:pt x="4305300"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16" name="Text 13"/>
          <p:cNvSpPr/>
          <p:nvPr/>
        </p:nvSpPr>
        <p:spPr>
          <a:xfrm>
            <a:off x="9896475" y="3524567"/>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87</a:t>
            </a:r>
            <a:endParaRPr lang="en-US" sz="2550" dirty="0"/>
          </a:p>
        </p:txBody>
      </p:sp>
      <p:pic>
        <p:nvPicPr>
          <p:cNvPr id="17" name="Image 1" descr="preencoded.png">    </p:cNvPr>
          <p:cNvPicPr>
            <a:picLocks noChangeAspect="1"/>
          </p:cNvPicPr>
          <p:nvPr/>
        </p:nvPicPr>
        <p:blipFill>
          <a:blip r:embed="rId3"/>
          <a:stretch>
            <a:fillRect/>
          </a:stretch>
        </p:blipFill>
        <p:spPr>
          <a:xfrm>
            <a:off x="1476375" y="4093527"/>
            <a:ext cx="400050" cy="400050"/>
          </a:xfrm>
          <a:prstGeom prst="rect">
            <a:avLst/>
          </a:prstGeom>
        </p:spPr>
      </p:pic>
      <p:sp>
        <p:nvSpPr>
          <p:cNvPr id="18" name="Text 14"/>
          <p:cNvSpPr/>
          <p:nvPr/>
        </p:nvSpPr>
        <p:spPr>
          <a:xfrm>
            <a:off x="2028825" y="4070191"/>
            <a:ext cx="85010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Rural</a:t>
            </a:r>
            <a:endParaRPr lang="en-US" sz="2550" dirty="0"/>
          </a:p>
        </p:txBody>
      </p:sp>
      <p:sp>
        <p:nvSpPr>
          <p:cNvPr id="19" name="Shape 15"/>
          <p:cNvSpPr/>
          <p:nvPr/>
        </p:nvSpPr>
        <p:spPr>
          <a:xfrm>
            <a:off x="5419725" y="4084002"/>
            <a:ext cx="4257675" cy="419100"/>
          </a:xfrm>
          <a:custGeom>
            <a:avLst/>
            <a:gdLst/>
            <a:ahLst/>
            <a:cxnLst/>
            <a:rect l="l" t="t" r="r" b="b"/>
            <a:pathLst>
              <a:path w="4257675" h="419100">
                <a:moveTo>
                  <a:pt x="0" y="0"/>
                </a:moveTo>
                <a:lnTo>
                  <a:pt x="4162425" y="0"/>
                </a:lnTo>
                <a:arcTo hR="95250" wR="95250" stAng="16200000" swAng="5400000"/>
                <a:lnTo>
                  <a:pt x="4257675"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20" name="Text 16"/>
          <p:cNvSpPr/>
          <p:nvPr/>
        </p:nvSpPr>
        <p:spPr>
          <a:xfrm>
            <a:off x="9848850" y="4104799"/>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86</a:t>
            </a:r>
            <a:endParaRPr lang="en-US" sz="2550" dirty="0"/>
          </a:p>
        </p:txBody>
      </p:sp>
      <p:pic>
        <p:nvPicPr>
          <p:cNvPr id="21" name="Image 2" descr="preencoded.png">    </p:cNvPr>
          <p:cNvPicPr>
            <a:picLocks noChangeAspect="1"/>
          </p:cNvPicPr>
          <p:nvPr/>
        </p:nvPicPr>
        <p:blipFill>
          <a:blip r:embed="rId4"/>
          <a:stretch>
            <a:fillRect/>
          </a:stretch>
        </p:blipFill>
        <p:spPr>
          <a:xfrm>
            <a:off x="1476375" y="4673759"/>
            <a:ext cx="400050" cy="400050"/>
          </a:xfrm>
          <a:prstGeom prst="rect">
            <a:avLst/>
          </a:prstGeom>
        </p:spPr>
      </p:pic>
      <p:sp>
        <p:nvSpPr>
          <p:cNvPr id="22" name="Text 17"/>
          <p:cNvSpPr/>
          <p:nvPr/>
        </p:nvSpPr>
        <p:spPr>
          <a:xfrm>
            <a:off x="2028825" y="4650423"/>
            <a:ext cx="310972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Pedestrian involved</a:t>
            </a:r>
            <a:endParaRPr lang="en-US" sz="2550" dirty="0"/>
          </a:p>
        </p:txBody>
      </p:sp>
      <p:sp>
        <p:nvSpPr>
          <p:cNvPr id="23" name="Shape 18"/>
          <p:cNvSpPr/>
          <p:nvPr/>
        </p:nvSpPr>
        <p:spPr>
          <a:xfrm>
            <a:off x="5419725" y="4664234"/>
            <a:ext cx="3810000" cy="419100"/>
          </a:xfrm>
          <a:custGeom>
            <a:avLst/>
            <a:gdLst/>
            <a:ahLst/>
            <a:cxnLst/>
            <a:rect l="l" t="t" r="r" b="b"/>
            <a:pathLst>
              <a:path w="3810000" h="419100">
                <a:moveTo>
                  <a:pt x="0" y="0"/>
                </a:moveTo>
                <a:lnTo>
                  <a:pt x="3714750" y="0"/>
                </a:lnTo>
                <a:arcTo hR="95250" wR="95250" stAng="16200000" swAng="5400000"/>
                <a:lnTo>
                  <a:pt x="3810000"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24" name="Text 19"/>
          <p:cNvSpPr/>
          <p:nvPr/>
        </p:nvSpPr>
        <p:spPr>
          <a:xfrm>
            <a:off x="9401175" y="4685030"/>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77</a:t>
            </a:r>
            <a:endParaRPr lang="en-US" sz="2550" dirty="0"/>
          </a:p>
        </p:txBody>
      </p:sp>
      <p:pic>
        <p:nvPicPr>
          <p:cNvPr id="25" name="Image 3" descr="preencoded.png">    </p:cNvPr>
          <p:cNvPicPr>
            <a:picLocks noChangeAspect="1"/>
          </p:cNvPicPr>
          <p:nvPr/>
        </p:nvPicPr>
        <p:blipFill>
          <a:blip r:embed="rId5"/>
          <a:stretch>
            <a:fillRect/>
          </a:stretch>
        </p:blipFill>
        <p:spPr>
          <a:xfrm>
            <a:off x="1476375" y="5253990"/>
            <a:ext cx="400050" cy="400050"/>
          </a:xfrm>
          <a:prstGeom prst="rect">
            <a:avLst/>
          </a:prstGeom>
        </p:spPr>
      </p:pic>
      <p:sp>
        <p:nvSpPr>
          <p:cNvPr id="26" name="Text 20"/>
          <p:cNvSpPr/>
          <p:nvPr/>
        </p:nvSpPr>
        <p:spPr>
          <a:xfrm>
            <a:off x="2028825" y="5230654"/>
            <a:ext cx="83232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Night</a:t>
            </a:r>
            <a:endParaRPr lang="en-US" sz="2550" dirty="0"/>
          </a:p>
        </p:txBody>
      </p:sp>
      <p:sp>
        <p:nvSpPr>
          <p:cNvPr id="27" name="Shape 21"/>
          <p:cNvSpPr/>
          <p:nvPr/>
        </p:nvSpPr>
        <p:spPr>
          <a:xfrm>
            <a:off x="5419725" y="5244465"/>
            <a:ext cx="3714750" cy="419100"/>
          </a:xfrm>
          <a:custGeom>
            <a:avLst/>
            <a:gdLst/>
            <a:ahLst/>
            <a:cxnLst/>
            <a:rect l="l" t="t" r="r" b="b"/>
            <a:pathLst>
              <a:path w="3714750" h="419100">
                <a:moveTo>
                  <a:pt x="0" y="0"/>
                </a:moveTo>
                <a:lnTo>
                  <a:pt x="3619500" y="0"/>
                </a:lnTo>
                <a:arcTo hR="95250" wR="95250" stAng="16200000" swAng="5400000"/>
                <a:lnTo>
                  <a:pt x="3714750"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28" name="Text 22"/>
          <p:cNvSpPr/>
          <p:nvPr/>
        </p:nvSpPr>
        <p:spPr>
          <a:xfrm>
            <a:off x="9305925" y="5265261"/>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75</a:t>
            </a:r>
            <a:endParaRPr lang="en-US" sz="2550" dirty="0"/>
          </a:p>
        </p:txBody>
      </p:sp>
      <p:pic>
        <p:nvPicPr>
          <p:cNvPr id="29" name="Image 4" descr="preencoded.png">    </p:cNvPr>
          <p:cNvPicPr>
            <a:picLocks noChangeAspect="1"/>
          </p:cNvPicPr>
          <p:nvPr/>
        </p:nvPicPr>
        <p:blipFill>
          <a:blip r:embed="rId6"/>
          <a:stretch>
            <a:fillRect/>
          </a:stretch>
        </p:blipFill>
        <p:spPr>
          <a:xfrm>
            <a:off x="1476375" y="5834221"/>
            <a:ext cx="400050" cy="400050"/>
          </a:xfrm>
          <a:prstGeom prst="rect">
            <a:avLst/>
          </a:prstGeom>
        </p:spPr>
      </p:pic>
      <p:sp>
        <p:nvSpPr>
          <p:cNvPr id="30" name="Text 23"/>
          <p:cNvSpPr/>
          <p:nvPr/>
        </p:nvSpPr>
        <p:spPr>
          <a:xfrm>
            <a:off x="2028825" y="5810885"/>
            <a:ext cx="149898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Weekend</a:t>
            </a:r>
            <a:endParaRPr lang="en-US" sz="2550" dirty="0"/>
          </a:p>
        </p:txBody>
      </p:sp>
      <p:sp>
        <p:nvSpPr>
          <p:cNvPr id="31" name="Shape 24"/>
          <p:cNvSpPr/>
          <p:nvPr/>
        </p:nvSpPr>
        <p:spPr>
          <a:xfrm>
            <a:off x="5419725" y="5824696"/>
            <a:ext cx="3562350" cy="419100"/>
          </a:xfrm>
          <a:custGeom>
            <a:avLst/>
            <a:gdLst/>
            <a:ahLst/>
            <a:cxnLst/>
            <a:rect l="l" t="t" r="r" b="b"/>
            <a:pathLst>
              <a:path w="3562350" h="419100">
                <a:moveTo>
                  <a:pt x="0" y="0"/>
                </a:moveTo>
                <a:lnTo>
                  <a:pt x="3467100" y="0"/>
                </a:lnTo>
                <a:arcTo hR="95250" wR="95250" stAng="16200000" swAng="5400000"/>
                <a:lnTo>
                  <a:pt x="3562350"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32" name="Text 25"/>
          <p:cNvSpPr/>
          <p:nvPr/>
        </p:nvSpPr>
        <p:spPr>
          <a:xfrm>
            <a:off x="9153525" y="5845493"/>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72</a:t>
            </a:r>
            <a:endParaRPr lang="en-US" sz="2550" dirty="0"/>
          </a:p>
        </p:txBody>
      </p:sp>
      <p:pic>
        <p:nvPicPr>
          <p:cNvPr id="33" name="Image 5" descr="preencoded.png">    </p:cNvPr>
          <p:cNvPicPr>
            <a:picLocks noChangeAspect="1"/>
          </p:cNvPicPr>
          <p:nvPr/>
        </p:nvPicPr>
        <p:blipFill>
          <a:blip r:embed="rId7"/>
          <a:stretch>
            <a:fillRect/>
          </a:stretch>
        </p:blipFill>
        <p:spPr>
          <a:xfrm>
            <a:off x="1476375" y="6414453"/>
            <a:ext cx="400050" cy="400050"/>
          </a:xfrm>
          <a:prstGeom prst="rect">
            <a:avLst/>
          </a:prstGeom>
        </p:spPr>
      </p:pic>
      <p:sp>
        <p:nvSpPr>
          <p:cNvPr id="34" name="Text 26"/>
          <p:cNvSpPr/>
          <p:nvPr/>
        </p:nvSpPr>
        <p:spPr>
          <a:xfrm>
            <a:off x="2028825" y="6391116"/>
            <a:ext cx="832326"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Town</a:t>
            </a:r>
            <a:endParaRPr lang="en-US" sz="2550" dirty="0"/>
          </a:p>
        </p:txBody>
      </p:sp>
      <p:sp>
        <p:nvSpPr>
          <p:cNvPr id="35" name="Shape 27"/>
          <p:cNvSpPr/>
          <p:nvPr/>
        </p:nvSpPr>
        <p:spPr>
          <a:xfrm>
            <a:off x="5419725" y="6404928"/>
            <a:ext cx="2876550" cy="419100"/>
          </a:xfrm>
          <a:custGeom>
            <a:avLst/>
            <a:gdLst/>
            <a:ahLst/>
            <a:cxnLst/>
            <a:rect l="l" t="t" r="r" b="b"/>
            <a:pathLst>
              <a:path w="2876550" h="419100">
                <a:moveTo>
                  <a:pt x="0" y="0"/>
                </a:moveTo>
                <a:lnTo>
                  <a:pt x="2781300" y="0"/>
                </a:lnTo>
                <a:arcTo hR="95250" wR="95250" stAng="16200000" swAng="5400000"/>
                <a:lnTo>
                  <a:pt x="2876550" y="323850"/>
                </a:lnTo>
                <a:arcTo hR="95250" wR="95250" stAng="0" swAng="5400000"/>
                <a:lnTo>
                  <a:pt x="0" y="419100"/>
                </a:lnTo>
                <a:lnTo>
                  <a:pt x="0" y="0"/>
                </a:lnTo>
                <a:close/>
              </a:path>
            </a:pathLst>
          </a:custGeom>
          <a:gradFill rotWithShape="1">
            <a:gsLst>
              <a:gs pos="0">
                <a:srgbClr val="6FA3E8">
                  <a:alpha val="45000"/>
                </a:srgbClr>
              </a:gs>
              <a:gs pos="100000">
                <a:srgbClr val="6FA3E8">
                  <a:alpha val="100000"/>
                </a:srgbClr>
              </a:gs>
            </a:gsLst>
            <a:lin ang="0" scaled="0"/>
          </a:gradFill>
          <a:ln/>
          <a:effectLst>
            <a:outerShdw sx="100000" sy="100000" kx="0" ky="0" algn="bl" rotWithShape="0" blurRad="247650" dist="50800" dir="16200000">
              <a:srgbClr val="6FA3E8">
                <a:alpha val="60000"/>
              </a:srgbClr>
            </a:outerShdw>
          </a:effectLst>
        </p:spPr>
      </p:sp>
      <p:sp>
        <p:nvSpPr>
          <p:cNvPr id="36" name="Text 28"/>
          <p:cNvSpPr/>
          <p:nvPr/>
        </p:nvSpPr>
        <p:spPr>
          <a:xfrm>
            <a:off x="8467725" y="6425724"/>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58</a:t>
            </a:r>
            <a:endParaRPr lang="en-US" sz="2550" dirty="0"/>
          </a:p>
        </p:txBody>
      </p:sp>
      <p:sp>
        <p:nvSpPr>
          <p:cNvPr id="37" name="Shape 29"/>
          <p:cNvSpPr/>
          <p:nvPr/>
        </p:nvSpPr>
        <p:spPr>
          <a:xfrm>
            <a:off x="1476375" y="7085648"/>
            <a:ext cx="9534525" cy="9525"/>
          </a:xfrm>
          <a:prstGeom prst="rect">
            <a:avLst/>
          </a:prstGeom>
          <a:solidFill>
            <a:srgbClr val="FFFFFF">
              <a:alpha val="8000"/>
            </a:srgbClr>
          </a:solidFill>
          <a:ln/>
        </p:spPr>
      </p:sp>
      <p:pic>
        <p:nvPicPr>
          <p:cNvPr id="38" name="Image 6" descr="preencoded.png">    </p:cNvPr>
          <p:cNvPicPr>
            <a:picLocks noChangeAspect="1"/>
          </p:cNvPicPr>
          <p:nvPr/>
        </p:nvPicPr>
        <p:blipFill>
          <a:blip r:embed="rId8"/>
          <a:stretch>
            <a:fillRect/>
          </a:stretch>
        </p:blipFill>
        <p:spPr>
          <a:xfrm>
            <a:off x="1476375" y="7309009"/>
            <a:ext cx="400050" cy="400050"/>
          </a:xfrm>
          <a:prstGeom prst="rect">
            <a:avLst/>
          </a:prstGeom>
        </p:spPr>
      </p:pic>
      <p:sp>
        <p:nvSpPr>
          <p:cNvPr id="39" name="Text 30"/>
          <p:cNvSpPr/>
          <p:nvPr/>
        </p:nvSpPr>
        <p:spPr>
          <a:xfrm>
            <a:off x="2028825" y="7285673"/>
            <a:ext cx="63388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City</a:t>
            </a:r>
            <a:endParaRPr lang="en-US" sz="2550" dirty="0"/>
          </a:p>
        </p:txBody>
      </p:sp>
      <p:sp>
        <p:nvSpPr>
          <p:cNvPr id="40" name="Shape 31"/>
          <p:cNvSpPr/>
          <p:nvPr/>
        </p:nvSpPr>
        <p:spPr>
          <a:xfrm>
            <a:off x="5419725" y="7299484"/>
            <a:ext cx="1685925" cy="419100"/>
          </a:xfrm>
          <a:custGeom>
            <a:avLst/>
            <a:gdLst/>
            <a:ahLst/>
            <a:cxnLst/>
            <a:rect l="l" t="t" r="r" b="b"/>
            <a:pathLst>
              <a:path w="1685925" h="419100">
                <a:moveTo>
                  <a:pt x="0" y="0"/>
                </a:moveTo>
                <a:lnTo>
                  <a:pt x="1590675" y="0"/>
                </a:lnTo>
                <a:arcTo hR="95250" wR="95250" stAng="16200000" swAng="5400000"/>
                <a:lnTo>
                  <a:pt x="1685925" y="323850"/>
                </a:lnTo>
                <a:arcTo hR="95250" wR="95250" stAng="0" swAng="5400000"/>
                <a:lnTo>
                  <a:pt x="0" y="419100"/>
                </a:lnTo>
                <a:lnTo>
                  <a:pt x="0" y="0"/>
                </a:lnTo>
                <a:close/>
              </a:path>
            </a:pathLst>
          </a:custGeom>
          <a:gradFill rotWithShape="1">
            <a:gsLst>
              <a:gs pos="0">
                <a:srgbClr val="FFBE0B">
                  <a:alpha val="45000"/>
                </a:srgbClr>
              </a:gs>
              <a:gs pos="100000">
                <a:srgbClr val="FFBE0B">
                  <a:alpha val="100000"/>
                </a:srgbClr>
              </a:gs>
            </a:gsLst>
            <a:lin ang="0" scaled="0"/>
          </a:gradFill>
          <a:ln/>
          <a:effectLst>
            <a:outerShdw sx="100000" sy="100000" kx="0" ky="0" algn="bl" rotWithShape="0" blurRad="247650" dist="50800" dir="16200000">
              <a:srgbClr val="FFBE0B">
                <a:alpha val="60000"/>
              </a:srgbClr>
            </a:outerShdw>
          </a:effectLst>
        </p:spPr>
      </p:sp>
      <p:sp>
        <p:nvSpPr>
          <p:cNvPr id="41" name="Text 32"/>
          <p:cNvSpPr/>
          <p:nvPr/>
        </p:nvSpPr>
        <p:spPr>
          <a:xfrm>
            <a:off x="7277100" y="7320280"/>
            <a:ext cx="436562"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FBE0B"/>
                </a:solidFill>
                <a:latin typeface="Arial" pitchFamily="34" charset="0"/>
                <a:ea typeface="Arial" pitchFamily="34" charset="-122"/>
                <a:cs typeface="Arial" pitchFamily="34" charset="-120"/>
              </a:rPr>
              <a:t>34</a:t>
            </a:r>
            <a:endParaRPr lang="en-US" sz="2550" dirty="0"/>
          </a:p>
        </p:txBody>
      </p:sp>
      <p:sp>
        <p:nvSpPr>
          <p:cNvPr id="42" name="Text 33"/>
          <p:cNvSpPr/>
          <p:nvPr/>
        </p:nvSpPr>
        <p:spPr>
          <a:xfrm>
            <a:off x="1476375" y="9028588"/>
            <a:ext cx="10487978"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set, 40,915 accidents, one national threshold (0.167).</a:t>
            </a:r>
            <a:endParaRPr lang="en-US" sz="1800" dirty="0"/>
          </a:p>
        </p:txBody>
      </p:sp>
      <p:sp>
        <p:nvSpPr>
          <p:cNvPr id="43" name="Text 34"/>
          <p:cNvSpPr/>
          <p:nvPr/>
        </p:nvSpPr>
        <p:spPr>
          <a:xfrm>
            <a:off x="12106275" y="4236085"/>
            <a:ext cx="5287994" cy="2272506"/>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Risks per group are still correct. City accidents have a lower risk (about 11%), so they rarely pass one national threshold: about </a:t>
            </a:r>
            <a:pPr algn="l" indent="0" marL="0">
              <a:lnSpc>
                <a:spcPct val="118427"/>
              </a:lnSpc>
              <a:buNone/>
            </a:pPr>
            <a:r>
              <a:rPr lang="en-US" sz="2550" b="1" dirty="0">
                <a:solidFill>
                  <a:srgbClr val="FFBE0B"/>
                </a:solidFill>
                <a:latin typeface="Arial" pitchFamily="34" charset="0"/>
                <a:ea typeface="Arial" pitchFamily="34" charset="-122"/>
                <a:cs typeface="Arial" pitchFamily="34" charset="-120"/>
              </a:rPr>
              <a:t>2 in 3 </a:t>
            </a:r>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severe city accidents are missed.</a:t>
            </a:r>
            <a:endParaRPr lang="en-US" sz="2550" dirty="0"/>
          </a:p>
        </p:txBody>
      </p:sp>
      <p:sp>
        <p:nvSpPr>
          <p:cNvPr id="44" name="Shape 35"/>
          <p:cNvSpPr/>
          <p:nvPr/>
        </p:nvSpPr>
        <p:spPr>
          <a:xfrm rot="2700000">
            <a:off x="12106275" y="7340759"/>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45" name="Text 36"/>
          <p:cNvSpPr/>
          <p:nvPr/>
        </p:nvSpPr>
        <p:spPr>
          <a:xfrm>
            <a:off x="12620625" y="6794341"/>
            <a:ext cx="4758214" cy="1378744"/>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Strong for rural prevention. Cities need their own threshold or model.</a:t>
            </a:r>
            <a:endParaRPr lang="en-US" sz="2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1945569"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A risk explorer would let planners compare situations before accidents happen</a:t>
            </a:r>
            <a:endParaRPr lang="en-US" sz="4200" dirty="0"/>
          </a:p>
        </p:txBody>
      </p:sp>
      <p:sp>
        <p:nvSpPr>
          <p:cNvPr id="4" name="Text 2"/>
          <p:cNvSpPr/>
          <p:nvPr/>
        </p:nvSpPr>
        <p:spPr>
          <a:xfrm>
            <a:off x="13216890" y="915670"/>
            <a:ext cx="3000756"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2ECC71"/>
                </a:solidFill>
                <a:latin typeface="Arial" pitchFamily="34" charset="0"/>
                <a:ea typeface="Arial" pitchFamily="34" charset="-122"/>
                <a:cs typeface="Arial" pitchFamily="34" charset="-120"/>
              </a:rPr>
              <a:t>RECOMMENDATIONS</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solidFill>
          <a:ln/>
          <a:effectLst>
            <a:outerShdw sx="100000" sy="100000" kx="0" ky="0" algn="bl" rotWithShape="0" blurRad="114300" dist="50800" dir="16200000">
              <a:srgbClr val="2ECC71">
                <a:alpha val="100000"/>
              </a:srgbClr>
            </a:outerShdw>
          </a:effectLst>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636520"/>
            <a:ext cx="16192500" cy="6477794"/>
          </a:xfrm>
          <a:prstGeom prst="roundRect">
            <a:avLst>
              <a:gd name="adj" fmla="val 3235"/>
            </a:avLst>
          </a:prstGeom>
          <a:gradFill rotWithShape="1">
            <a:gsLst>
              <a:gs pos="0">
                <a:srgbClr val="343A40">
                  <a:alpha val="85000"/>
                </a:srgbClr>
              </a:gs>
              <a:gs pos="100000">
                <a:srgbClr val="1C1F22">
                  <a:alpha val="85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Shape 10"/>
          <p:cNvSpPr/>
          <p:nvPr/>
        </p:nvSpPr>
        <p:spPr>
          <a:xfrm>
            <a:off x="1057275" y="2646045"/>
            <a:ext cx="4572000" cy="6458744"/>
          </a:xfrm>
          <a:prstGeom prst="rect">
            <a:avLst/>
          </a:prstGeom>
          <a:solidFill>
            <a:srgbClr val="000000">
              <a:alpha val="22000"/>
            </a:srgbClr>
          </a:solidFill>
          <a:ln/>
        </p:spPr>
      </p:sp>
      <p:sp>
        <p:nvSpPr>
          <p:cNvPr id="13" name="Shape 11"/>
          <p:cNvSpPr/>
          <p:nvPr/>
        </p:nvSpPr>
        <p:spPr>
          <a:xfrm>
            <a:off x="5619750" y="2646045"/>
            <a:ext cx="9525" cy="6458744"/>
          </a:xfrm>
          <a:prstGeom prst="rect">
            <a:avLst/>
          </a:prstGeom>
          <a:solidFill>
            <a:srgbClr val="FFFFFF">
              <a:alpha val="8000"/>
            </a:srgbClr>
          </a:solidFill>
          <a:ln/>
        </p:spPr>
      </p:sp>
      <p:sp>
        <p:nvSpPr>
          <p:cNvPr id="14" name="Text 12"/>
          <p:cNvSpPr/>
          <p:nvPr/>
        </p:nvSpPr>
        <p:spPr>
          <a:xfrm>
            <a:off x="1419225" y="2893695"/>
            <a:ext cx="4222433"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DESCRIBE A SITUATION</a:t>
            </a:r>
            <a:endParaRPr lang="en-US" sz="1650" dirty="0"/>
          </a:p>
        </p:txBody>
      </p:sp>
      <p:sp>
        <p:nvSpPr>
          <p:cNvPr id="15" name="Text 13"/>
          <p:cNvSpPr/>
          <p:nvPr/>
        </p:nvSpPr>
        <p:spPr>
          <a:xfrm>
            <a:off x="1419225" y="3261360"/>
            <a:ext cx="422243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Municipality type</a:t>
            </a:r>
            <a:endParaRPr lang="en-US" sz="1800" dirty="0"/>
          </a:p>
        </p:txBody>
      </p:sp>
      <p:sp>
        <p:nvSpPr>
          <p:cNvPr id="16" name="Shape 14"/>
          <p:cNvSpPr/>
          <p:nvPr/>
        </p:nvSpPr>
        <p:spPr>
          <a:xfrm>
            <a:off x="1419225" y="3652996"/>
            <a:ext cx="3838575" cy="558482"/>
          </a:xfrm>
          <a:prstGeom prst="roundRect">
            <a:avLst>
              <a:gd name="adj" fmla="val 20466"/>
            </a:avLst>
          </a:prstGeom>
          <a:solidFill>
            <a:srgbClr val="000000">
              <a:alpha val="25000"/>
            </a:srgbClr>
          </a:solidFill>
          <a:ln w="9525">
            <a:solidFill>
              <a:srgbClr val="FFFFFF">
                <a:alpha val="14000"/>
              </a:srgbClr>
            </a:solidFill>
            <a:prstDash val="solid"/>
          </a:ln>
        </p:spPr>
      </p:sp>
      <p:sp>
        <p:nvSpPr>
          <p:cNvPr id="17" name="Text 15"/>
          <p:cNvSpPr/>
          <p:nvPr/>
        </p:nvSpPr>
        <p:spPr>
          <a:xfrm>
            <a:off x="1600200" y="3748246"/>
            <a:ext cx="2511108"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Sparsely populated</a:t>
            </a:r>
            <a:endParaRPr lang="en-US" sz="2100" dirty="0"/>
          </a:p>
        </p:txBody>
      </p:sp>
      <p:pic>
        <p:nvPicPr>
          <p:cNvPr id="18" name="Image 0" descr="preencoded.png">    </p:cNvPr>
          <p:cNvPicPr>
            <a:picLocks noChangeAspect="1"/>
          </p:cNvPicPr>
          <p:nvPr/>
        </p:nvPicPr>
        <p:blipFill>
          <a:blip r:embed="rId2"/>
          <a:stretch>
            <a:fillRect/>
          </a:stretch>
        </p:blipFill>
        <p:spPr>
          <a:xfrm>
            <a:off x="4829175" y="3808412"/>
            <a:ext cx="247650" cy="247650"/>
          </a:xfrm>
          <a:prstGeom prst="rect">
            <a:avLst/>
          </a:prstGeom>
        </p:spPr>
      </p:pic>
      <p:sp>
        <p:nvSpPr>
          <p:cNvPr id="19" name="Text 16"/>
          <p:cNvSpPr/>
          <p:nvPr/>
        </p:nvSpPr>
        <p:spPr>
          <a:xfrm>
            <a:off x="1419225" y="4306729"/>
            <a:ext cx="422243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Road users</a:t>
            </a:r>
            <a:endParaRPr lang="en-US" sz="1800" dirty="0"/>
          </a:p>
        </p:txBody>
      </p:sp>
      <p:sp>
        <p:nvSpPr>
          <p:cNvPr id="20" name="Shape 17"/>
          <p:cNvSpPr/>
          <p:nvPr/>
        </p:nvSpPr>
        <p:spPr>
          <a:xfrm>
            <a:off x="1419225" y="4698365"/>
            <a:ext cx="3838575" cy="558482"/>
          </a:xfrm>
          <a:prstGeom prst="roundRect">
            <a:avLst>
              <a:gd name="adj" fmla="val 20466"/>
            </a:avLst>
          </a:prstGeom>
          <a:solidFill>
            <a:srgbClr val="000000">
              <a:alpha val="25000"/>
            </a:srgbClr>
          </a:solidFill>
          <a:ln w="9525">
            <a:solidFill>
              <a:srgbClr val="FFFFFF">
                <a:alpha val="14000"/>
              </a:srgbClr>
            </a:solidFill>
            <a:prstDash val="solid"/>
          </a:ln>
        </p:spPr>
      </p:sp>
      <p:sp>
        <p:nvSpPr>
          <p:cNvPr id="21" name="Text 18"/>
          <p:cNvSpPr/>
          <p:nvPr/>
        </p:nvSpPr>
        <p:spPr>
          <a:xfrm>
            <a:off x="1600200" y="4793615"/>
            <a:ext cx="1417955"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Motorcycle</a:t>
            </a:r>
            <a:endParaRPr lang="en-US" sz="2100" dirty="0"/>
          </a:p>
        </p:txBody>
      </p:sp>
      <p:pic>
        <p:nvPicPr>
          <p:cNvPr id="22" name="Image 1" descr="preencoded.png">    </p:cNvPr>
          <p:cNvPicPr>
            <a:picLocks noChangeAspect="1"/>
          </p:cNvPicPr>
          <p:nvPr/>
        </p:nvPicPr>
        <p:blipFill>
          <a:blip r:embed="rId3"/>
          <a:stretch>
            <a:fillRect/>
          </a:stretch>
        </p:blipFill>
        <p:spPr>
          <a:xfrm>
            <a:off x="4829175" y="4853781"/>
            <a:ext cx="247650" cy="247650"/>
          </a:xfrm>
          <a:prstGeom prst="rect">
            <a:avLst/>
          </a:prstGeom>
        </p:spPr>
      </p:pic>
      <p:sp>
        <p:nvSpPr>
          <p:cNvPr id="23" name="Text 19"/>
          <p:cNvSpPr/>
          <p:nvPr/>
        </p:nvSpPr>
        <p:spPr>
          <a:xfrm>
            <a:off x="1419225" y="5352098"/>
            <a:ext cx="422243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Day and time</a:t>
            </a:r>
            <a:endParaRPr lang="en-US" sz="1800" dirty="0"/>
          </a:p>
        </p:txBody>
      </p:sp>
      <p:sp>
        <p:nvSpPr>
          <p:cNvPr id="24" name="Shape 20"/>
          <p:cNvSpPr/>
          <p:nvPr/>
        </p:nvSpPr>
        <p:spPr>
          <a:xfrm>
            <a:off x="1419225" y="5743734"/>
            <a:ext cx="3838575" cy="558482"/>
          </a:xfrm>
          <a:prstGeom prst="roundRect">
            <a:avLst>
              <a:gd name="adj" fmla="val 20466"/>
            </a:avLst>
          </a:prstGeom>
          <a:solidFill>
            <a:srgbClr val="000000">
              <a:alpha val="25000"/>
            </a:srgbClr>
          </a:solidFill>
          <a:ln w="9525">
            <a:solidFill>
              <a:srgbClr val="FFFFFF">
                <a:alpha val="14000"/>
              </a:srgbClr>
            </a:solidFill>
            <a:prstDash val="solid"/>
          </a:ln>
        </p:spPr>
      </p:sp>
      <p:sp>
        <p:nvSpPr>
          <p:cNvPr id="25" name="Text 21"/>
          <p:cNvSpPr/>
          <p:nvPr/>
        </p:nvSpPr>
        <p:spPr>
          <a:xfrm>
            <a:off x="1600200" y="5838984"/>
            <a:ext cx="535781"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Any</a:t>
            </a:r>
            <a:endParaRPr lang="en-US" sz="2100" dirty="0"/>
          </a:p>
        </p:txBody>
      </p:sp>
      <p:pic>
        <p:nvPicPr>
          <p:cNvPr id="26" name="Image 2" descr="preencoded.png">    </p:cNvPr>
          <p:cNvPicPr>
            <a:picLocks noChangeAspect="1"/>
          </p:cNvPicPr>
          <p:nvPr/>
        </p:nvPicPr>
        <p:blipFill>
          <a:blip r:embed="rId4"/>
          <a:stretch>
            <a:fillRect/>
          </a:stretch>
        </p:blipFill>
        <p:spPr>
          <a:xfrm>
            <a:off x="4829175" y="5899150"/>
            <a:ext cx="247650" cy="247650"/>
          </a:xfrm>
          <a:prstGeom prst="rect">
            <a:avLst/>
          </a:prstGeom>
        </p:spPr>
      </p:pic>
      <p:sp>
        <p:nvSpPr>
          <p:cNvPr id="27" name="Text 22"/>
          <p:cNvSpPr/>
          <p:nvPr/>
        </p:nvSpPr>
        <p:spPr>
          <a:xfrm>
            <a:off x="1419225" y="6397466"/>
            <a:ext cx="422243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Light / road surface</a:t>
            </a:r>
            <a:endParaRPr lang="en-US" sz="1800" dirty="0"/>
          </a:p>
        </p:txBody>
      </p:sp>
      <p:sp>
        <p:nvSpPr>
          <p:cNvPr id="28" name="Shape 23"/>
          <p:cNvSpPr/>
          <p:nvPr/>
        </p:nvSpPr>
        <p:spPr>
          <a:xfrm>
            <a:off x="1419225" y="6789102"/>
            <a:ext cx="3838575" cy="558482"/>
          </a:xfrm>
          <a:prstGeom prst="roundRect">
            <a:avLst>
              <a:gd name="adj" fmla="val 20466"/>
            </a:avLst>
          </a:prstGeom>
          <a:solidFill>
            <a:srgbClr val="000000">
              <a:alpha val="25000"/>
            </a:srgbClr>
          </a:solidFill>
          <a:ln w="9525">
            <a:solidFill>
              <a:srgbClr val="FFFFFF">
                <a:alpha val="14000"/>
              </a:srgbClr>
            </a:solidFill>
            <a:prstDash val="solid"/>
          </a:ln>
        </p:spPr>
      </p:sp>
      <p:sp>
        <p:nvSpPr>
          <p:cNvPr id="29" name="Text 24"/>
          <p:cNvSpPr/>
          <p:nvPr/>
        </p:nvSpPr>
        <p:spPr>
          <a:xfrm>
            <a:off x="1600200" y="6884352"/>
            <a:ext cx="535781"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Any</a:t>
            </a:r>
            <a:endParaRPr lang="en-US" sz="2100" dirty="0"/>
          </a:p>
        </p:txBody>
      </p:sp>
      <p:pic>
        <p:nvPicPr>
          <p:cNvPr id="30" name="Image 3" descr="preencoded.png">    </p:cNvPr>
          <p:cNvPicPr>
            <a:picLocks noChangeAspect="1"/>
          </p:cNvPicPr>
          <p:nvPr/>
        </p:nvPicPr>
        <p:blipFill>
          <a:blip r:embed="rId5"/>
          <a:stretch>
            <a:fillRect/>
          </a:stretch>
        </p:blipFill>
        <p:spPr>
          <a:xfrm>
            <a:off x="4829175" y="6944519"/>
            <a:ext cx="247650" cy="247650"/>
          </a:xfrm>
          <a:prstGeom prst="rect">
            <a:avLst/>
          </a:prstGeom>
        </p:spPr>
      </p:pic>
      <p:sp>
        <p:nvSpPr>
          <p:cNvPr id="31" name="Shape 25"/>
          <p:cNvSpPr/>
          <p:nvPr/>
        </p:nvSpPr>
        <p:spPr>
          <a:xfrm>
            <a:off x="1419225" y="8243570"/>
            <a:ext cx="3838575" cy="613569"/>
          </a:xfrm>
          <a:prstGeom prst="roundRect">
            <a:avLst>
              <a:gd name="adj" fmla="val 18629"/>
            </a:avLst>
          </a:prstGeom>
          <a:gradFill rotWithShape="1">
            <a:gsLst>
              <a:gs pos="0">
                <a:srgbClr val="7FB0F0">
                  <a:alpha val="100000"/>
                </a:srgbClr>
              </a:gs>
              <a:gs pos="100000">
                <a:srgbClr val="4F86D2">
                  <a:alpha val="100000"/>
                </a:srgbClr>
              </a:gs>
            </a:gsLst>
            <a:lin ang="5400000" scaled="0"/>
          </a:gradFill>
          <a:ln/>
          <a:effectLst>
            <a:outerShdw sx="100000" sy="100000" kx="0" ky="0" algn="bl" rotWithShape="0" blurRad="285750" dist="50800" dir="16200000">
              <a:srgbClr val="6FA3E8">
                <a:alpha val="70000"/>
              </a:srgbClr>
            </a:outerShdw>
          </a:effectLst>
        </p:spPr>
      </p:sp>
      <p:sp>
        <p:nvSpPr>
          <p:cNvPr id="32" name="Text 26"/>
          <p:cNvSpPr/>
          <p:nvPr/>
        </p:nvSpPr>
        <p:spPr>
          <a:xfrm>
            <a:off x="1514046" y="8395970"/>
            <a:ext cx="3648932" cy="346869"/>
          </a:xfrm>
          <a:prstGeom prst="rect">
            <a:avLst/>
          </a:prstGeom>
          <a:noFill/>
          <a:ln/>
        </p:spPr>
        <p:txBody>
          <a:bodyPr wrap="square" lIns="25400" tIns="25400" rIns="25400" bIns="25400" rtlCol="0" anchor="t">
            <a:normAutofit/>
          </a:bodyPr>
          <a:lstStyle/>
          <a:p>
            <a:pPr algn="ctr" indent="0" marL="0">
              <a:buNone/>
            </a:pPr>
            <a:r>
              <a:rPr lang="en-US" sz="2100" b="1" dirty="0">
                <a:solidFill>
                  <a:srgbClr val="0E1A2B"/>
                </a:solidFill>
                <a:latin typeface="Arial" pitchFamily="34" charset="0"/>
                <a:ea typeface="Arial" pitchFamily="34" charset="-122"/>
                <a:cs typeface="Arial" pitchFamily="34" charset="-120"/>
              </a:rPr>
              <a:t>Estimate risk</a:t>
            </a:r>
            <a:endParaRPr lang="en-US" sz="2100" dirty="0"/>
          </a:p>
        </p:txBody>
      </p:sp>
      <p:sp>
        <p:nvSpPr>
          <p:cNvPr id="33" name="Shape 27"/>
          <p:cNvSpPr/>
          <p:nvPr/>
        </p:nvSpPr>
        <p:spPr>
          <a:xfrm>
            <a:off x="6086475" y="2950845"/>
            <a:ext cx="2190750" cy="2190750"/>
          </a:xfrm>
          <a:prstGeom prst="ellipse">
            <a:avLst/>
          </a:prstGeom>
          <a:gradFill rotWithShape="1">
            <a:gsLst>
              <a:gs pos="0">
                <a:srgbClr val="25292D">
                  <a:alpha val="100000"/>
                </a:srgbClr>
              </a:gs>
              <a:gs pos="100000">
                <a:srgbClr val="111315">
                  <a:alpha val="100000"/>
                </a:srgbClr>
              </a:gs>
            </a:gsLst>
            <a:path path="circle">
              <a:fillToRect l="50000" t="40000" r="50000" b="60000"/>
            </a:path>
          </a:gradFill>
          <a:ln w="152400">
            <a:solidFill>
              <a:srgbClr val="E63946"/>
            </a:solidFill>
            <a:prstDash val="solid"/>
          </a:ln>
          <a:effectLst>
            <a:outerShdw sx="100000" sy="100000" kx="0" ky="0" algn="bl" rotWithShape="0" blurRad="476250" dist="50800" dir="16200000">
              <a:srgbClr val="E63946">
                <a:alpha val="55000"/>
              </a:srgbClr>
            </a:outerShdw>
          </a:effectLst>
        </p:spPr>
      </p:sp>
      <p:sp>
        <p:nvSpPr>
          <p:cNvPr id="34" name="Text 28"/>
          <p:cNvSpPr/>
          <p:nvPr/>
        </p:nvSpPr>
        <p:spPr>
          <a:xfrm>
            <a:off x="6200775" y="3103245"/>
            <a:ext cx="1962150" cy="1924050"/>
          </a:xfrm>
          <a:prstGeom prst="rect">
            <a:avLst/>
          </a:prstGeom>
          <a:noFill/>
          <a:ln/>
        </p:spPr>
        <p:txBody>
          <a:bodyPr wrap="square" lIns="25400" tIns="25400" rIns="25400" bIns="25400" rtlCol="0" anchor="ctr">
            <a:normAutofit/>
          </a:bodyPr>
          <a:lstStyle/>
          <a:p>
            <a:pPr algn="ctr" indent="0" marL="0">
              <a:lnSpc>
                <a:spcPct val="119194"/>
              </a:lnSpc>
              <a:buNone/>
            </a:pPr>
            <a:r>
              <a:rPr lang="en-US" sz="4500" b="1" dirty="0">
                <a:solidFill>
                  <a:srgbClr val="F5F7FA"/>
                </a:solidFill>
                <a:latin typeface="Arial" pitchFamily="34" charset="0"/>
                <a:ea typeface="Arial" pitchFamily="34" charset="-122"/>
                <a:cs typeface="Arial" pitchFamily="34" charset="-120"/>
              </a:rPr>
              <a:t>35%</a:t>
            </a:r>
            <a:endParaRPr lang="en-US" sz="4500" dirty="0"/>
          </a:p>
        </p:txBody>
      </p:sp>
      <p:sp>
        <p:nvSpPr>
          <p:cNvPr id="35" name="Text 29"/>
          <p:cNvSpPr/>
          <p:nvPr/>
        </p:nvSpPr>
        <p:spPr>
          <a:xfrm>
            <a:off x="8734425" y="3171984"/>
            <a:ext cx="884301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CHANCE OF A SEVERE OUTCOME</a:t>
            </a:r>
            <a:endParaRPr lang="en-US" sz="1650" dirty="0"/>
          </a:p>
        </p:txBody>
      </p:sp>
      <p:sp>
        <p:nvSpPr>
          <p:cNvPr id="36" name="Text 30"/>
          <p:cNvSpPr/>
          <p:nvPr/>
        </p:nvSpPr>
        <p:spPr>
          <a:xfrm>
            <a:off x="8734425" y="3577749"/>
            <a:ext cx="8280273"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About 1 in 3 accidents like this is severe: more than twice the national average.</a:t>
            </a:r>
            <a:endParaRPr lang="en-US" sz="2550" dirty="0"/>
          </a:p>
        </p:txBody>
      </p:sp>
      <p:sp>
        <p:nvSpPr>
          <p:cNvPr id="37" name="Shape 31"/>
          <p:cNvSpPr/>
          <p:nvPr/>
        </p:nvSpPr>
        <p:spPr>
          <a:xfrm>
            <a:off x="8734425" y="4667250"/>
            <a:ext cx="190500" cy="190500"/>
          </a:xfrm>
          <a:prstGeom prst="ellipse">
            <a:avLst/>
          </a:prstGeom>
          <a:solidFill>
            <a:srgbClr val="B8C0C8"/>
          </a:solidFill>
          <a:ln/>
        </p:spPr>
      </p:sp>
      <p:sp>
        <p:nvSpPr>
          <p:cNvPr id="38" name="Text 32"/>
          <p:cNvSpPr/>
          <p:nvPr/>
        </p:nvSpPr>
        <p:spPr>
          <a:xfrm>
            <a:off x="9058275" y="4604861"/>
            <a:ext cx="2684336"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National average 15.7%</a:t>
            </a:r>
            <a:endParaRPr lang="en-US" sz="1800" dirty="0"/>
          </a:p>
        </p:txBody>
      </p:sp>
      <p:sp>
        <p:nvSpPr>
          <p:cNvPr id="39" name="Shape 33"/>
          <p:cNvSpPr/>
          <p:nvPr/>
        </p:nvSpPr>
        <p:spPr>
          <a:xfrm>
            <a:off x="6086475" y="5389245"/>
            <a:ext cx="10687050" cy="9525"/>
          </a:xfrm>
          <a:prstGeom prst="rect">
            <a:avLst/>
          </a:prstGeom>
          <a:solidFill>
            <a:srgbClr val="FFFFFF">
              <a:alpha val="8000"/>
            </a:srgbClr>
          </a:solidFill>
          <a:ln/>
        </p:spPr>
      </p:sp>
      <p:sp>
        <p:nvSpPr>
          <p:cNvPr id="40" name="Text 34"/>
          <p:cNvSpPr/>
          <p:nvPr/>
        </p:nvSpPr>
        <p:spPr>
          <a:xfrm>
            <a:off x="6086475" y="5589270"/>
            <a:ext cx="1175575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HIGHEST-RISK SITUATIONS</a:t>
            </a:r>
            <a:endParaRPr lang="en-US" sz="1650" dirty="0"/>
          </a:p>
        </p:txBody>
      </p:sp>
      <p:sp>
        <p:nvSpPr>
          <p:cNvPr id="41" name="Text 35"/>
          <p:cNvSpPr/>
          <p:nvPr/>
        </p:nvSpPr>
        <p:spPr>
          <a:xfrm>
            <a:off x="6086475" y="5975985"/>
            <a:ext cx="361950" cy="406083"/>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B8C0C8"/>
                </a:solidFill>
                <a:latin typeface="Arial" pitchFamily="34" charset="0"/>
                <a:ea typeface="Arial" pitchFamily="34" charset="-122"/>
                <a:cs typeface="Arial" pitchFamily="34" charset="-120"/>
              </a:rPr>
              <a:t>1</a:t>
            </a:r>
            <a:endParaRPr lang="en-US" sz="2100" dirty="0"/>
          </a:p>
        </p:txBody>
      </p:sp>
      <p:sp>
        <p:nvSpPr>
          <p:cNvPr id="42" name="Text 36"/>
          <p:cNvSpPr/>
          <p:nvPr/>
        </p:nvSpPr>
        <p:spPr>
          <a:xfrm>
            <a:off x="6581775" y="5975985"/>
            <a:ext cx="6936105" cy="406083"/>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Motorcycle, rural municipality</a:t>
            </a:r>
            <a:endParaRPr lang="en-US" sz="2100" dirty="0"/>
          </a:p>
        </p:txBody>
      </p:sp>
      <p:sp>
        <p:nvSpPr>
          <p:cNvPr id="43" name="Shape 37"/>
          <p:cNvSpPr/>
          <p:nvPr/>
        </p:nvSpPr>
        <p:spPr>
          <a:xfrm>
            <a:off x="13096875" y="6074251"/>
            <a:ext cx="2419350" cy="171450"/>
          </a:xfrm>
          <a:custGeom>
            <a:avLst/>
            <a:gdLst/>
            <a:ahLst/>
            <a:cxnLst/>
            <a:rect l="l" t="t" r="r" b="b"/>
            <a:pathLst>
              <a:path w="2419350" h="171450">
                <a:moveTo>
                  <a:pt x="0" y="0"/>
                </a:moveTo>
                <a:lnTo>
                  <a:pt x="2333625" y="0"/>
                </a:lnTo>
                <a:arcTo hR="85725" wR="85725" stAng="16200000" swAng="5400000"/>
                <a:lnTo>
                  <a:pt x="2419350" y="85725"/>
                </a:lnTo>
                <a:arcTo hR="85725" wR="85725" stAng="0" swAng="5400000"/>
                <a:lnTo>
                  <a:pt x="0" y="171450"/>
                </a:lnTo>
                <a:lnTo>
                  <a:pt x="0" y="0"/>
                </a:lnTo>
                <a:close/>
              </a:path>
            </a:pathLst>
          </a:custGeom>
          <a:gradFill rotWithShape="1">
            <a:gsLst>
              <a:gs pos="0">
                <a:srgbClr val="E63946">
                  <a:alpha val="45000"/>
                </a:srgbClr>
              </a:gs>
              <a:gs pos="100000">
                <a:srgbClr val="E63946">
                  <a:alpha val="100000"/>
                </a:srgbClr>
              </a:gs>
            </a:gsLst>
            <a:lin ang="0" scaled="0"/>
          </a:gradFill>
          <a:ln/>
          <a:effectLst>
            <a:outerShdw sx="100000" sy="100000" kx="0" ky="0" algn="bl" rotWithShape="0" blurRad="247650" dist="50800" dir="16200000">
              <a:srgbClr val="E63946">
                <a:alpha val="60000"/>
              </a:srgbClr>
            </a:outerShdw>
          </a:effectLst>
        </p:spPr>
      </p:sp>
      <p:sp>
        <p:nvSpPr>
          <p:cNvPr id="44" name="Text 38"/>
          <p:cNvSpPr/>
          <p:nvPr/>
        </p:nvSpPr>
        <p:spPr>
          <a:xfrm>
            <a:off x="15649575" y="5975985"/>
            <a:ext cx="1123950" cy="406083"/>
          </a:xfrm>
          <a:prstGeom prst="rect">
            <a:avLst/>
          </a:prstGeom>
          <a:noFill/>
          <a:ln/>
        </p:spPr>
        <p:txBody>
          <a:bodyPr wrap="square" lIns="25400" tIns="25400" rIns="25400" bIns="25400" rtlCol="0" anchor="t">
            <a:normAutofit/>
          </a:bodyPr>
          <a:lstStyle/>
          <a:p>
            <a:pPr algn="r" indent="0" marL="0">
              <a:lnSpc>
                <a:spcPct val="119177"/>
              </a:lnSpc>
              <a:buNone/>
            </a:pPr>
            <a:r>
              <a:rPr lang="en-US" sz="2100" b="1" dirty="0">
                <a:solidFill>
                  <a:srgbClr val="F5F7FA"/>
                </a:solidFill>
                <a:latin typeface="Arial" pitchFamily="34" charset="0"/>
                <a:ea typeface="Arial" pitchFamily="34" charset="-122"/>
                <a:cs typeface="Arial" pitchFamily="34" charset="-120"/>
              </a:rPr>
              <a:t>35.1%</a:t>
            </a:r>
            <a:endParaRPr lang="en-US" sz="2100" dirty="0"/>
          </a:p>
        </p:txBody>
      </p:sp>
      <p:sp>
        <p:nvSpPr>
          <p:cNvPr id="45" name="Text 39"/>
          <p:cNvSpPr/>
          <p:nvPr/>
        </p:nvSpPr>
        <p:spPr>
          <a:xfrm>
            <a:off x="6086475" y="6458267"/>
            <a:ext cx="361950"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B8C0C8"/>
                </a:solidFill>
                <a:latin typeface="Arial" pitchFamily="34" charset="0"/>
                <a:ea typeface="Arial" pitchFamily="34" charset="-122"/>
                <a:cs typeface="Arial" pitchFamily="34" charset="-120"/>
              </a:rPr>
              <a:t>2</a:t>
            </a:r>
            <a:endParaRPr lang="en-US" sz="2100" dirty="0"/>
          </a:p>
        </p:txBody>
      </p:sp>
      <p:sp>
        <p:nvSpPr>
          <p:cNvPr id="46" name="Text 40"/>
          <p:cNvSpPr/>
          <p:nvPr/>
        </p:nvSpPr>
        <p:spPr>
          <a:xfrm>
            <a:off x="6581775" y="6458267"/>
            <a:ext cx="7344727"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Pedestrian, bicycle or motorcycle, rural</a:t>
            </a:r>
            <a:endParaRPr lang="en-US" sz="2100" dirty="0"/>
          </a:p>
        </p:txBody>
      </p:sp>
      <p:sp>
        <p:nvSpPr>
          <p:cNvPr id="47" name="Shape 41"/>
          <p:cNvSpPr/>
          <p:nvPr/>
        </p:nvSpPr>
        <p:spPr>
          <a:xfrm>
            <a:off x="13468350" y="6556534"/>
            <a:ext cx="2047875" cy="171450"/>
          </a:xfrm>
          <a:custGeom>
            <a:avLst/>
            <a:gdLst/>
            <a:ahLst/>
            <a:cxnLst/>
            <a:rect l="l" t="t" r="r" b="b"/>
            <a:pathLst>
              <a:path w="2047875" h="171450">
                <a:moveTo>
                  <a:pt x="0" y="0"/>
                </a:moveTo>
                <a:lnTo>
                  <a:pt x="1962150" y="0"/>
                </a:lnTo>
                <a:arcTo hR="85725" wR="85725" stAng="16200000" swAng="5400000"/>
                <a:lnTo>
                  <a:pt x="2047875" y="85725"/>
                </a:lnTo>
                <a:arcTo hR="85725" wR="85725" stAng="0" swAng="5400000"/>
                <a:lnTo>
                  <a:pt x="0" y="171450"/>
                </a:lnTo>
                <a:lnTo>
                  <a:pt x="0" y="0"/>
                </a:lnTo>
                <a:close/>
              </a:path>
            </a:pathLst>
          </a:custGeom>
          <a:gradFill rotWithShape="1">
            <a:gsLst>
              <a:gs pos="0">
                <a:srgbClr val="E63946">
                  <a:alpha val="45000"/>
                </a:srgbClr>
              </a:gs>
              <a:gs pos="100000">
                <a:srgbClr val="E63946">
                  <a:alpha val="100000"/>
                </a:srgbClr>
              </a:gs>
            </a:gsLst>
            <a:lin ang="0" scaled="0"/>
          </a:gradFill>
          <a:ln/>
          <a:effectLst>
            <a:outerShdw sx="100000" sy="100000" kx="0" ky="0" algn="bl" rotWithShape="0" blurRad="247650" dist="50800" dir="16200000">
              <a:srgbClr val="E63946">
                <a:alpha val="60000"/>
              </a:srgbClr>
            </a:outerShdw>
          </a:effectLst>
        </p:spPr>
      </p:sp>
      <p:sp>
        <p:nvSpPr>
          <p:cNvPr id="48" name="Text 42"/>
          <p:cNvSpPr/>
          <p:nvPr/>
        </p:nvSpPr>
        <p:spPr>
          <a:xfrm>
            <a:off x="15649575" y="6458267"/>
            <a:ext cx="1123950" cy="406082"/>
          </a:xfrm>
          <a:prstGeom prst="rect">
            <a:avLst/>
          </a:prstGeom>
          <a:noFill/>
          <a:ln/>
        </p:spPr>
        <p:txBody>
          <a:bodyPr wrap="square" lIns="25400" tIns="25400" rIns="25400" bIns="25400" rtlCol="0" anchor="t">
            <a:normAutofit/>
          </a:bodyPr>
          <a:lstStyle/>
          <a:p>
            <a:pPr algn="r" indent="0" marL="0">
              <a:lnSpc>
                <a:spcPct val="119177"/>
              </a:lnSpc>
              <a:buNone/>
            </a:pPr>
            <a:r>
              <a:rPr lang="en-US" sz="2100" b="1" dirty="0">
                <a:solidFill>
                  <a:srgbClr val="F5F7FA"/>
                </a:solidFill>
                <a:latin typeface="Arial" pitchFamily="34" charset="0"/>
                <a:ea typeface="Arial" pitchFamily="34" charset="-122"/>
                <a:cs typeface="Arial" pitchFamily="34" charset="-120"/>
              </a:rPr>
              <a:t>29.8%</a:t>
            </a:r>
            <a:endParaRPr lang="en-US" sz="2100" dirty="0"/>
          </a:p>
        </p:txBody>
      </p:sp>
      <p:sp>
        <p:nvSpPr>
          <p:cNvPr id="49" name="Text 43"/>
          <p:cNvSpPr/>
          <p:nvPr/>
        </p:nvSpPr>
        <p:spPr>
          <a:xfrm>
            <a:off x="6086475" y="6940550"/>
            <a:ext cx="361950"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B8C0C8"/>
                </a:solidFill>
                <a:latin typeface="Arial" pitchFamily="34" charset="0"/>
                <a:ea typeface="Arial" pitchFamily="34" charset="-122"/>
                <a:cs typeface="Arial" pitchFamily="34" charset="-120"/>
              </a:rPr>
              <a:t>3</a:t>
            </a:r>
            <a:endParaRPr lang="en-US" sz="2100" dirty="0"/>
          </a:p>
        </p:txBody>
      </p:sp>
      <p:sp>
        <p:nvSpPr>
          <p:cNvPr id="50" name="Text 44"/>
          <p:cNvSpPr/>
          <p:nvPr/>
        </p:nvSpPr>
        <p:spPr>
          <a:xfrm>
            <a:off x="6581775" y="6940550"/>
            <a:ext cx="7355205"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Motorcycle at the weekend</a:t>
            </a:r>
            <a:endParaRPr lang="en-US" sz="2100" dirty="0"/>
          </a:p>
        </p:txBody>
      </p:sp>
      <p:sp>
        <p:nvSpPr>
          <p:cNvPr id="51" name="Shape 45"/>
          <p:cNvSpPr/>
          <p:nvPr/>
        </p:nvSpPr>
        <p:spPr>
          <a:xfrm>
            <a:off x="13477875" y="7038816"/>
            <a:ext cx="2038350" cy="171450"/>
          </a:xfrm>
          <a:custGeom>
            <a:avLst/>
            <a:gdLst/>
            <a:ahLst/>
            <a:cxnLst/>
            <a:rect l="l" t="t" r="r" b="b"/>
            <a:pathLst>
              <a:path w="2038350" h="171450">
                <a:moveTo>
                  <a:pt x="0" y="0"/>
                </a:moveTo>
                <a:lnTo>
                  <a:pt x="1952625" y="0"/>
                </a:lnTo>
                <a:arcTo hR="85725" wR="85725" stAng="16200000" swAng="5400000"/>
                <a:lnTo>
                  <a:pt x="2038350" y="85725"/>
                </a:lnTo>
                <a:arcTo hR="85725" wR="85725" stAng="0" swAng="5400000"/>
                <a:lnTo>
                  <a:pt x="0" y="171450"/>
                </a:lnTo>
                <a:lnTo>
                  <a:pt x="0" y="0"/>
                </a:lnTo>
                <a:close/>
              </a:path>
            </a:pathLst>
          </a:custGeom>
          <a:gradFill rotWithShape="1">
            <a:gsLst>
              <a:gs pos="0">
                <a:srgbClr val="E63946">
                  <a:alpha val="45000"/>
                </a:srgbClr>
              </a:gs>
              <a:gs pos="100000">
                <a:srgbClr val="E63946">
                  <a:alpha val="100000"/>
                </a:srgbClr>
              </a:gs>
            </a:gsLst>
            <a:lin ang="0" scaled="0"/>
          </a:gradFill>
          <a:ln/>
          <a:effectLst>
            <a:outerShdw sx="100000" sy="100000" kx="0" ky="0" algn="bl" rotWithShape="0" blurRad="247650" dist="50800" dir="16200000">
              <a:srgbClr val="E63946">
                <a:alpha val="60000"/>
              </a:srgbClr>
            </a:outerShdw>
          </a:effectLst>
        </p:spPr>
      </p:sp>
      <p:sp>
        <p:nvSpPr>
          <p:cNvPr id="52" name="Text 46"/>
          <p:cNvSpPr/>
          <p:nvPr/>
        </p:nvSpPr>
        <p:spPr>
          <a:xfrm>
            <a:off x="15649575" y="6940550"/>
            <a:ext cx="1123950" cy="406082"/>
          </a:xfrm>
          <a:prstGeom prst="rect">
            <a:avLst/>
          </a:prstGeom>
          <a:noFill/>
          <a:ln/>
        </p:spPr>
        <p:txBody>
          <a:bodyPr wrap="square" lIns="25400" tIns="25400" rIns="25400" bIns="25400" rtlCol="0" anchor="t">
            <a:normAutofit/>
          </a:bodyPr>
          <a:lstStyle/>
          <a:p>
            <a:pPr algn="r" indent="0" marL="0">
              <a:lnSpc>
                <a:spcPct val="119177"/>
              </a:lnSpc>
              <a:buNone/>
            </a:pPr>
            <a:r>
              <a:rPr lang="en-US" sz="2100" b="1" dirty="0">
                <a:solidFill>
                  <a:srgbClr val="F5F7FA"/>
                </a:solidFill>
                <a:latin typeface="Arial" pitchFamily="34" charset="0"/>
                <a:ea typeface="Arial" pitchFamily="34" charset="-122"/>
                <a:cs typeface="Arial" pitchFamily="34" charset="-120"/>
              </a:rPr>
              <a:t>29.6%</a:t>
            </a:r>
            <a:endParaRPr lang="en-US" sz="2100" dirty="0"/>
          </a:p>
        </p:txBody>
      </p:sp>
      <p:sp>
        <p:nvSpPr>
          <p:cNvPr id="53" name="Text 47"/>
          <p:cNvSpPr/>
          <p:nvPr/>
        </p:nvSpPr>
        <p:spPr>
          <a:xfrm>
            <a:off x="6086475" y="7422832"/>
            <a:ext cx="361950"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B8C0C8"/>
                </a:solidFill>
                <a:latin typeface="Arial" pitchFamily="34" charset="0"/>
                <a:ea typeface="Arial" pitchFamily="34" charset="-122"/>
                <a:cs typeface="Arial" pitchFamily="34" charset="-120"/>
              </a:rPr>
              <a:t>4</a:t>
            </a:r>
            <a:endParaRPr lang="en-US" sz="2100" dirty="0"/>
          </a:p>
        </p:txBody>
      </p:sp>
      <p:sp>
        <p:nvSpPr>
          <p:cNvPr id="54" name="Text 48"/>
          <p:cNvSpPr/>
          <p:nvPr/>
        </p:nvSpPr>
        <p:spPr>
          <a:xfrm>
            <a:off x="6581775" y="7422832"/>
            <a:ext cx="7491413"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dirty="0">
                <a:solidFill>
                  <a:srgbClr val="F5F7FA"/>
                </a:solidFill>
                <a:latin typeface="Arial" pitchFamily="34" charset="0"/>
                <a:ea typeface="Arial" pitchFamily="34" charset="-122"/>
                <a:cs typeface="Arial" pitchFamily="34" charset="-120"/>
              </a:rPr>
              <a:t>Motorcycle alone</a:t>
            </a:r>
            <a:endParaRPr lang="en-US" sz="2100" dirty="0"/>
          </a:p>
        </p:txBody>
      </p:sp>
      <p:sp>
        <p:nvSpPr>
          <p:cNvPr id="55" name="Shape 49"/>
          <p:cNvSpPr/>
          <p:nvPr/>
        </p:nvSpPr>
        <p:spPr>
          <a:xfrm>
            <a:off x="13601700" y="7521099"/>
            <a:ext cx="1914525" cy="171450"/>
          </a:xfrm>
          <a:custGeom>
            <a:avLst/>
            <a:gdLst/>
            <a:ahLst/>
            <a:cxnLst/>
            <a:rect l="l" t="t" r="r" b="b"/>
            <a:pathLst>
              <a:path w="1914525" h="171450">
                <a:moveTo>
                  <a:pt x="0" y="0"/>
                </a:moveTo>
                <a:lnTo>
                  <a:pt x="1828800" y="0"/>
                </a:lnTo>
                <a:arcTo hR="85725" wR="85725" stAng="16200000" swAng="5400000"/>
                <a:lnTo>
                  <a:pt x="1914525" y="85725"/>
                </a:lnTo>
                <a:arcTo hR="85725" wR="85725" stAng="0" swAng="5400000"/>
                <a:lnTo>
                  <a:pt x="0" y="171450"/>
                </a:lnTo>
                <a:lnTo>
                  <a:pt x="0" y="0"/>
                </a:lnTo>
                <a:close/>
              </a:path>
            </a:pathLst>
          </a:custGeom>
          <a:gradFill rotWithShape="1">
            <a:gsLst>
              <a:gs pos="0">
                <a:srgbClr val="E63946">
                  <a:alpha val="45000"/>
                </a:srgbClr>
              </a:gs>
              <a:gs pos="100000">
                <a:srgbClr val="E63946">
                  <a:alpha val="100000"/>
                </a:srgbClr>
              </a:gs>
            </a:gsLst>
            <a:lin ang="0" scaled="0"/>
          </a:gradFill>
          <a:ln/>
          <a:effectLst>
            <a:outerShdw sx="100000" sy="100000" kx="0" ky="0" algn="bl" rotWithShape="0" blurRad="247650" dist="50800" dir="16200000">
              <a:srgbClr val="E63946">
                <a:alpha val="60000"/>
              </a:srgbClr>
            </a:outerShdw>
          </a:effectLst>
        </p:spPr>
      </p:sp>
      <p:sp>
        <p:nvSpPr>
          <p:cNvPr id="56" name="Text 50"/>
          <p:cNvSpPr/>
          <p:nvPr/>
        </p:nvSpPr>
        <p:spPr>
          <a:xfrm>
            <a:off x="15649575" y="7422832"/>
            <a:ext cx="1123950" cy="406082"/>
          </a:xfrm>
          <a:prstGeom prst="rect">
            <a:avLst/>
          </a:prstGeom>
          <a:noFill/>
          <a:ln/>
        </p:spPr>
        <p:txBody>
          <a:bodyPr wrap="square" lIns="25400" tIns="25400" rIns="25400" bIns="25400" rtlCol="0" anchor="t">
            <a:normAutofit/>
          </a:bodyPr>
          <a:lstStyle/>
          <a:p>
            <a:pPr algn="r" indent="0" marL="0">
              <a:lnSpc>
                <a:spcPct val="119177"/>
              </a:lnSpc>
              <a:buNone/>
            </a:pPr>
            <a:r>
              <a:rPr lang="en-US" sz="2100" b="1" dirty="0">
                <a:solidFill>
                  <a:srgbClr val="F5F7FA"/>
                </a:solidFill>
                <a:latin typeface="Arial" pitchFamily="34" charset="0"/>
                <a:ea typeface="Arial" pitchFamily="34" charset="-122"/>
                <a:cs typeface="Arial" pitchFamily="34" charset="-120"/>
              </a:rPr>
              <a:t>27.9%</a:t>
            </a:r>
            <a:endParaRPr lang="en-US" sz="2100" dirty="0"/>
          </a:p>
        </p:txBody>
      </p:sp>
      <p:sp>
        <p:nvSpPr>
          <p:cNvPr id="57" name="Text 51"/>
          <p:cNvSpPr/>
          <p:nvPr/>
        </p:nvSpPr>
        <p:spPr>
          <a:xfrm>
            <a:off x="1047750" y="9285763"/>
            <a:ext cx="17811750"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Illustrative mock-up; values are observed severe shares, 2025 training data. For prioritising prevention, not for automatic decisions.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1945569"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Prevention should start on rural roads, especially for motorcycles</a:t>
            </a:r>
            <a:endParaRPr lang="en-US" sz="4200" dirty="0"/>
          </a:p>
        </p:txBody>
      </p:sp>
      <p:sp>
        <p:nvSpPr>
          <p:cNvPr id="4" name="Text 2"/>
          <p:cNvSpPr/>
          <p:nvPr/>
        </p:nvSpPr>
        <p:spPr>
          <a:xfrm>
            <a:off x="13216890" y="915670"/>
            <a:ext cx="3000756"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2ECC71"/>
                </a:solidFill>
                <a:latin typeface="Arial" pitchFamily="34" charset="0"/>
                <a:ea typeface="Arial" pitchFamily="34" charset="-122"/>
                <a:cs typeface="Arial" pitchFamily="34" charset="-120"/>
              </a:rPr>
              <a:t>RECOMMENDATIONS</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solidFill>
          <a:ln/>
          <a:effectLst>
            <a:outerShdw sx="100000" sy="100000" kx="0" ky="0" algn="bl" rotWithShape="0" blurRad="114300" dist="50800" dir="16200000">
              <a:srgbClr val="2ECC71">
                <a:alpha val="100000"/>
              </a:srgbClr>
            </a:outerShdw>
          </a:effectLst>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5143500" cy="4572000"/>
          </a:xfrm>
          <a:prstGeom prst="roundRect">
            <a:avLst>
              <a:gd name="adj" fmla="val 4583"/>
            </a:avLst>
          </a:prstGeom>
          <a:gradFill rotWithShape="1">
            <a:gsLst>
              <a:gs pos="0">
                <a:srgbClr val="2ECC71">
                  <a:alpha val="12000"/>
                </a:srgbClr>
              </a:gs>
              <a:gs pos="100000">
                <a:srgbClr val="FFFFFF">
                  <a:alpha val="2000"/>
                </a:srgbClr>
              </a:gs>
            </a:gsLst>
            <a:lin ang="5400000" scaled="0"/>
          </a:gradFill>
          <a:ln w="9525">
            <a:solidFill>
              <a:srgbClr val="2ECC71">
                <a:alpha val="35000"/>
              </a:srgbClr>
            </a:solidFill>
            <a:prstDash val="solid"/>
          </a:ln>
          <a:effectLst>
            <a:outerShdw sx="100000" sy="100000" kx="0" ky="0" algn="bl" rotWithShape="0" blurRad="571500" dist="285750" dir="5400000">
              <a:srgbClr val="000000">
                <a:alpha val="75000"/>
              </a:srgbClr>
            </a:outerShdw>
          </a:effectLst>
        </p:spPr>
      </p:sp>
      <p:sp>
        <p:nvSpPr>
          <p:cNvPr id="12" name="Shape 10"/>
          <p:cNvSpPr/>
          <p:nvPr/>
        </p:nvSpPr>
        <p:spPr>
          <a:xfrm>
            <a:off x="1438275" y="3217545"/>
            <a:ext cx="942975" cy="942975"/>
          </a:xfrm>
          <a:prstGeom prst="ellipse">
            <a:avLst/>
          </a:prstGeom>
          <a:gradFill rotWithShape="1">
            <a:gsLst>
              <a:gs pos="0">
                <a:srgbClr val="2ECC71">
                  <a:alpha val="20000"/>
                </a:srgbClr>
              </a:gs>
              <a:gs pos="100000">
                <a:srgbClr val="2ECC71">
                  <a:alpha val="5000"/>
                </a:srgbClr>
              </a:gs>
            </a:gsLst>
            <a:path path="circle">
              <a:fillToRect l="50000" t="50000" r="50000" b="50000"/>
            </a:path>
          </a:gradFill>
          <a:ln w="14288">
            <a:solidFill>
              <a:srgbClr val="2ECC71">
                <a:alpha val="55000"/>
              </a:srgbClr>
            </a:solidFill>
            <a:prstDash val="solid"/>
          </a:ln>
          <a:effectLst>
            <a:outerShdw sx="100000" sy="100000" kx="0" ky="0" algn="bl" rotWithShape="0" blurRad="342900" dist="50800" dir="16200000">
              <a:srgbClr val="2ECC71">
                <a:alpha val="70000"/>
              </a:srgbClr>
            </a:outerShdw>
          </a:effectLst>
        </p:spPr>
      </p:sp>
      <p:pic>
        <p:nvPicPr>
          <p:cNvPr id="13" name="Image 0" descr="preencoded.png">    </p:cNvPr>
          <p:cNvPicPr>
            <a:picLocks noChangeAspect="1"/>
          </p:cNvPicPr>
          <p:nvPr/>
        </p:nvPicPr>
        <p:blipFill>
          <a:blip r:embed="rId2"/>
          <a:stretch>
            <a:fillRect/>
          </a:stretch>
        </p:blipFill>
        <p:spPr>
          <a:xfrm>
            <a:off x="1671638" y="3450907"/>
            <a:ext cx="476250" cy="476250"/>
          </a:xfrm>
          <a:prstGeom prst="rect">
            <a:avLst/>
          </a:prstGeom>
        </p:spPr>
      </p:pic>
      <p:sp>
        <p:nvSpPr>
          <p:cNvPr id="14" name="Text 11"/>
          <p:cNvSpPr/>
          <p:nvPr/>
        </p:nvSpPr>
        <p:spPr>
          <a:xfrm>
            <a:off x="5228590" y="3334067"/>
            <a:ext cx="648335" cy="747871"/>
          </a:xfrm>
          <a:prstGeom prst="rect">
            <a:avLst/>
          </a:prstGeom>
          <a:noFill/>
          <a:ln/>
        </p:spPr>
        <p:txBody>
          <a:bodyPr wrap="square" lIns="25400" tIns="25400" rIns="25400" bIns="25400" rtlCol="0" anchor="t">
            <a:normAutofit/>
          </a:bodyPr>
          <a:lstStyle/>
          <a:p>
            <a:pPr algn="l" indent="0" marL="0">
              <a:lnSpc>
                <a:spcPct val="119674"/>
              </a:lnSpc>
              <a:buNone/>
            </a:pPr>
            <a:r>
              <a:rPr lang="en-US" sz="4050" b="1" dirty="0">
                <a:solidFill>
                  <a:srgbClr val="B8C0C8">
                    <a:alpha val="35000"/>
                  </a:srgbClr>
                </a:solidFill>
                <a:latin typeface="Arial" pitchFamily="34" charset="0"/>
                <a:ea typeface="Arial" pitchFamily="34" charset="-122"/>
                <a:cs typeface="Arial" pitchFamily="34" charset="-120"/>
              </a:rPr>
              <a:t>01</a:t>
            </a:r>
            <a:endParaRPr lang="en-US" sz="4050" dirty="0"/>
          </a:p>
        </p:txBody>
      </p:sp>
      <p:sp>
        <p:nvSpPr>
          <p:cNvPr id="15" name="Text 12"/>
          <p:cNvSpPr/>
          <p:nvPr/>
        </p:nvSpPr>
        <p:spPr>
          <a:xfrm>
            <a:off x="1438275" y="4427220"/>
            <a:ext cx="4493324" cy="906780"/>
          </a:xfrm>
          <a:prstGeom prst="rect">
            <a:avLst/>
          </a:prstGeom>
          <a:noFill/>
          <a:ln/>
        </p:spPr>
        <p:txBody>
          <a:bodyPr wrap="square" lIns="25400" tIns="25400" rIns="25400" bIns="25400" rtlCol="0" anchor="t">
            <a:normAutofit/>
          </a:bodyPr>
          <a:lstStyle/>
          <a:p>
            <a:pPr algn="l" indent="0" marL="0">
              <a:lnSpc>
                <a:spcPct val="103051"/>
              </a:lnSpc>
              <a:buNone/>
            </a:pPr>
            <a:r>
              <a:rPr lang="en-US" sz="2850" b="1" dirty="0">
                <a:solidFill>
                  <a:srgbClr val="F5F7FA"/>
                </a:solidFill>
                <a:latin typeface="Arial" pitchFamily="34" charset="0"/>
                <a:ea typeface="Arial" pitchFamily="34" charset="-122"/>
                <a:cs typeface="Arial" pitchFamily="34" charset="-120"/>
              </a:rPr>
              <a:t>Prioritise rural roads, especially for motorcycles</a:t>
            </a:r>
            <a:endParaRPr lang="en-US" sz="2850" dirty="0"/>
          </a:p>
        </p:txBody>
      </p:sp>
      <p:sp>
        <p:nvSpPr>
          <p:cNvPr id="16" name="Shape 13"/>
          <p:cNvSpPr/>
          <p:nvPr/>
        </p:nvSpPr>
        <p:spPr>
          <a:xfrm>
            <a:off x="1438275" y="5562600"/>
            <a:ext cx="762000" cy="19050"/>
          </a:xfrm>
          <a:prstGeom prst="rect">
            <a:avLst/>
          </a:prstGeom>
          <a:solidFill>
            <a:srgbClr val="2ECC71">
              <a:alpha val="60000"/>
            </a:srgbClr>
          </a:solidFill>
          <a:ln/>
        </p:spPr>
      </p:sp>
      <p:sp>
        <p:nvSpPr>
          <p:cNvPr id="17" name="Text 14"/>
          <p:cNvSpPr/>
          <p:nvPr/>
        </p:nvSpPr>
        <p:spPr>
          <a:xfrm>
            <a:off x="1438275" y="5848350"/>
            <a:ext cx="4493324" cy="905828"/>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Here more than 1 in 3 motorcycle accidents is severe, so prevention reaches the most serious cases.</a:t>
            </a:r>
            <a:endParaRPr lang="en-US" sz="1650" dirty="0"/>
          </a:p>
        </p:txBody>
      </p:sp>
      <p:sp>
        <p:nvSpPr>
          <p:cNvPr id="18" name="Shape 15"/>
          <p:cNvSpPr/>
          <p:nvPr/>
        </p:nvSpPr>
        <p:spPr>
          <a:xfrm>
            <a:off x="6572250" y="2769870"/>
            <a:ext cx="5143500" cy="4572000"/>
          </a:xfrm>
          <a:prstGeom prst="roundRect">
            <a:avLst>
              <a:gd name="adj" fmla="val 458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9" name="Shape 16"/>
          <p:cNvSpPr/>
          <p:nvPr/>
        </p:nvSpPr>
        <p:spPr>
          <a:xfrm>
            <a:off x="6962775" y="3217545"/>
            <a:ext cx="942975" cy="942975"/>
          </a:xfrm>
          <a:prstGeom prst="ellipse">
            <a:avLst/>
          </a:prstGeom>
          <a:gradFill rotWithShape="1">
            <a:gsLst>
              <a:gs pos="0">
                <a:srgbClr val="2ECC71">
                  <a:alpha val="20000"/>
                </a:srgbClr>
              </a:gs>
              <a:gs pos="100000">
                <a:srgbClr val="2ECC71">
                  <a:alpha val="5000"/>
                </a:srgbClr>
              </a:gs>
            </a:gsLst>
            <a:path path="circle">
              <a:fillToRect l="50000" t="50000" r="50000" b="50000"/>
            </a:path>
          </a:gradFill>
          <a:ln w="14288">
            <a:solidFill>
              <a:srgbClr val="2ECC71">
                <a:alpha val="55000"/>
              </a:srgbClr>
            </a:solidFill>
            <a:prstDash val="solid"/>
          </a:ln>
          <a:effectLst>
            <a:outerShdw sx="100000" sy="100000" kx="0" ky="0" algn="bl" rotWithShape="0" blurRad="342900" dist="50800" dir="16200000">
              <a:srgbClr val="2ECC71">
                <a:alpha val="70000"/>
              </a:srgbClr>
            </a:outerShdw>
          </a:effectLst>
        </p:spPr>
      </p:sp>
      <p:pic>
        <p:nvPicPr>
          <p:cNvPr id="20" name="Image 1" descr="preencoded.png">    </p:cNvPr>
          <p:cNvPicPr>
            <a:picLocks noChangeAspect="1"/>
          </p:cNvPicPr>
          <p:nvPr/>
        </p:nvPicPr>
        <p:blipFill>
          <a:blip r:embed="rId3"/>
          <a:stretch>
            <a:fillRect/>
          </a:stretch>
        </p:blipFill>
        <p:spPr>
          <a:xfrm>
            <a:off x="7196138" y="3450907"/>
            <a:ext cx="476250" cy="476250"/>
          </a:xfrm>
          <a:prstGeom prst="rect">
            <a:avLst/>
          </a:prstGeom>
        </p:spPr>
      </p:pic>
      <p:sp>
        <p:nvSpPr>
          <p:cNvPr id="21" name="Text 17"/>
          <p:cNvSpPr/>
          <p:nvPr/>
        </p:nvSpPr>
        <p:spPr>
          <a:xfrm>
            <a:off x="10753090" y="3334067"/>
            <a:ext cx="648335" cy="747871"/>
          </a:xfrm>
          <a:prstGeom prst="rect">
            <a:avLst/>
          </a:prstGeom>
          <a:noFill/>
          <a:ln/>
        </p:spPr>
        <p:txBody>
          <a:bodyPr wrap="square" lIns="25400" tIns="25400" rIns="25400" bIns="25400" rtlCol="0" anchor="t">
            <a:normAutofit/>
          </a:bodyPr>
          <a:lstStyle/>
          <a:p>
            <a:pPr algn="l" indent="0" marL="0">
              <a:lnSpc>
                <a:spcPct val="119674"/>
              </a:lnSpc>
              <a:buNone/>
            </a:pPr>
            <a:r>
              <a:rPr lang="en-US" sz="4050" b="1" dirty="0">
                <a:solidFill>
                  <a:srgbClr val="B8C0C8">
                    <a:alpha val="35000"/>
                  </a:srgbClr>
                </a:solidFill>
                <a:latin typeface="Arial" pitchFamily="34" charset="0"/>
                <a:ea typeface="Arial" pitchFamily="34" charset="-122"/>
                <a:cs typeface="Arial" pitchFamily="34" charset="-120"/>
              </a:rPr>
              <a:t>02</a:t>
            </a:r>
            <a:endParaRPr lang="en-US" sz="4050" dirty="0"/>
          </a:p>
        </p:txBody>
      </p:sp>
      <p:sp>
        <p:nvSpPr>
          <p:cNvPr id="22" name="Text 18"/>
          <p:cNvSpPr/>
          <p:nvPr/>
        </p:nvSpPr>
        <p:spPr>
          <a:xfrm>
            <a:off x="6962775" y="4427220"/>
            <a:ext cx="4493324" cy="906780"/>
          </a:xfrm>
          <a:prstGeom prst="rect">
            <a:avLst/>
          </a:prstGeom>
          <a:noFill/>
          <a:ln/>
        </p:spPr>
        <p:txBody>
          <a:bodyPr wrap="square" lIns="25400" tIns="25400" rIns="25400" bIns="25400" rtlCol="0" anchor="t">
            <a:normAutofit/>
          </a:bodyPr>
          <a:lstStyle/>
          <a:p>
            <a:pPr algn="l" indent="0" marL="0">
              <a:lnSpc>
                <a:spcPct val="103051"/>
              </a:lnSpc>
              <a:buNone/>
            </a:pPr>
            <a:r>
              <a:rPr lang="en-US" sz="2850" b="1" dirty="0">
                <a:solidFill>
                  <a:srgbClr val="F5F7FA"/>
                </a:solidFill>
                <a:latin typeface="Arial" pitchFamily="34" charset="0"/>
                <a:ea typeface="Arial" pitchFamily="34" charset="-122"/>
                <a:cs typeface="Arial" pitchFamily="34" charset="-120"/>
              </a:rPr>
              <a:t>Use the model as a risk ranking</a:t>
            </a:r>
            <a:endParaRPr lang="en-US" sz="2850" dirty="0"/>
          </a:p>
        </p:txBody>
      </p:sp>
      <p:sp>
        <p:nvSpPr>
          <p:cNvPr id="23" name="Shape 19"/>
          <p:cNvSpPr/>
          <p:nvPr/>
        </p:nvSpPr>
        <p:spPr>
          <a:xfrm>
            <a:off x="6962775" y="5562600"/>
            <a:ext cx="762000" cy="19050"/>
          </a:xfrm>
          <a:prstGeom prst="rect">
            <a:avLst/>
          </a:prstGeom>
          <a:solidFill>
            <a:srgbClr val="2ECC71">
              <a:alpha val="60000"/>
            </a:srgbClr>
          </a:solidFill>
          <a:ln/>
        </p:spPr>
      </p:sp>
      <p:sp>
        <p:nvSpPr>
          <p:cNvPr id="24" name="Text 20"/>
          <p:cNvSpPr/>
          <p:nvPr/>
        </p:nvSpPr>
        <p:spPr>
          <a:xfrm>
            <a:off x="6962775" y="5848350"/>
            <a:ext cx="4493324"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Read the percentages; don’t treat it as a yes/no decision</a:t>
            </a:r>
            <a:endParaRPr lang="en-US" sz="1800" dirty="0"/>
          </a:p>
        </p:txBody>
      </p:sp>
      <p:sp>
        <p:nvSpPr>
          <p:cNvPr id="25" name="Shape 21"/>
          <p:cNvSpPr/>
          <p:nvPr/>
        </p:nvSpPr>
        <p:spPr>
          <a:xfrm>
            <a:off x="12096750" y="2769870"/>
            <a:ext cx="5143500" cy="4572000"/>
          </a:xfrm>
          <a:prstGeom prst="roundRect">
            <a:avLst>
              <a:gd name="adj" fmla="val 458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6" name="Shape 22"/>
          <p:cNvSpPr/>
          <p:nvPr/>
        </p:nvSpPr>
        <p:spPr>
          <a:xfrm>
            <a:off x="12487275" y="3217545"/>
            <a:ext cx="942975" cy="942975"/>
          </a:xfrm>
          <a:prstGeom prst="ellipse">
            <a:avLst/>
          </a:prstGeom>
          <a:gradFill rotWithShape="1">
            <a:gsLst>
              <a:gs pos="0">
                <a:srgbClr val="2ECC71">
                  <a:alpha val="20000"/>
                </a:srgbClr>
              </a:gs>
              <a:gs pos="100000">
                <a:srgbClr val="2ECC71">
                  <a:alpha val="5000"/>
                </a:srgbClr>
              </a:gs>
            </a:gsLst>
            <a:path path="circle">
              <a:fillToRect l="50000" t="50000" r="50000" b="50000"/>
            </a:path>
          </a:gradFill>
          <a:ln w="14288">
            <a:solidFill>
              <a:srgbClr val="2ECC71">
                <a:alpha val="55000"/>
              </a:srgbClr>
            </a:solidFill>
            <a:prstDash val="solid"/>
          </a:ln>
          <a:effectLst>
            <a:outerShdw sx="100000" sy="100000" kx="0" ky="0" algn="bl" rotWithShape="0" blurRad="342900" dist="50800" dir="16200000">
              <a:srgbClr val="2ECC71">
                <a:alpha val="70000"/>
              </a:srgbClr>
            </a:outerShdw>
          </a:effectLst>
        </p:spPr>
      </p:sp>
      <p:pic>
        <p:nvPicPr>
          <p:cNvPr id="27" name="Image 2" descr="preencoded.png">    </p:cNvPr>
          <p:cNvPicPr>
            <a:picLocks noChangeAspect="1"/>
          </p:cNvPicPr>
          <p:nvPr/>
        </p:nvPicPr>
        <p:blipFill>
          <a:blip r:embed="rId4"/>
          <a:stretch>
            <a:fillRect/>
          </a:stretch>
        </p:blipFill>
        <p:spPr>
          <a:xfrm>
            <a:off x="12720638" y="3450907"/>
            <a:ext cx="476250" cy="476250"/>
          </a:xfrm>
          <a:prstGeom prst="rect">
            <a:avLst/>
          </a:prstGeom>
        </p:spPr>
      </p:pic>
      <p:sp>
        <p:nvSpPr>
          <p:cNvPr id="28" name="Text 23"/>
          <p:cNvSpPr/>
          <p:nvPr/>
        </p:nvSpPr>
        <p:spPr>
          <a:xfrm>
            <a:off x="16277590" y="3334067"/>
            <a:ext cx="648335" cy="747871"/>
          </a:xfrm>
          <a:prstGeom prst="rect">
            <a:avLst/>
          </a:prstGeom>
          <a:noFill/>
          <a:ln/>
        </p:spPr>
        <p:txBody>
          <a:bodyPr wrap="square" lIns="25400" tIns="25400" rIns="25400" bIns="25400" rtlCol="0" anchor="t">
            <a:normAutofit/>
          </a:bodyPr>
          <a:lstStyle/>
          <a:p>
            <a:pPr algn="l" indent="0" marL="0">
              <a:lnSpc>
                <a:spcPct val="119674"/>
              </a:lnSpc>
              <a:buNone/>
            </a:pPr>
            <a:r>
              <a:rPr lang="en-US" sz="4050" b="1" dirty="0">
                <a:solidFill>
                  <a:srgbClr val="B8C0C8">
                    <a:alpha val="35000"/>
                  </a:srgbClr>
                </a:solidFill>
                <a:latin typeface="Arial" pitchFamily="34" charset="0"/>
                <a:ea typeface="Arial" pitchFamily="34" charset="-122"/>
                <a:cs typeface="Arial" pitchFamily="34" charset="-120"/>
              </a:rPr>
              <a:t>03</a:t>
            </a:r>
            <a:endParaRPr lang="en-US" sz="4050" dirty="0"/>
          </a:p>
        </p:txBody>
      </p:sp>
      <p:sp>
        <p:nvSpPr>
          <p:cNvPr id="29" name="Text 24"/>
          <p:cNvSpPr/>
          <p:nvPr/>
        </p:nvSpPr>
        <p:spPr>
          <a:xfrm>
            <a:off x="12487275" y="4427220"/>
            <a:ext cx="4493324" cy="906780"/>
          </a:xfrm>
          <a:prstGeom prst="rect">
            <a:avLst/>
          </a:prstGeom>
          <a:noFill/>
          <a:ln/>
        </p:spPr>
        <p:txBody>
          <a:bodyPr wrap="square" lIns="25400" tIns="25400" rIns="25400" bIns="25400" rtlCol="0" anchor="t">
            <a:normAutofit/>
          </a:bodyPr>
          <a:lstStyle/>
          <a:p>
            <a:pPr algn="l" indent="0" marL="0">
              <a:lnSpc>
                <a:spcPct val="103051"/>
              </a:lnSpc>
              <a:buNone/>
            </a:pPr>
            <a:r>
              <a:rPr lang="en-US" sz="2850" b="1" dirty="0">
                <a:solidFill>
                  <a:srgbClr val="F5F7FA"/>
                </a:solidFill>
                <a:latin typeface="Arial" pitchFamily="34" charset="0"/>
                <a:ea typeface="Arial" pitchFamily="34" charset="-122"/>
                <a:cs typeface="Arial" pitchFamily="34" charset="-120"/>
              </a:rPr>
              <a:t>Give cities their own threshold or model</a:t>
            </a:r>
            <a:endParaRPr lang="en-US" sz="2850" dirty="0"/>
          </a:p>
        </p:txBody>
      </p:sp>
      <p:sp>
        <p:nvSpPr>
          <p:cNvPr id="30" name="Shape 25"/>
          <p:cNvSpPr/>
          <p:nvPr/>
        </p:nvSpPr>
        <p:spPr>
          <a:xfrm>
            <a:off x="12487275" y="5562600"/>
            <a:ext cx="762000" cy="19050"/>
          </a:xfrm>
          <a:prstGeom prst="rect">
            <a:avLst/>
          </a:prstGeom>
          <a:solidFill>
            <a:srgbClr val="2ECC71">
              <a:alpha val="60000"/>
            </a:srgbClr>
          </a:solidFill>
          <a:ln/>
        </p:spPr>
      </p:sp>
      <p:sp>
        <p:nvSpPr>
          <p:cNvPr id="31" name="Text 26"/>
          <p:cNvSpPr/>
          <p:nvPr/>
        </p:nvSpPr>
        <p:spPr>
          <a:xfrm>
            <a:off x="12487275" y="5848350"/>
            <a:ext cx="4493324"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One national threshold finds only about 1 in 3 severe city accidents.</a:t>
            </a:r>
            <a:endParaRPr lang="en-US" sz="1800" dirty="0"/>
          </a:p>
        </p:txBody>
      </p:sp>
      <p:sp>
        <p:nvSpPr>
          <p:cNvPr id="32" name="Text 27"/>
          <p:cNvSpPr/>
          <p:nvPr/>
        </p:nvSpPr>
        <p:spPr>
          <a:xfrm>
            <a:off x="238125" y="9285763"/>
            <a:ext cx="17811750" cy="353536"/>
          </a:xfrm>
          <a:prstGeom prst="rect">
            <a:avLst/>
          </a:prstGeom>
          <a:noFill/>
          <a:ln/>
        </p:spPr>
        <p:txBody>
          <a:bodyPr wrap="square" lIns="25400" tIns="25400" rIns="25400" bIns="25400" rtlCol="0" anchor="t">
            <a:normAutofit/>
          </a:bodyPr>
          <a:lstStyle/>
          <a:p>
            <a:pPr algn="ctr" indent="0" marL="0">
              <a:lnSpc>
                <a:spcPct val="117089"/>
              </a:lnSpc>
              <a:buNone/>
            </a:pPr>
            <a:r>
              <a:rPr lang="en-US" sz="1800" dirty="0">
                <a:solidFill>
                  <a:srgbClr val="B8C0C8"/>
                </a:solidFill>
                <a:latin typeface="Arial" pitchFamily="34" charset="0"/>
                <a:ea typeface="Arial" pitchFamily="34" charset="-122"/>
                <a:cs typeface="Arial" pitchFamily="34" charset="-120"/>
              </a:rPr>
              <a:t>Our data shows where risk is highest, not which measure works best.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F33">
                  <a:alpha val="100000"/>
                </a:srgbClr>
              </a:gs>
              <a:gs pos="45000">
                <a:srgbClr val="1A1D20">
                  <a:alpha val="100000"/>
                </a:srgbClr>
              </a:gs>
              <a:gs pos="100000">
                <a:srgbClr val="0C0D0F">
                  <a:alpha val="100000"/>
                </a:srgbClr>
              </a:gs>
            </a:gsLst>
            <a:path path="circle">
              <a:fillToRect l="78000" t="40000" r="22000" b="60000"/>
            </a:path>
          </a:gradFill>
          <a:ln/>
        </p:spPr>
      </p:sp>
      <p:sp>
        <p:nvSpPr>
          <p:cNvPr id="3" name="Text 1"/>
          <p:cNvSpPr/>
          <p:nvPr/>
        </p:nvSpPr>
        <p:spPr>
          <a:xfrm>
            <a:off x="1047750" y="762000"/>
            <a:ext cx="11945569"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Real road and speed data is the most promising next step</a:t>
            </a:r>
            <a:endParaRPr lang="en-US" sz="4200" dirty="0"/>
          </a:p>
        </p:txBody>
      </p:sp>
      <p:sp>
        <p:nvSpPr>
          <p:cNvPr id="4" name="Text 2"/>
          <p:cNvSpPr/>
          <p:nvPr/>
        </p:nvSpPr>
        <p:spPr>
          <a:xfrm>
            <a:off x="13216890" y="915670"/>
            <a:ext cx="3000756"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2ECC71"/>
                </a:solidFill>
                <a:latin typeface="Arial" pitchFamily="34" charset="0"/>
                <a:ea typeface="Arial" pitchFamily="34" charset="-122"/>
                <a:cs typeface="Arial" pitchFamily="34" charset="-120"/>
              </a:rPr>
              <a:t>RECOMMENDATIONS</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solidFill>
          <a:ln/>
          <a:effectLst>
            <a:outerShdw sx="100000" sy="100000" kx="0" ky="0" algn="bl" rotWithShape="0" blurRad="114300" dist="50800" dir="16200000">
              <a:srgbClr val="2ECC71">
                <a:alpha val="100000"/>
              </a:srgbClr>
            </a:outerShdw>
          </a:effectLst>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5619750" cy="6831330"/>
          </a:xfrm>
          <a:prstGeom prst="roundRect">
            <a:avLst>
              <a:gd name="adj" fmla="val 3729"/>
            </a:avLst>
          </a:prstGeom>
          <a:gradFill rotWithShape="1">
            <a:gsLst>
              <a:gs pos="0">
                <a:srgbClr val="FFBE0B">
                  <a:alpha val="7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438275" y="3141345"/>
            <a:ext cx="532257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LIMITS</a:t>
            </a:r>
            <a:endParaRPr lang="en-US" sz="1650" dirty="0"/>
          </a:p>
        </p:txBody>
      </p:sp>
      <p:pic>
        <p:nvPicPr>
          <p:cNvPr id="13" name="Image 0" descr="preencoded.png">    </p:cNvPr>
          <p:cNvPicPr>
            <a:picLocks noChangeAspect="1"/>
          </p:cNvPicPr>
          <p:nvPr/>
        </p:nvPicPr>
        <p:blipFill>
          <a:blip r:embed="rId2"/>
          <a:stretch>
            <a:fillRect/>
          </a:stretch>
        </p:blipFill>
        <p:spPr>
          <a:xfrm>
            <a:off x="1438275" y="3680460"/>
            <a:ext cx="361950" cy="361950"/>
          </a:xfrm>
          <a:prstGeom prst="rect">
            <a:avLst/>
          </a:prstGeom>
        </p:spPr>
      </p:pic>
      <p:sp>
        <p:nvSpPr>
          <p:cNvPr id="14" name="Text 11"/>
          <p:cNvSpPr/>
          <p:nvPr/>
        </p:nvSpPr>
        <p:spPr>
          <a:xfrm>
            <a:off x="1990725" y="3661410"/>
            <a:ext cx="4414838"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No speed, road type, helmet, seatbelt or vehicle data</a:t>
            </a:r>
            <a:endParaRPr lang="en-US" sz="2550" dirty="0"/>
          </a:p>
        </p:txBody>
      </p:sp>
      <p:pic>
        <p:nvPicPr>
          <p:cNvPr id="15" name="Image 1" descr="preencoded.png">    </p:cNvPr>
          <p:cNvPicPr>
            <a:picLocks noChangeAspect="1"/>
          </p:cNvPicPr>
          <p:nvPr/>
        </p:nvPicPr>
        <p:blipFill>
          <a:blip r:embed="rId3"/>
          <a:stretch>
            <a:fillRect/>
          </a:stretch>
        </p:blipFill>
        <p:spPr>
          <a:xfrm>
            <a:off x="1438275" y="4802823"/>
            <a:ext cx="361950" cy="361950"/>
          </a:xfrm>
          <a:prstGeom prst="rect">
            <a:avLst/>
          </a:prstGeom>
        </p:spPr>
      </p:pic>
      <p:sp>
        <p:nvSpPr>
          <p:cNvPr id="16" name="Text 12"/>
          <p:cNvSpPr/>
          <p:nvPr/>
        </p:nvSpPr>
        <p:spPr>
          <a:xfrm>
            <a:off x="1990725" y="4783773"/>
            <a:ext cx="3347212"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One year only (2025)</a:t>
            </a:r>
            <a:endParaRPr lang="en-US" sz="2550" dirty="0"/>
          </a:p>
        </p:txBody>
      </p:sp>
      <p:pic>
        <p:nvPicPr>
          <p:cNvPr id="17" name="Image 2" descr="preencoded.png">    </p:cNvPr>
          <p:cNvPicPr>
            <a:picLocks noChangeAspect="1"/>
          </p:cNvPicPr>
          <p:nvPr/>
        </p:nvPicPr>
        <p:blipFill>
          <a:blip r:embed="rId4"/>
          <a:stretch>
            <a:fillRect/>
          </a:stretch>
        </p:blipFill>
        <p:spPr>
          <a:xfrm>
            <a:off x="1438275" y="5478304"/>
            <a:ext cx="361950" cy="361950"/>
          </a:xfrm>
          <a:prstGeom prst="rect">
            <a:avLst/>
          </a:prstGeom>
        </p:spPr>
      </p:pic>
      <p:sp>
        <p:nvSpPr>
          <p:cNvPr id="18" name="Text 13"/>
          <p:cNvSpPr/>
          <p:nvPr/>
        </p:nvSpPr>
        <p:spPr>
          <a:xfrm>
            <a:off x="1990725" y="5459254"/>
            <a:ext cx="4414838"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Density describes the municipality, not the road</a:t>
            </a:r>
            <a:endParaRPr lang="en-US" sz="2550" dirty="0"/>
          </a:p>
        </p:txBody>
      </p:sp>
      <p:pic>
        <p:nvPicPr>
          <p:cNvPr id="19" name="Image 3" descr="preencoded.png">    </p:cNvPr>
          <p:cNvPicPr>
            <a:picLocks noChangeAspect="1"/>
          </p:cNvPicPr>
          <p:nvPr/>
        </p:nvPicPr>
        <p:blipFill>
          <a:blip r:embed="rId5"/>
          <a:stretch>
            <a:fillRect/>
          </a:stretch>
        </p:blipFill>
        <p:spPr>
          <a:xfrm>
            <a:off x="1438275" y="6600666"/>
            <a:ext cx="361950" cy="361950"/>
          </a:xfrm>
          <a:prstGeom prst="rect">
            <a:avLst/>
          </a:prstGeom>
        </p:spPr>
      </p:pic>
      <p:sp>
        <p:nvSpPr>
          <p:cNvPr id="20" name="Text 14"/>
          <p:cNvSpPr/>
          <p:nvPr/>
        </p:nvSpPr>
        <p:spPr>
          <a:xfrm>
            <a:off x="1990725" y="6581616"/>
            <a:ext cx="3248374"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Patterns, not causes</a:t>
            </a:r>
            <a:endParaRPr lang="en-US" sz="2550" dirty="0"/>
          </a:p>
        </p:txBody>
      </p:sp>
      <p:sp>
        <p:nvSpPr>
          <p:cNvPr id="21" name="Shape 15"/>
          <p:cNvSpPr/>
          <p:nvPr/>
        </p:nvSpPr>
        <p:spPr>
          <a:xfrm>
            <a:off x="7239000" y="2769870"/>
            <a:ext cx="5619750" cy="6831330"/>
          </a:xfrm>
          <a:prstGeom prst="roundRect">
            <a:avLst>
              <a:gd name="adj" fmla="val 3729"/>
            </a:avLst>
          </a:prstGeom>
          <a:gradFill rotWithShape="1">
            <a:gsLst>
              <a:gs pos="0">
                <a:srgbClr val="2ECC71">
                  <a:alpha val="8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2" name="Text 16"/>
          <p:cNvSpPr/>
          <p:nvPr/>
        </p:nvSpPr>
        <p:spPr>
          <a:xfrm>
            <a:off x="7629525" y="3141345"/>
            <a:ext cx="5322570"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NEXT STEPS</a:t>
            </a:r>
            <a:endParaRPr lang="en-US" sz="1650" dirty="0"/>
          </a:p>
        </p:txBody>
      </p:sp>
      <p:pic>
        <p:nvPicPr>
          <p:cNvPr id="23" name="Image 4" descr="preencoded.png">    </p:cNvPr>
          <p:cNvPicPr>
            <a:picLocks noChangeAspect="1"/>
          </p:cNvPicPr>
          <p:nvPr/>
        </p:nvPicPr>
        <p:blipFill>
          <a:blip r:embed="rId6"/>
          <a:stretch>
            <a:fillRect/>
          </a:stretch>
        </p:blipFill>
        <p:spPr>
          <a:xfrm>
            <a:off x="7629525" y="3680460"/>
            <a:ext cx="361950" cy="361950"/>
          </a:xfrm>
          <a:prstGeom prst="rect">
            <a:avLst/>
          </a:prstGeom>
        </p:spPr>
      </p:pic>
      <p:sp>
        <p:nvSpPr>
          <p:cNvPr id="24" name="Text 17"/>
          <p:cNvSpPr/>
          <p:nvPr/>
        </p:nvSpPr>
        <p:spPr>
          <a:xfrm>
            <a:off x="8181975" y="3661410"/>
            <a:ext cx="4414838"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Road type and speed limits (e.g. OpenStreetMap)</a:t>
            </a:r>
            <a:endParaRPr lang="en-US" sz="2550" dirty="0"/>
          </a:p>
        </p:txBody>
      </p:sp>
      <p:pic>
        <p:nvPicPr>
          <p:cNvPr id="25" name="Image 5" descr="preencoded.png">    </p:cNvPr>
          <p:cNvPicPr>
            <a:picLocks noChangeAspect="1"/>
          </p:cNvPicPr>
          <p:nvPr/>
        </p:nvPicPr>
        <p:blipFill>
          <a:blip r:embed="rId7"/>
          <a:stretch>
            <a:fillRect/>
          </a:stretch>
        </p:blipFill>
        <p:spPr>
          <a:xfrm>
            <a:off x="7629525" y="4802823"/>
            <a:ext cx="361950" cy="361950"/>
          </a:xfrm>
          <a:prstGeom prst="rect">
            <a:avLst/>
          </a:prstGeom>
        </p:spPr>
      </p:pic>
      <p:sp>
        <p:nvSpPr>
          <p:cNvPr id="26" name="Text 18"/>
          <p:cNvSpPr/>
          <p:nvPr/>
        </p:nvSpPr>
        <p:spPr>
          <a:xfrm>
            <a:off x="8181975" y="4783773"/>
            <a:ext cx="4414838"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Separate urban and rural thresholds</a:t>
            </a:r>
            <a:endParaRPr lang="en-US" sz="2550" dirty="0"/>
          </a:p>
        </p:txBody>
      </p:sp>
      <p:pic>
        <p:nvPicPr>
          <p:cNvPr id="27" name="Image 6" descr="preencoded.png">    </p:cNvPr>
          <p:cNvPicPr>
            <a:picLocks noChangeAspect="1"/>
          </p:cNvPicPr>
          <p:nvPr/>
        </p:nvPicPr>
        <p:blipFill>
          <a:blip r:embed="rId8"/>
          <a:stretch>
            <a:fillRect/>
          </a:stretch>
        </p:blipFill>
        <p:spPr>
          <a:xfrm>
            <a:off x="7629525" y="5925185"/>
            <a:ext cx="361950" cy="361950"/>
          </a:xfrm>
          <a:prstGeom prst="rect">
            <a:avLst/>
          </a:prstGeom>
        </p:spPr>
      </p:pic>
      <p:sp>
        <p:nvSpPr>
          <p:cNvPr id="28" name="Text 19"/>
          <p:cNvSpPr/>
          <p:nvPr/>
        </p:nvSpPr>
        <p:spPr>
          <a:xfrm>
            <a:off x="8181975" y="5906135"/>
            <a:ext cx="336711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5F7FA"/>
                </a:solidFill>
                <a:latin typeface="Arial" pitchFamily="34" charset="0"/>
                <a:ea typeface="Arial" pitchFamily="34" charset="-122"/>
                <a:cs typeface="Arial" pitchFamily="34" charset="-120"/>
              </a:rPr>
              <a:t>Several years of data</a:t>
            </a:r>
            <a:endParaRPr lang="en-US" sz="2550" dirty="0"/>
          </a:p>
        </p:txBody>
      </p:sp>
      <p:sp>
        <p:nvSpPr>
          <p:cNvPr id="29" name="Text 20"/>
          <p:cNvSpPr/>
          <p:nvPr/>
        </p:nvSpPr>
        <p:spPr>
          <a:xfrm>
            <a:off x="13373100" y="3037046"/>
            <a:ext cx="3924300" cy="1045845"/>
          </a:xfrm>
          <a:prstGeom prst="rect">
            <a:avLst/>
          </a:prstGeom>
          <a:noFill/>
          <a:ln/>
        </p:spPr>
        <p:txBody>
          <a:bodyPr wrap="square" lIns="25400" tIns="25400" rIns="25400" bIns="25400" rtlCol="0" anchor="t">
            <a:normAutofit/>
          </a:bodyPr>
          <a:lstStyle/>
          <a:p>
            <a:pPr algn="ctr" indent="0" marL="0">
              <a:lnSpc>
                <a:spcPct val="98879"/>
              </a:lnSpc>
              <a:buNone/>
            </a:pPr>
            <a:r>
              <a:rPr lang="en-US" sz="3450" b="1" dirty="0">
                <a:solidFill>
                  <a:srgbClr val="F5F7FA"/>
                </a:solidFill>
                <a:latin typeface="Arial" pitchFamily="34" charset="0"/>
                <a:ea typeface="Arial" pitchFamily="34" charset="-122"/>
                <a:cs typeface="Arial" pitchFamily="34" charset="-120"/>
              </a:rPr>
              <a:t>Thank you. Questions?</a:t>
            </a:r>
            <a:endParaRPr lang="en-US" sz="3450" dirty="0"/>
          </a:p>
        </p:txBody>
      </p:sp>
      <p:sp>
        <p:nvSpPr>
          <p:cNvPr id="30" name="Text 21"/>
          <p:cNvSpPr/>
          <p:nvPr/>
        </p:nvSpPr>
        <p:spPr>
          <a:xfrm>
            <a:off x="13373100" y="4140041"/>
            <a:ext cx="3924300" cy="533400"/>
          </a:xfrm>
          <a:prstGeom prst="rect">
            <a:avLst/>
          </a:prstGeom>
          <a:noFill/>
          <a:ln/>
        </p:spPr>
        <p:txBody>
          <a:bodyPr wrap="square" lIns="25400" tIns="25400" rIns="25400" bIns="25400" rtlCol="0" anchor="t">
            <a:normAutofit/>
          </a:bodyPr>
          <a:lstStyle/>
          <a:p>
            <a:pPr algn="ctr" indent="0" marL="0">
              <a:lnSpc>
                <a:spcPct val="109937"/>
              </a:lnSpc>
              <a:buNone/>
            </a:pPr>
            <a:r>
              <a:rPr lang="en-US" sz="1500" b="1" spc="240" kern="0" dirty="0">
                <a:solidFill>
                  <a:srgbClr val="B8C0C8"/>
                </a:solidFill>
                <a:latin typeface="Arial" pitchFamily="34" charset="0"/>
                <a:ea typeface="Arial" pitchFamily="34" charset="-122"/>
                <a:cs typeface="Arial" pitchFamily="34" charset="-120"/>
              </a:rPr>
              <a:t>THE RANDOM FOREST RANGERS</a:t>
            </a:r>
            <a:endParaRPr lang="en-US" sz="1500" dirty="0"/>
          </a:p>
        </p:txBody>
      </p:sp>
      <p:sp>
        <p:nvSpPr>
          <p:cNvPr id="31" name="Shape 22"/>
          <p:cNvSpPr/>
          <p:nvPr/>
        </p:nvSpPr>
        <p:spPr>
          <a:xfrm>
            <a:off x="12677775" y="3413919"/>
            <a:ext cx="5314950" cy="5314950"/>
          </a:xfrm>
          <a:prstGeom prst="rect">
            <a:avLst/>
          </a:prstGeom>
          <a:gradFill rotWithShape="1">
            <a:gsLst>
              <a:gs pos="0">
                <a:srgbClr val="2ECC71">
                  <a:alpha val="22000"/>
                </a:srgbClr>
              </a:gs>
              <a:gs pos="62000">
                <a:srgbClr val="2ECC71">
                  <a:alpha val="0"/>
                </a:srgbClr>
              </a:gs>
            </a:gsLst>
            <a:path path="circle">
              <a:fillToRect l="50000" t="50000" r="50000" b="50000"/>
            </a:path>
          </a:gradFill>
          <a:ln/>
        </p:spPr>
      </p:sp>
      <p:sp>
        <p:nvSpPr>
          <p:cNvPr id="32" name="Shape 23"/>
          <p:cNvSpPr/>
          <p:nvPr/>
        </p:nvSpPr>
        <p:spPr>
          <a:xfrm>
            <a:off x="14744700" y="4902041"/>
            <a:ext cx="1181100" cy="3236119"/>
          </a:xfrm>
          <a:prstGeom prst="roundRect">
            <a:avLst>
              <a:gd name="adj" fmla="val 32000"/>
            </a:avLst>
          </a:prstGeom>
          <a:gradFill rotWithShape="1">
            <a:gsLst>
              <a:gs pos="0">
                <a:srgbClr val="0F1113">
                  <a:alpha val="100000"/>
                </a:srgbClr>
              </a:gs>
              <a:gs pos="18000">
                <a:srgbClr val="3A4148">
                  <a:alpha val="100000"/>
                </a:srgbClr>
              </a:gs>
              <a:gs pos="48000">
                <a:srgbClr val="272C31">
                  <a:alpha val="100000"/>
                </a:srgbClr>
              </a:gs>
              <a:gs pos="78000">
                <a:srgbClr val="1A1D20">
                  <a:alpha val="100000"/>
                </a:srgbClr>
              </a:gs>
              <a:gs pos="100000">
                <a:srgbClr val="0B0C0E">
                  <a:alpha val="100000"/>
                </a:srgbClr>
              </a:gs>
            </a:gsLst>
            <a:lin ang="0" scaled="0"/>
          </a:gradFill>
          <a:ln/>
          <a:effectLst>
            <a:outerShdw sx="100000" sy="100000" kx="0" ky="0" algn="bl" rotWithShape="0" blurRad="101600" dist="50800" dir="16200000">
              <a:srgbClr val="FFFFFF">
                <a:alpha val="6000"/>
              </a:srgbClr>
            </a:outerShdw>
          </a:effectLst>
        </p:spPr>
      </p:sp>
      <p:sp>
        <p:nvSpPr>
          <p:cNvPr id="33" name="Shape 24"/>
          <p:cNvSpPr/>
          <p:nvPr/>
        </p:nvSpPr>
        <p:spPr>
          <a:xfrm>
            <a:off x="14933613" y="5114608"/>
            <a:ext cx="803116" cy="803116"/>
          </a:xfrm>
          <a:prstGeom prst="ellipse">
            <a:avLst/>
          </a:prstGeom>
          <a:gradFill rotWithShape="1">
            <a:gsLst>
              <a:gs pos="0">
                <a:srgbClr val="3B2124">
                  <a:alpha val="100000"/>
                </a:srgbClr>
              </a:gs>
              <a:gs pos="72000">
                <a:srgbClr val="1A0E10">
                  <a:alpha val="100000"/>
                </a:srgbClr>
              </a:gs>
            </a:gsLst>
            <a:path path="circle">
              <a:fillToRect l="44000" t="40000" r="56000" b="60000"/>
            </a:path>
          </a:gradFill>
          <a:ln/>
          <a:effectLst>
            <a:outerShdw sx="100000" sy="100000" kx="0" ky="0" algn="bl" rotWithShape="0" blurRad="101600" dist="50800" dir="16200000">
              <a:srgbClr val="30363C">
                <a:alpha val="100000"/>
              </a:srgbClr>
            </a:outerShdw>
          </a:effectLst>
        </p:spPr>
      </p:sp>
      <p:sp>
        <p:nvSpPr>
          <p:cNvPr id="34" name="Shape 25"/>
          <p:cNvSpPr/>
          <p:nvPr/>
        </p:nvSpPr>
        <p:spPr>
          <a:xfrm>
            <a:off x="14933613" y="6118543"/>
            <a:ext cx="803116" cy="803116"/>
          </a:xfrm>
          <a:prstGeom prst="ellipse">
            <a:avLst/>
          </a:prstGeom>
          <a:gradFill rotWithShape="1">
            <a:gsLst>
              <a:gs pos="0">
                <a:srgbClr val="3A3119">
                  <a:alpha val="100000"/>
                </a:srgbClr>
              </a:gs>
              <a:gs pos="72000">
                <a:srgbClr val="17130A">
                  <a:alpha val="100000"/>
                </a:srgbClr>
              </a:gs>
            </a:gsLst>
            <a:path path="circle">
              <a:fillToRect l="44000" t="40000" r="56000" b="60000"/>
            </a:path>
          </a:gradFill>
          <a:ln/>
          <a:effectLst>
            <a:outerShdw sx="100000" sy="100000" kx="0" ky="0" algn="bl" rotWithShape="0" blurRad="101600" dist="50800" dir="16200000">
              <a:srgbClr val="30363C">
                <a:alpha val="100000"/>
              </a:srgbClr>
            </a:outerShdw>
          </a:effectLst>
        </p:spPr>
      </p:sp>
      <p:sp>
        <p:nvSpPr>
          <p:cNvPr id="35" name="Shape 26"/>
          <p:cNvSpPr/>
          <p:nvPr/>
        </p:nvSpPr>
        <p:spPr>
          <a:xfrm>
            <a:off x="14933613" y="7122477"/>
            <a:ext cx="803116" cy="803116"/>
          </a:xfrm>
          <a:prstGeom prst="ellipse">
            <a:avLst/>
          </a:prstGeom>
          <a:gradFill rotWithShape="1">
            <a:gsLst>
              <a:gs pos="0">
                <a:srgbClr val="E2FFEE">
                  <a:alpha val="100000"/>
                </a:srgbClr>
              </a:gs>
              <a:gs pos="16000">
                <a:srgbClr val="7FF0AC">
                  <a:alpha val="100000"/>
                </a:srgbClr>
              </a:gs>
              <a:gs pos="44000">
                <a:srgbClr val="2ECC71">
                  <a:alpha val="100000"/>
                </a:srgbClr>
              </a:gs>
              <a:gs pos="100000">
                <a:srgbClr val="0D5A2D">
                  <a:alpha val="100000"/>
                </a:srgbClr>
              </a:gs>
            </a:gsLst>
            <a:path path="circle">
              <a:fillToRect l="46000" t="42000" r="54000" b="58000"/>
            </a:path>
          </a:gradFill>
          <a:ln/>
          <a:effectLst>
            <a:outerShdw sx="100000" sy="100000" kx="0" ky="0" algn="bl" rotWithShape="0" blurRad="101600" dist="50800" dir="16200000">
              <a:srgbClr val="30363C">
                <a:alpha val="100000"/>
              </a:srgbClr>
            </a:outerShdw>
          </a:effectLst>
        </p:spPr>
      </p:sp>
      <p:sp>
        <p:nvSpPr>
          <p:cNvPr id="36" name="Shape 27"/>
          <p:cNvSpPr/>
          <p:nvPr/>
        </p:nvSpPr>
        <p:spPr>
          <a:xfrm>
            <a:off x="15228888" y="8138160"/>
            <a:ext cx="212566" cy="1889760"/>
          </a:xfrm>
          <a:prstGeom prst="rect">
            <a:avLst/>
          </a:prstGeom>
          <a:gradFill rotWithShape="1">
            <a:gsLst>
              <a:gs pos="0">
                <a:srgbClr val="0D0F11">
                  <a:alpha val="100000"/>
                </a:srgbClr>
              </a:gs>
              <a:gs pos="35000">
                <a:srgbClr val="3A4047">
                  <a:alpha val="100000"/>
                </a:srgbClr>
              </a:gs>
              <a:gs pos="70000">
                <a:srgbClr val="1E2226">
                  <a:alpha val="100000"/>
                </a:srgbClr>
              </a:gs>
              <a:gs pos="100000">
                <a:srgbClr val="0B0C0E">
                  <a:alpha val="100000"/>
                </a:srgbClr>
              </a:gs>
            </a:gsLst>
            <a:lin ang="0" scaled="0"/>
          </a:gradFill>
          <a:ln/>
          <a:effectLst>
            <a:outerShdw sx="100000" sy="100000" kx="0" ky="0" algn="bl" rotWithShape="0" blurRad="101600" dist="50800" dir="16200000">
              <a:srgbClr val="FFFFFF">
                <a:alpha val="4000"/>
              </a:srgbClr>
            </a:outerShdw>
          </a:effectLst>
        </p:spPr>
      </p:sp>
      <p:sp>
        <p:nvSpPr>
          <p:cNvPr id="37" name="Shape 28"/>
          <p:cNvSpPr/>
          <p:nvPr/>
        </p:nvSpPr>
        <p:spPr>
          <a:xfrm>
            <a:off x="13799820" y="9850755"/>
            <a:ext cx="3070860" cy="531495"/>
          </a:xfrm>
          <a:prstGeom prst="roundRect">
            <a:avLst>
              <a:gd name="adj" fmla="val 50000"/>
            </a:avLst>
          </a:prstGeom>
          <a:gradFill rotWithShape="1">
            <a:gsLst>
              <a:gs pos="0">
                <a:srgbClr val="2ECC71">
                  <a:alpha val="42000"/>
                </a:srgbClr>
              </a:gs>
              <a:gs pos="45000">
                <a:srgbClr val="2ECC71">
                  <a:alpha val="8000"/>
                </a:srgbClr>
              </a:gs>
              <a:gs pos="70000">
                <a:srgbClr val="2ECC71">
                  <a:alpha val="0"/>
                </a:srgbClr>
              </a:gs>
            </a:gsLst>
            <a:path path="circle">
              <a:fillToRect l="50000" t="50000" r="50000" b="50000"/>
            </a:path>
          </a:gra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634653"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The model uses 20 features, all known before an accident</a:t>
            </a:r>
            <a:endParaRPr lang="en-US" sz="4200" dirty="0"/>
          </a:p>
        </p:txBody>
      </p:sp>
      <p:sp>
        <p:nvSpPr>
          <p:cNvPr id="4" name="Text 2"/>
          <p:cNvSpPr/>
          <p:nvPr/>
        </p:nvSpPr>
        <p:spPr>
          <a:xfrm>
            <a:off x="14856777" y="915670"/>
            <a:ext cx="1164273"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B8C0C8"/>
                </a:solidFill>
                <a:latin typeface="Arial" pitchFamily="34" charset="0"/>
                <a:ea typeface="Arial" pitchFamily="34" charset="-122"/>
                <a:cs typeface="Arial" pitchFamily="34" charset="-120"/>
              </a:rPr>
              <a:t>BACKUP</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8847613" cy="2250916"/>
          </a:xfrm>
          <a:prstGeom prst="roundRect">
            <a:avLst>
              <a:gd name="adj" fmla="val 9310"/>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12" name="Image 0" descr="preencoded.png">    </p:cNvPr>
          <p:cNvPicPr>
            <a:picLocks noChangeAspect="1"/>
          </p:cNvPicPr>
          <p:nvPr/>
        </p:nvPicPr>
        <p:blipFill>
          <a:blip r:embed="rId2"/>
          <a:stretch>
            <a:fillRect/>
          </a:stretch>
        </p:blipFill>
        <p:spPr>
          <a:xfrm>
            <a:off x="1400175" y="3078956"/>
            <a:ext cx="419100" cy="419100"/>
          </a:xfrm>
          <a:prstGeom prst="rect">
            <a:avLst/>
          </a:prstGeom>
        </p:spPr>
      </p:pic>
      <p:sp>
        <p:nvSpPr>
          <p:cNvPr id="13" name="Text 10"/>
          <p:cNvSpPr/>
          <p:nvPr/>
        </p:nvSpPr>
        <p:spPr>
          <a:xfrm>
            <a:off x="1990725" y="3065145"/>
            <a:ext cx="1822037"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Road users</a:t>
            </a:r>
            <a:endParaRPr lang="en-US" sz="2550" dirty="0"/>
          </a:p>
        </p:txBody>
      </p:sp>
      <p:sp>
        <p:nvSpPr>
          <p:cNvPr id="14" name="Text 11"/>
          <p:cNvSpPr/>
          <p:nvPr/>
        </p:nvSpPr>
        <p:spPr>
          <a:xfrm>
            <a:off x="9362758" y="3065145"/>
            <a:ext cx="25638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B8C0C8">
                    <a:alpha val="50000"/>
                  </a:srgbClr>
                </a:solidFill>
                <a:latin typeface="Arial" pitchFamily="34" charset="0"/>
                <a:ea typeface="Arial" pitchFamily="34" charset="-122"/>
                <a:cs typeface="Arial" pitchFamily="34" charset="-120"/>
              </a:rPr>
              <a:t>9</a:t>
            </a:r>
            <a:endParaRPr lang="en-US" sz="2550" dirty="0"/>
          </a:p>
        </p:txBody>
      </p:sp>
      <p:sp>
        <p:nvSpPr>
          <p:cNvPr id="15" name="Text 12"/>
          <p:cNvSpPr/>
          <p:nvPr/>
        </p:nvSpPr>
        <p:spPr>
          <a:xfrm>
            <a:off x="1400175" y="3645376"/>
            <a:ext cx="8387046" cy="111823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Six flags (bicycle, car, pedestrian, motorcycle, truck, other vehicle), vulnerable road user involved, vulnerable vs vehicle, number of road-user types</a:t>
            </a:r>
            <a:endParaRPr lang="en-US" sz="2100" dirty="0"/>
          </a:p>
        </p:txBody>
      </p:sp>
      <p:sp>
        <p:nvSpPr>
          <p:cNvPr id="16" name="Shape 13"/>
          <p:cNvSpPr/>
          <p:nvPr/>
        </p:nvSpPr>
        <p:spPr>
          <a:xfrm>
            <a:off x="10162063" y="2769870"/>
            <a:ext cx="7078187" cy="2250916"/>
          </a:xfrm>
          <a:prstGeom prst="roundRect">
            <a:avLst>
              <a:gd name="adj" fmla="val 9310"/>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17" name="Image 1" descr="preencoded.png">    </p:cNvPr>
          <p:cNvPicPr>
            <a:picLocks noChangeAspect="1"/>
          </p:cNvPicPr>
          <p:nvPr/>
        </p:nvPicPr>
        <p:blipFill>
          <a:blip r:embed="rId3"/>
          <a:stretch>
            <a:fillRect/>
          </a:stretch>
        </p:blipFill>
        <p:spPr>
          <a:xfrm>
            <a:off x="10514488" y="3078956"/>
            <a:ext cx="419100" cy="419100"/>
          </a:xfrm>
          <a:prstGeom prst="rect">
            <a:avLst/>
          </a:prstGeom>
        </p:spPr>
      </p:pic>
      <p:sp>
        <p:nvSpPr>
          <p:cNvPr id="18" name="Text 14"/>
          <p:cNvSpPr/>
          <p:nvPr/>
        </p:nvSpPr>
        <p:spPr>
          <a:xfrm>
            <a:off x="11105038" y="3065145"/>
            <a:ext cx="88646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Place</a:t>
            </a:r>
            <a:endParaRPr lang="en-US" sz="2550" dirty="0"/>
          </a:p>
        </p:txBody>
      </p:sp>
      <p:sp>
        <p:nvSpPr>
          <p:cNvPr id="19" name="Text 15"/>
          <p:cNvSpPr/>
          <p:nvPr/>
        </p:nvSpPr>
        <p:spPr>
          <a:xfrm>
            <a:off x="16707644" y="3065145"/>
            <a:ext cx="25638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B8C0C8">
                    <a:alpha val="50000"/>
                  </a:srgbClr>
                </a:solidFill>
                <a:latin typeface="Arial" pitchFamily="34" charset="0"/>
                <a:ea typeface="Arial" pitchFamily="34" charset="-122"/>
                <a:cs typeface="Arial" pitchFamily="34" charset="-120"/>
              </a:rPr>
              <a:t>4</a:t>
            </a:r>
            <a:endParaRPr lang="en-US" sz="2550" dirty="0"/>
          </a:p>
        </p:txBody>
      </p:sp>
      <p:sp>
        <p:nvSpPr>
          <p:cNvPr id="20" name="Text 16"/>
          <p:cNvSpPr/>
          <p:nvPr/>
        </p:nvSpPr>
        <p:spPr>
          <a:xfrm>
            <a:off x="10514488" y="3645376"/>
            <a:ext cx="7010670" cy="39814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State, latitude, longitude, population density (log)</a:t>
            </a:r>
            <a:endParaRPr lang="en-US" sz="2100" dirty="0"/>
          </a:p>
        </p:txBody>
      </p:sp>
      <p:sp>
        <p:nvSpPr>
          <p:cNvPr id="21" name="Shape 17"/>
          <p:cNvSpPr/>
          <p:nvPr/>
        </p:nvSpPr>
        <p:spPr>
          <a:xfrm>
            <a:off x="1047750" y="5287487"/>
            <a:ext cx="8847613" cy="1530826"/>
          </a:xfrm>
          <a:prstGeom prst="roundRect">
            <a:avLst>
              <a:gd name="adj" fmla="val 13689"/>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22" name="Image 2" descr="preencoded.png">    </p:cNvPr>
          <p:cNvPicPr>
            <a:picLocks noChangeAspect="1"/>
          </p:cNvPicPr>
          <p:nvPr/>
        </p:nvPicPr>
        <p:blipFill>
          <a:blip r:embed="rId4"/>
          <a:stretch>
            <a:fillRect/>
          </a:stretch>
        </p:blipFill>
        <p:spPr>
          <a:xfrm>
            <a:off x="1400175" y="5596572"/>
            <a:ext cx="419100" cy="419100"/>
          </a:xfrm>
          <a:prstGeom prst="rect">
            <a:avLst/>
          </a:prstGeom>
        </p:spPr>
      </p:pic>
      <p:sp>
        <p:nvSpPr>
          <p:cNvPr id="23" name="Text 18"/>
          <p:cNvSpPr/>
          <p:nvPr/>
        </p:nvSpPr>
        <p:spPr>
          <a:xfrm>
            <a:off x="1990725" y="5582762"/>
            <a:ext cx="78374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Time</a:t>
            </a:r>
            <a:endParaRPr lang="en-US" sz="2550" dirty="0"/>
          </a:p>
        </p:txBody>
      </p:sp>
      <p:sp>
        <p:nvSpPr>
          <p:cNvPr id="24" name="Text 19"/>
          <p:cNvSpPr/>
          <p:nvPr/>
        </p:nvSpPr>
        <p:spPr>
          <a:xfrm>
            <a:off x="9362758" y="5582762"/>
            <a:ext cx="25638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B8C0C8">
                    <a:alpha val="50000"/>
                  </a:srgbClr>
                </a:solidFill>
                <a:latin typeface="Arial" pitchFamily="34" charset="0"/>
                <a:ea typeface="Arial" pitchFamily="34" charset="-122"/>
                <a:cs typeface="Arial" pitchFamily="34" charset="-120"/>
              </a:rPr>
              <a:t>5</a:t>
            </a:r>
            <a:endParaRPr lang="en-US" sz="2550" dirty="0"/>
          </a:p>
        </p:txBody>
      </p:sp>
      <p:sp>
        <p:nvSpPr>
          <p:cNvPr id="25" name="Text 20"/>
          <p:cNvSpPr/>
          <p:nvPr/>
        </p:nvSpPr>
        <p:spPr>
          <a:xfrm>
            <a:off x="1400175" y="6162992"/>
            <a:ext cx="8957040" cy="39814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Hour and month (cyclic), weekend</a:t>
            </a:r>
            <a:endParaRPr lang="en-US" sz="2100" dirty="0"/>
          </a:p>
        </p:txBody>
      </p:sp>
      <p:sp>
        <p:nvSpPr>
          <p:cNvPr id="26" name="Shape 21"/>
          <p:cNvSpPr/>
          <p:nvPr/>
        </p:nvSpPr>
        <p:spPr>
          <a:xfrm>
            <a:off x="10162063" y="5287487"/>
            <a:ext cx="7078187" cy="1530826"/>
          </a:xfrm>
          <a:prstGeom prst="roundRect">
            <a:avLst>
              <a:gd name="adj" fmla="val 13689"/>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pic>
        <p:nvPicPr>
          <p:cNvPr id="27" name="Image 3" descr="preencoded.png">    </p:cNvPr>
          <p:cNvPicPr>
            <a:picLocks noChangeAspect="1"/>
          </p:cNvPicPr>
          <p:nvPr/>
        </p:nvPicPr>
        <p:blipFill>
          <a:blip r:embed="rId5"/>
          <a:stretch>
            <a:fillRect/>
          </a:stretch>
        </p:blipFill>
        <p:spPr>
          <a:xfrm>
            <a:off x="10514488" y="5596572"/>
            <a:ext cx="419100" cy="419100"/>
          </a:xfrm>
          <a:prstGeom prst="rect">
            <a:avLst/>
          </a:prstGeom>
        </p:spPr>
      </p:pic>
      <p:sp>
        <p:nvSpPr>
          <p:cNvPr id="28" name="Text 22"/>
          <p:cNvSpPr/>
          <p:nvPr/>
        </p:nvSpPr>
        <p:spPr>
          <a:xfrm>
            <a:off x="11105038" y="5582762"/>
            <a:ext cx="1683560"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Conditions</a:t>
            </a:r>
            <a:endParaRPr lang="en-US" sz="2550" dirty="0"/>
          </a:p>
        </p:txBody>
      </p:sp>
      <p:sp>
        <p:nvSpPr>
          <p:cNvPr id="29" name="Text 23"/>
          <p:cNvSpPr/>
          <p:nvPr/>
        </p:nvSpPr>
        <p:spPr>
          <a:xfrm>
            <a:off x="16707644" y="5582762"/>
            <a:ext cx="25638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B8C0C8">
                    <a:alpha val="50000"/>
                  </a:srgbClr>
                </a:solidFill>
                <a:latin typeface="Arial" pitchFamily="34" charset="0"/>
                <a:ea typeface="Arial" pitchFamily="34" charset="-122"/>
                <a:cs typeface="Arial" pitchFamily="34" charset="-120"/>
              </a:rPr>
              <a:t>2</a:t>
            </a:r>
            <a:endParaRPr lang="en-US" sz="2550" dirty="0"/>
          </a:p>
        </p:txBody>
      </p:sp>
      <p:sp>
        <p:nvSpPr>
          <p:cNvPr id="30" name="Text 24"/>
          <p:cNvSpPr/>
          <p:nvPr/>
        </p:nvSpPr>
        <p:spPr>
          <a:xfrm>
            <a:off x="10514488" y="6162992"/>
            <a:ext cx="7010670" cy="39814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Light, road surface</a:t>
            </a:r>
            <a:endParaRPr lang="en-US" sz="2100" dirty="0"/>
          </a:p>
        </p:txBody>
      </p:sp>
      <p:sp>
        <p:nvSpPr>
          <p:cNvPr id="31" name="Shape 25"/>
          <p:cNvSpPr/>
          <p:nvPr/>
        </p:nvSpPr>
        <p:spPr>
          <a:xfrm>
            <a:off x="1047750" y="7104062"/>
            <a:ext cx="16192500" cy="1248093"/>
          </a:xfrm>
          <a:prstGeom prst="roundRect">
            <a:avLst>
              <a:gd name="adj" fmla="val 15263"/>
            </a:avLst>
          </a:prstGeom>
          <a:solidFill>
            <a:srgbClr val="FFBE0B">
              <a:alpha val="4000"/>
            </a:srgbClr>
          </a:solidFill>
          <a:ln w="14288">
            <a:solidFill>
              <a:srgbClr val="FFBE0B">
                <a:alpha val="50000"/>
              </a:srgbClr>
            </a:solidFill>
            <a:prstDash val="dash"/>
          </a:ln>
        </p:spPr>
      </p:sp>
      <p:pic>
        <p:nvPicPr>
          <p:cNvPr id="32" name="Image 4" descr="preencoded.png">    </p:cNvPr>
          <p:cNvPicPr>
            <a:picLocks noChangeAspect="1"/>
          </p:cNvPicPr>
          <p:nvPr/>
        </p:nvPicPr>
        <p:blipFill>
          <a:blip r:embed="rId6"/>
          <a:stretch>
            <a:fillRect/>
          </a:stretch>
        </p:blipFill>
        <p:spPr>
          <a:xfrm>
            <a:off x="1347788" y="7518559"/>
            <a:ext cx="419100" cy="419100"/>
          </a:xfrm>
          <a:prstGeom prst="rect">
            <a:avLst/>
          </a:prstGeom>
        </p:spPr>
      </p:pic>
      <p:sp>
        <p:nvSpPr>
          <p:cNvPr id="33" name="Text 26"/>
          <p:cNvSpPr/>
          <p:nvPr/>
        </p:nvSpPr>
        <p:spPr>
          <a:xfrm>
            <a:off x="1976438" y="7327900"/>
            <a:ext cx="10115503"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Not used: accident kind and type (known only afterwards)</a:t>
            </a:r>
            <a:endParaRPr lang="en-US" sz="2550" dirty="0"/>
          </a:p>
        </p:txBody>
      </p:sp>
      <p:sp>
        <p:nvSpPr>
          <p:cNvPr id="34" name="Text 27"/>
          <p:cNvSpPr/>
          <p:nvPr/>
        </p:nvSpPr>
        <p:spPr>
          <a:xfrm>
            <a:off x="1976438" y="7812881"/>
            <a:ext cx="10115503"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Official urbanisation (city / town / rural) is used to explain results, not in the model (see B3).</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319871" cy="65151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Every choice was fixed before the test set was used</a:t>
            </a:r>
            <a:endParaRPr lang="en-US" sz="4200" dirty="0"/>
          </a:p>
        </p:txBody>
      </p:sp>
      <p:sp>
        <p:nvSpPr>
          <p:cNvPr id="4" name="Text 2"/>
          <p:cNvSpPr/>
          <p:nvPr/>
        </p:nvSpPr>
        <p:spPr>
          <a:xfrm>
            <a:off x="14856777" y="915670"/>
            <a:ext cx="1164273"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B8C0C8"/>
                </a:solidFill>
                <a:latin typeface="Arial" pitchFamily="34" charset="0"/>
                <a:ea typeface="Arial" pitchFamily="34" charset="-122"/>
                <a:cs typeface="Arial" pitchFamily="34" charset="-120"/>
              </a:rPr>
              <a:t>BACKUP</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1661160"/>
            <a:ext cx="16192500" cy="19050"/>
          </a:xfrm>
          <a:prstGeom prst="rect">
            <a:avLst/>
          </a:prstGeom>
          <a:blipFill>
            <a:blip r:embed="rId1"/>
            <a:tile tx="0" ty="0" sx="100000" sy="100000" flip="none" algn="tl"/>
          </a:blipFill>
          <a:ln/>
        </p:spPr>
      </p:sp>
      <p:sp>
        <p:nvSpPr>
          <p:cNvPr id="11" name="Shape 9"/>
          <p:cNvSpPr/>
          <p:nvPr/>
        </p:nvSpPr>
        <p:spPr>
          <a:xfrm>
            <a:off x="1047750" y="2156460"/>
            <a:ext cx="3862387" cy="5768022"/>
          </a:xfrm>
          <a:prstGeom prst="roundRect">
            <a:avLst>
              <a:gd name="adj" fmla="val 5425"/>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362075" y="2489835"/>
            <a:ext cx="3557111" cy="642779"/>
          </a:xfrm>
          <a:prstGeom prst="rect">
            <a:avLst/>
          </a:prstGeom>
          <a:noFill/>
          <a:ln/>
        </p:spPr>
        <p:txBody>
          <a:bodyPr wrap="square" lIns="25400" tIns="25400" rIns="25400" bIns="25400" rtlCol="0" anchor="t">
            <a:normAutofit/>
          </a:bodyPr>
          <a:lstStyle/>
          <a:p>
            <a:pPr algn="l" indent="0" marL="0">
              <a:lnSpc>
                <a:spcPct val="118660"/>
              </a:lnSpc>
              <a:buNone/>
            </a:pPr>
            <a:r>
              <a:rPr lang="en-US" sz="3450" b="1" dirty="0">
                <a:solidFill>
                  <a:srgbClr val="B8C0C8">
                    <a:alpha val="35000"/>
                  </a:srgbClr>
                </a:solidFill>
                <a:latin typeface="Arial" pitchFamily="34" charset="0"/>
                <a:ea typeface="Arial" pitchFamily="34" charset="-122"/>
                <a:cs typeface="Arial" pitchFamily="34" charset="-120"/>
              </a:rPr>
              <a:t>01</a:t>
            </a:r>
            <a:endParaRPr lang="en-US" sz="3450" dirty="0"/>
          </a:p>
        </p:txBody>
      </p:sp>
      <p:sp>
        <p:nvSpPr>
          <p:cNvPr id="13" name="Text 11"/>
          <p:cNvSpPr/>
          <p:nvPr/>
        </p:nvSpPr>
        <p:spPr>
          <a:xfrm>
            <a:off x="1362075" y="3265964"/>
            <a:ext cx="355711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Split</a:t>
            </a:r>
            <a:endParaRPr lang="en-US" sz="2550" dirty="0"/>
          </a:p>
        </p:txBody>
      </p:sp>
      <p:sp>
        <p:nvSpPr>
          <p:cNvPr id="14" name="Text 12"/>
          <p:cNvSpPr/>
          <p:nvPr/>
        </p:nvSpPr>
        <p:spPr>
          <a:xfrm>
            <a:off x="1362075" y="3884295"/>
            <a:ext cx="3330750" cy="758190"/>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70% training · 15% validation · 15% test</a:t>
            </a:r>
            <a:endParaRPr lang="en-US" sz="2100" dirty="0"/>
          </a:p>
        </p:txBody>
      </p:sp>
      <p:sp>
        <p:nvSpPr>
          <p:cNvPr id="15" name="Text 13"/>
          <p:cNvSpPr/>
          <p:nvPr/>
        </p:nvSpPr>
        <p:spPr>
          <a:xfrm>
            <a:off x="1362075" y="7012623"/>
            <a:ext cx="3330750" cy="616585"/>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190,970 · 40,915 · 40,927 accidents</a:t>
            </a:r>
            <a:endParaRPr lang="en-US" sz="1650" dirty="0"/>
          </a:p>
        </p:txBody>
      </p:sp>
      <p:sp>
        <p:nvSpPr>
          <p:cNvPr id="16" name="Shape 14"/>
          <p:cNvSpPr/>
          <p:nvPr/>
        </p:nvSpPr>
        <p:spPr>
          <a:xfrm>
            <a:off x="5157788" y="2156460"/>
            <a:ext cx="3862387" cy="5768022"/>
          </a:xfrm>
          <a:prstGeom prst="roundRect">
            <a:avLst>
              <a:gd name="adj" fmla="val 5425"/>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7" name="Text 15"/>
          <p:cNvSpPr/>
          <p:nvPr/>
        </p:nvSpPr>
        <p:spPr>
          <a:xfrm>
            <a:off x="5472113" y="2489835"/>
            <a:ext cx="3557111" cy="642779"/>
          </a:xfrm>
          <a:prstGeom prst="rect">
            <a:avLst/>
          </a:prstGeom>
          <a:noFill/>
          <a:ln/>
        </p:spPr>
        <p:txBody>
          <a:bodyPr wrap="square" lIns="25400" tIns="25400" rIns="25400" bIns="25400" rtlCol="0" anchor="t">
            <a:normAutofit/>
          </a:bodyPr>
          <a:lstStyle/>
          <a:p>
            <a:pPr algn="l" indent="0" marL="0">
              <a:lnSpc>
                <a:spcPct val="118660"/>
              </a:lnSpc>
              <a:buNone/>
            </a:pPr>
            <a:r>
              <a:rPr lang="en-US" sz="3450" b="1" dirty="0">
                <a:solidFill>
                  <a:srgbClr val="B8C0C8">
                    <a:alpha val="35000"/>
                  </a:srgbClr>
                </a:solidFill>
                <a:latin typeface="Arial" pitchFamily="34" charset="0"/>
                <a:ea typeface="Arial" pitchFamily="34" charset="-122"/>
                <a:cs typeface="Arial" pitchFamily="34" charset="-120"/>
              </a:rPr>
              <a:t>02</a:t>
            </a:r>
            <a:endParaRPr lang="en-US" sz="3450" dirty="0"/>
          </a:p>
        </p:txBody>
      </p:sp>
      <p:sp>
        <p:nvSpPr>
          <p:cNvPr id="18" name="Text 16"/>
          <p:cNvSpPr/>
          <p:nvPr/>
        </p:nvSpPr>
        <p:spPr>
          <a:xfrm>
            <a:off x="5472113" y="3265964"/>
            <a:ext cx="355711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Choose the model</a:t>
            </a:r>
            <a:endParaRPr lang="en-US" sz="2550" dirty="0"/>
          </a:p>
        </p:txBody>
      </p:sp>
      <p:sp>
        <p:nvSpPr>
          <p:cNvPr id="19" name="Text 17"/>
          <p:cNvSpPr/>
          <p:nvPr/>
        </p:nvSpPr>
        <p:spPr>
          <a:xfrm>
            <a:off x="5472113" y="3884295"/>
            <a:ext cx="3330750" cy="111823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Chosen by cross-validated PR-AUC on the training data (0.267)</a:t>
            </a:r>
            <a:endParaRPr lang="en-US" sz="2100" dirty="0"/>
          </a:p>
        </p:txBody>
      </p:sp>
      <p:sp>
        <p:nvSpPr>
          <p:cNvPr id="20" name="Text 18"/>
          <p:cNvSpPr/>
          <p:nvPr/>
        </p:nvSpPr>
        <p:spPr>
          <a:xfrm>
            <a:off x="5472113" y="7301865"/>
            <a:ext cx="3557111" cy="327342"/>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Training data, 190,970 accidents</a:t>
            </a:r>
            <a:endParaRPr lang="en-US" sz="1650" dirty="0"/>
          </a:p>
        </p:txBody>
      </p:sp>
      <p:sp>
        <p:nvSpPr>
          <p:cNvPr id="21" name="Shape 19"/>
          <p:cNvSpPr/>
          <p:nvPr/>
        </p:nvSpPr>
        <p:spPr>
          <a:xfrm>
            <a:off x="9267825" y="2156460"/>
            <a:ext cx="3862387" cy="5768022"/>
          </a:xfrm>
          <a:prstGeom prst="roundRect">
            <a:avLst>
              <a:gd name="adj" fmla="val 5425"/>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2" name="Text 20"/>
          <p:cNvSpPr/>
          <p:nvPr/>
        </p:nvSpPr>
        <p:spPr>
          <a:xfrm>
            <a:off x="9582150" y="2489835"/>
            <a:ext cx="3557111" cy="642779"/>
          </a:xfrm>
          <a:prstGeom prst="rect">
            <a:avLst/>
          </a:prstGeom>
          <a:noFill/>
          <a:ln/>
        </p:spPr>
        <p:txBody>
          <a:bodyPr wrap="square" lIns="25400" tIns="25400" rIns="25400" bIns="25400" rtlCol="0" anchor="t">
            <a:normAutofit/>
          </a:bodyPr>
          <a:lstStyle/>
          <a:p>
            <a:pPr algn="l" indent="0" marL="0">
              <a:lnSpc>
                <a:spcPct val="118660"/>
              </a:lnSpc>
              <a:buNone/>
            </a:pPr>
            <a:r>
              <a:rPr lang="en-US" sz="3450" b="1" dirty="0">
                <a:solidFill>
                  <a:srgbClr val="B8C0C8">
                    <a:alpha val="35000"/>
                  </a:srgbClr>
                </a:solidFill>
                <a:latin typeface="Arial" pitchFamily="34" charset="0"/>
                <a:ea typeface="Arial" pitchFamily="34" charset="-122"/>
                <a:cs typeface="Arial" pitchFamily="34" charset="-120"/>
              </a:rPr>
              <a:t>03</a:t>
            </a:r>
            <a:endParaRPr lang="en-US" sz="3450" dirty="0"/>
          </a:p>
        </p:txBody>
      </p:sp>
      <p:sp>
        <p:nvSpPr>
          <p:cNvPr id="23" name="Text 21"/>
          <p:cNvSpPr/>
          <p:nvPr/>
        </p:nvSpPr>
        <p:spPr>
          <a:xfrm>
            <a:off x="9582150" y="3265964"/>
            <a:ext cx="355711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Set the threshold</a:t>
            </a:r>
            <a:endParaRPr lang="en-US" sz="2550" dirty="0"/>
          </a:p>
        </p:txBody>
      </p:sp>
      <p:sp>
        <p:nvSpPr>
          <p:cNvPr id="24" name="Text 22"/>
          <p:cNvSpPr/>
          <p:nvPr/>
        </p:nvSpPr>
        <p:spPr>
          <a:xfrm>
            <a:off x="9582150" y="3884295"/>
            <a:ext cx="3330750" cy="1118235"/>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0.167, chosen on out-of-fold predictions of the training data</a:t>
            </a:r>
            <a:endParaRPr lang="en-US" sz="2100" dirty="0"/>
          </a:p>
        </p:txBody>
      </p:sp>
      <p:sp>
        <p:nvSpPr>
          <p:cNvPr id="25" name="Text 23"/>
          <p:cNvSpPr/>
          <p:nvPr/>
        </p:nvSpPr>
        <p:spPr>
          <a:xfrm>
            <a:off x="9582150" y="7301865"/>
            <a:ext cx="3557111" cy="327342"/>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Training data, 190,970 accidents</a:t>
            </a:r>
            <a:endParaRPr lang="en-US" sz="1650" dirty="0"/>
          </a:p>
        </p:txBody>
      </p:sp>
      <p:sp>
        <p:nvSpPr>
          <p:cNvPr id="26" name="Shape 24"/>
          <p:cNvSpPr/>
          <p:nvPr/>
        </p:nvSpPr>
        <p:spPr>
          <a:xfrm>
            <a:off x="13377863" y="2156460"/>
            <a:ext cx="3862387" cy="5768022"/>
          </a:xfrm>
          <a:prstGeom prst="roundRect">
            <a:avLst>
              <a:gd name="adj" fmla="val 5425"/>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27" name="Text 25"/>
          <p:cNvSpPr/>
          <p:nvPr/>
        </p:nvSpPr>
        <p:spPr>
          <a:xfrm>
            <a:off x="13692188" y="2489835"/>
            <a:ext cx="3557111" cy="642779"/>
          </a:xfrm>
          <a:prstGeom prst="rect">
            <a:avLst/>
          </a:prstGeom>
          <a:noFill/>
          <a:ln/>
        </p:spPr>
        <p:txBody>
          <a:bodyPr wrap="square" lIns="25400" tIns="25400" rIns="25400" bIns="25400" rtlCol="0" anchor="t">
            <a:normAutofit/>
          </a:bodyPr>
          <a:lstStyle/>
          <a:p>
            <a:pPr algn="l" indent="0" marL="0">
              <a:lnSpc>
                <a:spcPct val="118660"/>
              </a:lnSpc>
              <a:buNone/>
            </a:pPr>
            <a:r>
              <a:rPr lang="en-US" sz="3450" b="1" dirty="0">
                <a:solidFill>
                  <a:srgbClr val="B8C0C8">
                    <a:alpha val="35000"/>
                  </a:srgbClr>
                </a:solidFill>
                <a:latin typeface="Arial" pitchFamily="34" charset="0"/>
                <a:ea typeface="Arial" pitchFamily="34" charset="-122"/>
                <a:cs typeface="Arial" pitchFamily="34" charset="-120"/>
              </a:rPr>
              <a:t>04</a:t>
            </a:r>
            <a:endParaRPr lang="en-US" sz="3450" dirty="0"/>
          </a:p>
        </p:txBody>
      </p:sp>
      <p:sp>
        <p:nvSpPr>
          <p:cNvPr id="28" name="Text 26"/>
          <p:cNvSpPr/>
          <p:nvPr/>
        </p:nvSpPr>
        <p:spPr>
          <a:xfrm>
            <a:off x="13692188" y="3265964"/>
            <a:ext cx="3557111"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Compare</a:t>
            </a:r>
            <a:endParaRPr lang="en-US" sz="2550" dirty="0"/>
          </a:p>
        </p:txBody>
      </p:sp>
      <p:sp>
        <p:nvSpPr>
          <p:cNvPr id="29" name="Text 27"/>
          <p:cNvSpPr/>
          <p:nvPr/>
        </p:nvSpPr>
        <p:spPr>
          <a:xfrm>
            <a:off x="13692188" y="3884295"/>
            <a:ext cx="3330750" cy="758190"/>
          </a:xfrm>
          <a:prstGeom prst="rect">
            <a:avLst/>
          </a:prstGeom>
          <a:noFill/>
          <a:ln/>
        </p:spPr>
        <p:txBody>
          <a:bodyPr wrap="square" lIns="25400" tIns="25400" rIns="25400" bIns="25400" rtlCol="0" anchor="t">
            <a:normAutofit/>
          </a:bodyPr>
          <a:lstStyle/>
          <a:p>
            <a:pPr algn="l" indent="0" marL="0">
              <a:lnSpc>
                <a:spcPct val="116607"/>
              </a:lnSpc>
              <a:buNone/>
            </a:pPr>
            <a:r>
              <a:rPr lang="en-US" sz="2100" dirty="0">
                <a:solidFill>
                  <a:srgbClr val="F5F7FA"/>
                </a:solidFill>
                <a:latin typeface="Arial" pitchFamily="34" charset="0"/>
                <a:ea typeface="Arial" pitchFamily="34" charset="-122"/>
                <a:cs typeface="Arial" pitchFamily="34" charset="-120"/>
              </a:rPr>
              <a:t>Against the rule and the historical lookup: F1 0.346</a:t>
            </a:r>
            <a:endParaRPr lang="en-US" sz="2100" dirty="0"/>
          </a:p>
        </p:txBody>
      </p:sp>
      <p:sp>
        <p:nvSpPr>
          <p:cNvPr id="30" name="Text 28"/>
          <p:cNvSpPr/>
          <p:nvPr/>
        </p:nvSpPr>
        <p:spPr>
          <a:xfrm>
            <a:off x="13692188" y="7301865"/>
            <a:ext cx="3557111" cy="327342"/>
          </a:xfrm>
          <a:prstGeom prst="rect">
            <a:avLst/>
          </a:prstGeom>
          <a:noFill/>
          <a:ln/>
        </p:spPr>
        <p:txBody>
          <a:bodyPr wrap="square" lIns="25400" tIns="25400" rIns="25400" bIns="25400" rtlCol="0" anchor="t">
            <a:normAutofit/>
          </a:bodyPr>
          <a:lstStyle/>
          <a:p>
            <a:pPr algn="l" indent="0" marL="0">
              <a:lnSpc>
                <a:spcPct val="118082"/>
              </a:lnSpc>
              <a:buNone/>
            </a:pPr>
            <a:r>
              <a:rPr lang="en-US" sz="1650" dirty="0">
                <a:solidFill>
                  <a:srgbClr val="B8C0C8"/>
                </a:solidFill>
                <a:latin typeface="Arial" pitchFamily="34" charset="0"/>
                <a:ea typeface="Arial" pitchFamily="34" charset="-122"/>
                <a:cs typeface="Arial" pitchFamily="34" charset="-120"/>
              </a:rPr>
              <a:t>Validation set, 40,915 accidents</a:t>
            </a:r>
            <a:endParaRPr lang="en-US" sz="1650" dirty="0"/>
          </a:p>
        </p:txBody>
      </p:sp>
      <p:sp>
        <p:nvSpPr>
          <p:cNvPr id="31" name="Shape 29"/>
          <p:cNvSpPr/>
          <p:nvPr/>
        </p:nvSpPr>
        <p:spPr>
          <a:xfrm>
            <a:off x="1047750" y="8248333"/>
            <a:ext cx="16192500" cy="1352868"/>
          </a:xfrm>
          <a:prstGeom prst="roundRect">
            <a:avLst>
              <a:gd name="adj" fmla="val 15489"/>
            </a:avLst>
          </a:prstGeom>
          <a:gradFill rotWithShape="1">
            <a:gsLst>
              <a:gs pos="0">
                <a:srgbClr val="2ECC71">
                  <a:alpha val="10000"/>
                </a:srgbClr>
              </a:gs>
              <a:gs pos="60000">
                <a:srgbClr val="FFFFFF">
                  <a:alpha val="2000"/>
                </a:srgbClr>
              </a:gs>
            </a:gsLst>
            <a:lin ang="0" scaled="0"/>
          </a:gradFill>
          <a:ln w="9525">
            <a:solidFill>
              <a:srgbClr val="2ECC71">
                <a:alpha val="40000"/>
              </a:srgbClr>
            </a:solidFill>
            <a:prstDash val="solid"/>
          </a:ln>
          <a:effectLst>
            <a:outerShdw sx="100000" sy="100000" kx="0" ky="0" algn="bl" rotWithShape="0" blurRad="571500" dist="285750" dir="5400000">
              <a:srgbClr val="000000">
                <a:alpha val="75000"/>
              </a:srgbClr>
            </a:outerShdw>
          </a:effectLst>
        </p:spPr>
      </p:sp>
      <p:pic>
        <p:nvPicPr>
          <p:cNvPr id="32" name="Image 0" descr="preencoded.png">    </p:cNvPr>
          <p:cNvPicPr>
            <a:picLocks noChangeAspect="1"/>
          </p:cNvPicPr>
          <p:nvPr/>
        </p:nvPicPr>
        <p:blipFill>
          <a:blip r:embed="rId2"/>
          <a:stretch>
            <a:fillRect/>
          </a:stretch>
        </p:blipFill>
        <p:spPr>
          <a:xfrm>
            <a:off x="1400175" y="8705691"/>
            <a:ext cx="438150" cy="438150"/>
          </a:xfrm>
          <a:prstGeom prst="rect">
            <a:avLst/>
          </a:prstGeom>
        </p:spPr>
      </p:pic>
      <p:sp>
        <p:nvSpPr>
          <p:cNvPr id="33" name="Text 30"/>
          <p:cNvSpPr/>
          <p:nvPr/>
        </p:nvSpPr>
        <p:spPr>
          <a:xfrm>
            <a:off x="2085975" y="8524558"/>
            <a:ext cx="12617879"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Test, used once: F1 0.339 (0.332–0.347), PR-AUC 0.268, vs 0.346 on validation</a:t>
            </a:r>
            <a:endParaRPr lang="en-US" sz="2550" dirty="0"/>
          </a:p>
        </p:txBody>
      </p:sp>
      <p:sp>
        <p:nvSpPr>
          <p:cNvPr id="34" name="Text 31"/>
          <p:cNvSpPr/>
          <p:nvPr/>
        </p:nvSpPr>
        <p:spPr>
          <a:xfrm>
            <a:off x="2085975" y="9009538"/>
            <a:ext cx="12617879"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Test set, 40,927 accidents, used once. 95% range from 1,000 bootstrap resamples.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634653"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Which city-vs-countryside measure should the model use?</a:t>
            </a:r>
            <a:endParaRPr lang="en-US" sz="4200" dirty="0"/>
          </a:p>
        </p:txBody>
      </p:sp>
      <p:sp>
        <p:nvSpPr>
          <p:cNvPr id="4" name="Text 2"/>
          <p:cNvSpPr/>
          <p:nvPr/>
        </p:nvSpPr>
        <p:spPr>
          <a:xfrm>
            <a:off x="14856777" y="915670"/>
            <a:ext cx="1164273"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B8C0C8"/>
                </a:solidFill>
                <a:latin typeface="Arial" pitchFamily="34" charset="0"/>
                <a:ea typeface="Arial" pitchFamily="34" charset="-122"/>
                <a:cs typeface="Arial" pitchFamily="34" charset="-120"/>
              </a:rPr>
              <a:t>BACKUP</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10373995" cy="6831330"/>
          </a:xfrm>
          <a:prstGeom prst="roundRect">
            <a:avLst>
              <a:gd name="adj" fmla="val 3067"/>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438275" y="3103245"/>
            <a:ext cx="10552239"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CROSS-VALIDATED PR-AUC, SCALE 0 TO 0.3</a:t>
            </a:r>
            <a:endParaRPr lang="en-US" sz="1650" dirty="0"/>
          </a:p>
        </p:txBody>
      </p:sp>
      <p:sp>
        <p:nvSpPr>
          <p:cNvPr id="13" name="Text 11"/>
          <p:cNvSpPr/>
          <p:nvPr/>
        </p:nvSpPr>
        <p:spPr>
          <a:xfrm>
            <a:off x="1438275" y="3566160"/>
            <a:ext cx="3683365"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No city/countryside info</a:t>
            </a:r>
            <a:endParaRPr lang="en-US" sz="2550" dirty="0"/>
          </a:p>
        </p:txBody>
      </p:sp>
      <p:sp>
        <p:nvSpPr>
          <p:cNvPr id="14" name="Shape 12"/>
          <p:cNvSpPr/>
          <p:nvPr/>
        </p:nvSpPr>
        <p:spPr>
          <a:xfrm>
            <a:off x="5191125" y="3579971"/>
            <a:ext cx="3886200" cy="419100"/>
          </a:xfrm>
          <a:custGeom>
            <a:avLst/>
            <a:gdLst/>
            <a:ahLst/>
            <a:cxnLst/>
            <a:rect l="l" t="t" r="r" b="b"/>
            <a:pathLst>
              <a:path w="3886200" h="419100">
                <a:moveTo>
                  <a:pt x="0" y="0"/>
                </a:moveTo>
                <a:lnTo>
                  <a:pt x="3790950" y="0"/>
                </a:lnTo>
                <a:arcTo hR="95250" wR="95250" stAng="16200000" swAng="5400000"/>
                <a:lnTo>
                  <a:pt x="3886200"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15" name="Text 13"/>
          <p:cNvSpPr/>
          <p:nvPr/>
        </p:nvSpPr>
        <p:spPr>
          <a:xfrm>
            <a:off x="9248775" y="3600767"/>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0.255</a:t>
            </a:r>
            <a:endParaRPr lang="en-US" sz="2550" dirty="0"/>
          </a:p>
        </p:txBody>
      </p:sp>
      <p:sp>
        <p:nvSpPr>
          <p:cNvPr id="16" name="Text 14"/>
          <p:cNvSpPr/>
          <p:nvPr/>
        </p:nvSpPr>
        <p:spPr>
          <a:xfrm>
            <a:off x="1438275" y="4203541"/>
            <a:ext cx="3219037"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 Population density</a:t>
            </a:r>
            <a:endParaRPr lang="en-US" sz="2550" dirty="0"/>
          </a:p>
        </p:txBody>
      </p:sp>
      <p:sp>
        <p:nvSpPr>
          <p:cNvPr id="17" name="Shape 15"/>
          <p:cNvSpPr/>
          <p:nvPr/>
        </p:nvSpPr>
        <p:spPr>
          <a:xfrm>
            <a:off x="5191125" y="4217352"/>
            <a:ext cx="4067175" cy="419100"/>
          </a:xfrm>
          <a:custGeom>
            <a:avLst/>
            <a:gdLst/>
            <a:ahLst/>
            <a:cxnLst/>
            <a:rect l="l" t="t" r="r" b="b"/>
            <a:pathLst>
              <a:path w="4067175" h="419100">
                <a:moveTo>
                  <a:pt x="0" y="0"/>
                </a:moveTo>
                <a:lnTo>
                  <a:pt x="3971925" y="0"/>
                </a:lnTo>
                <a:arcTo hR="95250" wR="95250" stAng="16200000" swAng="5400000"/>
                <a:lnTo>
                  <a:pt x="4067175" y="323850"/>
                </a:lnTo>
                <a:arcTo hR="95250" wR="95250" stAng="0" swAng="5400000"/>
                <a:lnTo>
                  <a:pt x="0" y="419100"/>
                </a:lnTo>
                <a:lnTo>
                  <a:pt x="0" y="0"/>
                </a:lnTo>
                <a:close/>
              </a:path>
            </a:pathLst>
          </a:custGeom>
          <a:gradFill rotWithShape="1">
            <a:gsLst>
              <a:gs pos="0">
                <a:srgbClr val="2ECC71">
                  <a:alpha val="45000"/>
                </a:srgbClr>
              </a:gs>
              <a:gs pos="100000">
                <a:srgbClr val="2ECC71">
                  <a:alpha val="100000"/>
                </a:srgbClr>
              </a:gs>
            </a:gsLst>
            <a:lin ang="0" scaled="0"/>
          </a:gradFill>
          <a:ln/>
          <a:effectLst>
            <a:outerShdw sx="100000" sy="100000" kx="0" ky="0" algn="bl" rotWithShape="0" blurRad="247650" dist="50800" dir="16200000">
              <a:srgbClr val="2ECC71">
                <a:alpha val="60000"/>
              </a:srgbClr>
            </a:outerShdw>
          </a:effectLst>
        </p:spPr>
      </p:sp>
      <p:sp>
        <p:nvSpPr>
          <p:cNvPr id="18" name="Text 16"/>
          <p:cNvSpPr/>
          <p:nvPr/>
        </p:nvSpPr>
        <p:spPr>
          <a:xfrm>
            <a:off x="9429750" y="4238149"/>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2ECC71"/>
                </a:solidFill>
                <a:latin typeface="Arial" pitchFamily="34" charset="0"/>
                <a:ea typeface="Arial" pitchFamily="34" charset="-122"/>
                <a:cs typeface="Arial" pitchFamily="34" charset="-120"/>
              </a:rPr>
              <a:t>0.267</a:t>
            </a:r>
            <a:endParaRPr lang="en-US" sz="2550" dirty="0"/>
          </a:p>
        </p:txBody>
      </p:sp>
      <p:sp>
        <p:nvSpPr>
          <p:cNvPr id="19" name="Text 17"/>
          <p:cNvSpPr/>
          <p:nvPr/>
        </p:nvSpPr>
        <p:spPr>
          <a:xfrm>
            <a:off x="10411937" y="4303077"/>
            <a:ext cx="695484" cy="285750"/>
          </a:xfrm>
          <a:prstGeom prst="rect">
            <a:avLst/>
          </a:prstGeom>
          <a:noFill/>
          <a:ln/>
        </p:spPr>
        <p:txBody>
          <a:bodyPr wrap="square" lIns="25400" tIns="25400" rIns="25400" bIns="25400" rtlCol="0" anchor="t">
            <a:normAutofit/>
          </a:bodyPr>
          <a:lstStyle/>
          <a:p>
            <a:pPr algn="l" indent="0" marL="0">
              <a:lnSpc>
                <a:spcPct val="109937"/>
              </a:lnSpc>
              <a:buNone/>
            </a:pPr>
            <a:r>
              <a:rPr lang="en-US" sz="1500" b="1" spc="240" kern="0" dirty="0">
                <a:solidFill>
                  <a:srgbClr val="B8C0C8"/>
                </a:solidFill>
                <a:latin typeface="Arial" pitchFamily="34" charset="0"/>
                <a:ea typeface="Arial" pitchFamily="34" charset="-122"/>
                <a:cs typeface="Arial" pitchFamily="34" charset="-120"/>
              </a:rPr>
              <a:t>KEPT</a:t>
            </a:r>
            <a:endParaRPr lang="en-US" sz="1500" dirty="0"/>
          </a:p>
        </p:txBody>
      </p:sp>
      <p:sp>
        <p:nvSpPr>
          <p:cNvPr id="20" name="Text 18"/>
          <p:cNvSpPr/>
          <p:nvPr/>
        </p:nvSpPr>
        <p:spPr>
          <a:xfrm>
            <a:off x="1438275" y="4840923"/>
            <a:ext cx="3429635"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 Official urbanisation</a:t>
            </a:r>
            <a:endParaRPr lang="en-US" sz="2550" dirty="0"/>
          </a:p>
        </p:txBody>
      </p:sp>
      <p:sp>
        <p:nvSpPr>
          <p:cNvPr id="21" name="Shape 19"/>
          <p:cNvSpPr/>
          <p:nvPr/>
        </p:nvSpPr>
        <p:spPr>
          <a:xfrm>
            <a:off x="5191125" y="4854734"/>
            <a:ext cx="4010025" cy="419100"/>
          </a:xfrm>
          <a:custGeom>
            <a:avLst/>
            <a:gdLst/>
            <a:ahLst/>
            <a:cxnLst/>
            <a:rect l="l" t="t" r="r" b="b"/>
            <a:pathLst>
              <a:path w="4010025" h="419100">
                <a:moveTo>
                  <a:pt x="0" y="0"/>
                </a:moveTo>
                <a:lnTo>
                  <a:pt x="3914775" y="0"/>
                </a:lnTo>
                <a:arcTo hR="95250" wR="95250" stAng="16200000" swAng="5400000"/>
                <a:lnTo>
                  <a:pt x="4010025"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22" name="Text 20"/>
          <p:cNvSpPr/>
          <p:nvPr/>
        </p:nvSpPr>
        <p:spPr>
          <a:xfrm>
            <a:off x="9372600" y="4875530"/>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0.263</a:t>
            </a:r>
            <a:endParaRPr lang="en-US" sz="2550" dirty="0"/>
          </a:p>
        </p:txBody>
      </p:sp>
      <p:sp>
        <p:nvSpPr>
          <p:cNvPr id="23" name="Text 21"/>
          <p:cNvSpPr/>
          <p:nvPr/>
        </p:nvSpPr>
        <p:spPr>
          <a:xfrm>
            <a:off x="1438275" y="5478304"/>
            <a:ext cx="1021715" cy="484981"/>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 Both</a:t>
            </a:r>
            <a:endParaRPr lang="en-US" sz="2550" dirty="0"/>
          </a:p>
        </p:txBody>
      </p:sp>
      <p:sp>
        <p:nvSpPr>
          <p:cNvPr id="24" name="Shape 22"/>
          <p:cNvSpPr/>
          <p:nvPr/>
        </p:nvSpPr>
        <p:spPr>
          <a:xfrm>
            <a:off x="5191125" y="5492115"/>
            <a:ext cx="4067175" cy="419100"/>
          </a:xfrm>
          <a:custGeom>
            <a:avLst/>
            <a:gdLst/>
            <a:ahLst/>
            <a:cxnLst/>
            <a:rect l="l" t="t" r="r" b="b"/>
            <a:pathLst>
              <a:path w="4067175" h="419100">
                <a:moveTo>
                  <a:pt x="0" y="0"/>
                </a:moveTo>
                <a:lnTo>
                  <a:pt x="3971925" y="0"/>
                </a:lnTo>
                <a:arcTo hR="95250" wR="95250" stAng="16200000" swAng="5400000"/>
                <a:lnTo>
                  <a:pt x="4067175" y="323850"/>
                </a:lnTo>
                <a:arcTo hR="95250" wR="95250" stAng="0" swAng="5400000"/>
                <a:lnTo>
                  <a:pt x="0" y="41910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25" name="Text 23"/>
          <p:cNvSpPr/>
          <p:nvPr/>
        </p:nvSpPr>
        <p:spPr>
          <a:xfrm>
            <a:off x="9429750" y="5512911"/>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F5F7FA"/>
                </a:solidFill>
                <a:latin typeface="Arial" pitchFamily="34" charset="0"/>
                <a:ea typeface="Arial" pitchFamily="34" charset="-122"/>
                <a:cs typeface="Arial" pitchFamily="34" charset="-120"/>
              </a:rPr>
              <a:t>0.267</a:t>
            </a:r>
            <a:endParaRPr lang="en-US" sz="2550" dirty="0"/>
          </a:p>
        </p:txBody>
      </p:sp>
      <p:sp>
        <p:nvSpPr>
          <p:cNvPr id="26" name="Shape 24"/>
          <p:cNvSpPr/>
          <p:nvPr/>
        </p:nvSpPr>
        <p:spPr>
          <a:xfrm rot="2700000">
            <a:off x="1438275" y="6268085"/>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27" name="Text 25"/>
          <p:cNvSpPr/>
          <p:nvPr/>
        </p:nvSpPr>
        <p:spPr>
          <a:xfrm>
            <a:off x="1952625" y="6172835"/>
            <a:ext cx="9350953" cy="1118235"/>
          </a:xfrm>
          <a:prstGeom prst="rect">
            <a:avLst/>
          </a:prstGeom>
          <a:noFill/>
          <a:ln/>
        </p:spPr>
        <p:txBody>
          <a:bodyPr wrap="square" lIns="25400" tIns="25400" rIns="25400" bIns="25400" rtlCol="0" anchor="t">
            <a:normAutofit/>
          </a:bodyPr>
          <a:lstStyle/>
          <a:p>
            <a:pPr algn="l" indent="0" marL="0">
              <a:lnSpc>
                <a:spcPct val="116607"/>
              </a:lnSpc>
              <a:buNone/>
            </a:pPr>
            <a:r>
              <a:rPr lang="en-US" sz="2100" b="1" dirty="0">
                <a:solidFill>
                  <a:srgbClr val="F5F7FA"/>
                </a:solidFill>
                <a:latin typeface="Arial" pitchFamily="34" charset="0"/>
                <a:ea typeface="Arial" pitchFamily="34" charset="-122"/>
                <a:cs typeface="Arial" pitchFamily="34" charset="-120"/>
              </a:rPr>
              <a:t>City-vs-countryside information is a clear gain. Density alone is as good as both together, so we kept the simpler model. Urbanisation and density are strongly related (r = −0.88).</a:t>
            </a:r>
            <a:endParaRPr lang="en-US" sz="2100" dirty="0"/>
          </a:p>
        </p:txBody>
      </p:sp>
      <p:sp>
        <p:nvSpPr>
          <p:cNvPr id="28" name="Text 26"/>
          <p:cNvSpPr/>
          <p:nvPr/>
        </p:nvSpPr>
        <p:spPr>
          <a:xfrm>
            <a:off x="1438275" y="9028588"/>
            <a:ext cx="10552239"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Training data, 190,970 accidents. Noise ≈ ±0.004.</a:t>
            </a:r>
            <a:endParaRPr lang="en-US" sz="1800" dirty="0"/>
          </a:p>
        </p:txBody>
      </p:sp>
      <p:sp>
        <p:nvSpPr>
          <p:cNvPr id="29" name="Shape 27"/>
          <p:cNvSpPr/>
          <p:nvPr/>
        </p:nvSpPr>
        <p:spPr>
          <a:xfrm>
            <a:off x="11897995" y="2769870"/>
            <a:ext cx="5342255" cy="6831330"/>
          </a:xfrm>
          <a:prstGeom prst="roundRect">
            <a:avLst>
              <a:gd name="adj" fmla="val 3923"/>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30" name="Text 28"/>
          <p:cNvSpPr/>
          <p:nvPr/>
        </p:nvSpPr>
        <p:spPr>
          <a:xfrm>
            <a:off x="12250420" y="3103245"/>
            <a:ext cx="5101146"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MOST IMPORTANT FEATURES</a:t>
            </a:r>
            <a:endParaRPr lang="en-US" sz="1650" dirty="0"/>
          </a:p>
        </p:txBody>
      </p:sp>
      <p:sp>
        <p:nvSpPr>
          <p:cNvPr id="31" name="Text 29"/>
          <p:cNvSpPr/>
          <p:nvPr/>
        </p:nvSpPr>
        <p:spPr>
          <a:xfrm>
            <a:off x="12250420" y="3566160"/>
            <a:ext cx="5101146" cy="406083"/>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Population density</a:t>
            </a:r>
            <a:endParaRPr lang="en-US" sz="2100" dirty="0"/>
          </a:p>
        </p:txBody>
      </p:sp>
      <p:sp>
        <p:nvSpPr>
          <p:cNvPr id="32" name="Shape 30"/>
          <p:cNvSpPr/>
          <p:nvPr/>
        </p:nvSpPr>
        <p:spPr>
          <a:xfrm>
            <a:off x="12250420" y="4002723"/>
            <a:ext cx="3429000" cy="285750"/>
          </a:xfrm>
          <a:custGeom>
            <a:avLst/>
            <a:gdLst/>
            <a:ahLst/>
            <a:cxnLst/>
            <a:rect l="l" t="t" r="r" b="b"/>
            <a:pathLst>
              <a:path w="3429000" h="285750">
                <a:moveTo>
                  <a:pt x="0" y="0"/>
                </a:moveTo>
                <a:lnTo>
                  <a:pt x="3333750" y="0"/>
                </a:lnTo>
                <a:arcTo hR="95250" wR="95250" stAng="16200000" swAng="5400000"/>
                <a:lnTo>
                  <a:pt x="3429000" y="190500"/>
                </a:lnTo>
                <a:arcTo hR="95250" wR="95250" stAng="0" swAng="5400000"/>
                <a:lnTo>
                  <a:pt x="0" y="285750"/>
                </a:lnTo>
                <a:lnTo>
                  <a:pt x="0" y="0"/>
                </a:lnTo>
                <a:close/>
              </a:path>
            </a:pathLst>
          </a:custGeom>
          <a:gradFill rotWithShape="1">
            <a:gsLst>
              <a:gs pos="0">
                <a:srgbClr val="2ECC71">
                  <a:alpha val="45000"/>
                </a:srgbClr>
              </a:gs>
              <a:gs pos="100000">
                <a:srgbClr val="2ECC71">
                  <a:alpha val="100000"/>
                </a:srgbClr>
              </a:gs>
            </a:gsLst>
            <a:lin ang="0" scaled="0"/>
          </a:gradFill>
          <a:ln/>
          <a:effectLst>
            <a:outerShdw sx="100000" sy="100000" kx="0" ky="0" algn="bl" rotWithShape="0" blurRad="247650" dist="50800" dir="16200000">
              <a:srgbClr val="2ECC71">
                <a:alpha val="60000"/>
              </a:srgbClr>
            </a:outerShdw>
          </a:effectLst>
        </p:spPr>
      </p:sp>
      <p:sp>
        <p:nvSpPr>
          <p:cNvPr id="33" name="Text 31"/>
          <p:cNvSpPr/>
          <p:nvPr/>
        </p:nvSpPr>
        <p:spPr>
          <a:xfrm>
            <a:off x="15850870" y="3991292"/>
            <a:ext cx="743426" cy="346869"/>
          </a:xfrm>
          <a:prstGeom prst="rect">
            <a:avLst/>
          </a:prstGeom>
          <a:noFill/>
          <a:ln/>
        </p:spPr>
        <p:txBody>
          <a:bodyPr wrap="square" lIns="25400" tIns="25400" rIns="25400" bIns="25400" rtlCol="0" anchor="t">
            <a:normAutofit/>
          </a:bodyPr>
          <a:lstStyle/>
          <a:p>
            <a:pPr algn="l" indent="0" marL="0">
              <a:buNone/>
            </a:pPr>
            <a:r>
              <a:rPr lang="en-US" sz="2100" b="1" dirty="0">
                <a:solidFill>
                  <a:srgbClr val="F5F7FA"/>
                </a:solidFill>
                <a:latin typeface="Arial" pitchFamily="34" charset="0"/>
                <a:ea typeface="Arial" pitchFamily="34" charset="-122"/>
                <a:cs typeface="Arial" pitchFamily="34" charset="-120"/>
              </a:rPr>
              <a:t>0.060</a:t>
            </a:r>
            <a:endParaRPr lang="en-US" sz="2100" dirty="0"/>
          </a:p>
        </p:txBody>
      </p:sp>
      <p:sp>
        <p:nvSpPr>
          <p:cNvPr id="34" name="Text 32"/>
          <p:cNvSpPr/>
          <p:nvPr/>
        </p:nvSpPr>
        <p:spPr>
          <a:xfrm>
            <a:off x="12250420" y="4490561"/>
            <a:ext cx="5101146"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Motorcycle</a:t>
            </a:r>
            <a:endParaRPr lang="en-US" sz="2100" dirty="0"/>
          </a:p>
        </p:txBody>
      </p:sp>
      <p:sp>
        <p:nvSpPr>
          <p:cNvPr id="35" name="Shape 33"/>
          <p:cNvSpPr/>
          <p:nvPr/>
        </p:nvSpPr>
        <p:spPr>
          <a:xfrm>
            <a:off x="12250420" y="4927124"/>
            <a:ext cx="742950" cy="285750"/>
          </a:xfrm>
          <a:custGeom>
            <a:avLst/>
            <a:gdLst/>
            <a:ahLst/>
            <a:cxnLst/>
            <a:rect l="l" t="t" r="r" b="b"/>
            <a:pathLst>
              <a:path w="742950" h="285750">
                <a:moveTo>
                  <a:pt x="0" y="0"/>
                </a:moveTo>
                <a:lnTo>
                  <a:pt x="647700" y="0"/>
                </a:lnTo>
                <a:arcTo hR="95250" wR="95250" stAng="16200000" swAng="5400000"/>
                <a:lnTo>
                  <a:pt x="742950" y="190500"/>
                </a:lnTo>
                <a:arcTo hR="95250" wR="95250" stAng="0" swAng="5400000"/>
                <a:lnTo>
                  <a:pt x="0" y="28575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36" name="Text 34"/>
          <p:cNvSpPr/>
          <p:nvPr/>
        </p:nvSpPr>
        <p:spPr>
          <a:xfrm>
            <a:off x="13164820" y="4915694"/>
            <a:ext cx="743426" cy="346869"/>
          </a:xfrm>
          <a:prstGeom prst="rect">
            <a:avLst/>
          </a:prstGeom>
          <a:noFill/>
          <a:ln/>
        </p:spPr>
        <p:txBody>
          <a:bodyPr wrap="square" lIns="25400" tIns="25400" rIns="25400" bIns="25400" rtlCol="0" anchor="t">
            <a:normAutofit/>
          </a:bodyPr>
          <a:lstStyle/>
          <a:p>
            <a:pPr algn="l" indent="0" marL="0">
              <a:buNone/>
            </a:pPr>
            <a:r>
              <a:rPr lang="en-US" sz="2100" b="1" dirty="0">
                <a:solidFill>
                  <a:srgbClr val="F5F7FA"/>
                </a:solidFill>
                <a:latin typeface="Arial" pitchFamily="34" charset="0"/>
                <a:ea typeface="Arial" pitchFamily="34" charset="-122"/>
                <a:cs typeface="Arial" pitchFamily="34" charset="-120"/>
              </a:rPr>
              <a:t>0.013</a:t>
            </a:r>
            <a:endParaRPr lang="en-US" sz="2100" dirty="0"/>
          </a:p>
        </p:txBody>
      </p:sp>
      <p:sp>
        <p:nvSpPr>
          <p:cNvPr id="37" name="Text 35"/>
          <p:cNvSpPr/>
          <p:nvPr/>
        </p:nvSpPr>
        <p:spPr>
          <a:xfrm>
            <a:off x="12250420" y="5414963"/>
            <a:ext cx="5101146"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Car</a:t>
            </a:r>
            <a:endParaRPr lang="en-US" sz="2100" dirty="0"/>
          </a:p>
        </p:txBody>
      </p:sp>
      <p:sp>
        <p:nvSpPr>
          <p:cNvPr id="38" name="Shape 36"/>
          <p:cNvSpPr/>
          <p:nvPr/>
        </p:nvSpPr>
        <p:spPr>
          <a:xfrm>
            <a:off x="12250420" y="5851525"/>
            <a:ext cx="628650" cy="285750"/>
          </a:xfrm>
          <a:custGeom>
            <a:avLst/>
            <a:gdLst/>
            <a:ahLst/>
            <a:cxnLst/>
            <a:rect l="l" t="t" r="r" b="b"/>
            <a:pathLst>
              <a:path w="628650" h="285750">
                <a:moveTo>
                  <a:pt x="0" y="0"/>
                </a:moveTo>
                <a:lnTo>
                  <a:pt x="533400" y="0"/>
                </a:lnTo>
                <a:arcTo hR="95250" wR="95250" stAng="16200000" swAng="5400000"/>
                <a:lnTo>
                  <a:pt x="628650" y="190500"/>
                </a:lnTo>
                <a:arcTo hR="95250" wR="95250" stAng="0" swAng="5400000"/>
                <a:lnTo>
                  <a:pt x="0" y="28575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39" name="Text 37"/>
          <p:cNvSpPr/>
          <p:nvPr/>
        </p:nvSpPr>
        <p:spPr>
          <a:xfrm>
            <a:off x="13050520" y="5840095"/>
            <a:ext cx="723741" cy="346869"/>
          </a:xfrm>
          <a:prstGeom prst="rect">
            <a:avLst/>
          </a:prstGeom>
          <a:noFill/>
          <a:ln/>
        </p:spPr>
        <p:txBody>
          <a:bodyPr wrap="square" lIns="25400" tIns="25400" rIns="25400" bIns="25400" rtlCol="0" anchor="t">
            <a:normAutofit/>
          </a:bodyPr>
          <a:lstStyle/>
          <a:p>
            <a:pPr algn="l" indent="0" marL="0">
              <a:buNone/>
            </a:pPr>
            <a:r>
              <a:rPr lang="en-US" sz="2100" b="1" dirty="0">
                <a:solidFill>
                  <a:srgbClr val="F5F7FA"/>
                </a:solidFill>
                <a:latin typeface="Arial" pitchFamily="34" charset="0"/>
                <a:ea typeface="Arial" pitchFamily="34" charset="-122"/>
                <a:cs typeface="Arial" pitchFamily="34" charset="-120"/>
              </a:rPr>
              <a:t>0.011</a:t>
            </a:r>
            <a:endParaRPr lang="en-US" sz="2100" dirty="0"/>
          </a:p>
        </p:txBody>
      </p:sp>
      <p:sp>
        <p:nvSpPr>
          <p:cNvPr id="40" name="Text 38"/>
          <p:cNvSpPr/>
          <p:nvPr/>
        </p:nvSpPr>
        <p:spPr>
          <a:xfrm>
            <a:off x="12250420" y="6339364"/>
            <a:ext cx="5101146"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Latitude</a:t>
            </a:r>
            <a:endParaRPr lang="en-US" sz="2100" dirty="0"/>
          </a:p>
        </p:txBody>
      </p:sp>
      <p:sp>
        <p:nvSpPr>
          <p:cNvPr id="41" name="Shape 39"/>
          <p:cNvSpPr/>
          <p:nvPr/>
        </p:nvSpPr>
        <p:spPr>
          <a:xfrm>
            <a:off x="12250420" y="6775926"/>
            <a:ext cx="400050" cy="285750"/>
          </a:xfrm>
          <a:custGeom>
            <a:avLst/>
            <a:gdLst/>
            <a:ahLst/>
            <a:cxnLst/>
            <a:rect l="l" t="t" r="r" b="b"/>
            <a:pathLst>
              <a:path w="400050" h="285750">
                <a:moveTo>
                  <a:pt x="0" y="0"/>
                </a:moveTo>
                <a:lnTo>
                  <a:pt x="304800" y="0"/>
                </a:lnTo>
                <a:arcTo hR="95250" wR="95250" stAng="16200000" swAng="5400000"/>
                <a:lnTo>
                  <a:pt x="400050" y="190500"/>
                </a:lnTo>
                <a:arcTo hR="95250" wR="95250" stAng="0" swAng="5400000"/>
                <a:lnTo>
                  <a:pt x="0" y="28575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42" name="Text 40"/>
          <p:cNvSpPr/>
          <p:nvPr/>
        </p:nvSpPr>
        <p:spPr>
          <a:xfrm>
            <a:off x="12821920" y="6764496"/>
            <a:ext cx="743426" cy="346869"/>
          </a:xfrm>
          <a:prstGeom prst="rect">
            <a:avLst/>
          </a:prstGeom>
          <a:noFill/>
          <a:ln/>
        </p:spPr>
        <p:txBody>
          <a:bodyPr wrap="square" lIns="25400" tIns="25400" rIns="25400" bIns="25400" rtlCol="0" anchor="t">
            <a:normAutofit/>
          </a:bodyPr>
          <a:lstStyle/>
          <a:p>
            <a:pPr algn="l" indent="0" marL="0">
              <a:buNone/>
            </a:pPr>
            <a:r>
              <a:rPr lang="en-US" sz="2100" b="1" dirty="0">
                <a:solidFill>
                  <a:srgbClr val="F5F7FA"/>
                </a:solidFill>
                <a:latin typeface="Arial" pitchFamily="34" charset="0"/>
                <a:ea typeface="Arial" pitchFamily="34" charset="-122"/>
                <a:cs typeface="Arial" pitchFamily="34" charset="-120"/>
              </a:rPr>
              <a:t>0.007</a:t>
            </a:r>
            <a:endParaRPr lang="en-US" sz="2100" dirty="0"/>
          </a:p>
        </p:txBody>
      </p:sp>
      <p:sp>
        <p:nvSpPr>
          <p:cNvPr id="43" name="Text 41"/>
          <p:cNvSpPr/>
          <p:nvPr/>
        </p:nvSpPr>
        <p:spPr>
          <a:xfrm>
            <a:off x="12250420" y="7263765"/>
            <a:ext cx="5101146" cy="406082"/>
          </a:xfrm>
          <a:prstGeom prst="rect">
            <a:avLst/>
          </a:prstGeom>
          <a:noFill/>
          <a:ln/>
        </p:spPr>
        <p:txBody>
          <a:bodyPr wrap="square" lIns="25400" tIns="25400" rIns="25400" bIns="25400" rtlCol="0" anchor="t">
            <a:normAutofit/>
          </a:bodyPr>
          <a:lstStyle/>
          <a:p>
            <a:pPr algn="l" indent="0" marL="0">
              <a:lnSpc>
                <a:spcPct val="119177"/>
              </a:lnSpc>
              <a:buNone/>
            </a:pPr>
            <a:r>
              <a:rPr lang="en-US" sz="2100" b="1" dirty="0">
                <a:solidFill>
                  <a:srgbClr val="F5F7FA"/>
                </a:solidFill>
                <a:latin typeface="Arial" pitchFamily="34" charset="0"/>
                <a:ea typeface="Arial" pitchFamily="34" charset="-122"/>
                <a:cs typeface="Arial" pitchFamily="34" charset="-120"/>
              </a:rPr>
              <a:t>Vulnerable road user</a:t>
            </a:r>
            <a:endParaRPr lang="en-US" sz="2100" dirty="0"/>
          </a:p>
        </p:txBody>
      </p:sp>
      <p:sp>
        <p:nvSpPr>
          <p:cNvPr id="44" name="Shape 42"/>
          <p:cNvSpPr/>
          <p:nvPr/>
        </p:nvSpPr>
        <p:spPr>
          <a:xfrm>
            <a:off x="12250420" y="7700328"/>
            <a:ext cx="342900" cy="285750"/>
          </a:xfrm>
          <a:custGeom>
            <a:avLst/>
            <a:gdLst/>
            <a:ahLst/>
            <a:cxnLst/>
            <a:rect l="l" t="t" r="r" b="b"/>
            <a:pathLst>
              <a:path w="342900" h="285750">
                <a:moveTo>
                  <a:pt x="0" y="0"/>
                </a:moveTo>
                <a:lnTo>
                  <a:pt x="247650" y="0"/>
                </a:lnTo>
                <a:arcTo hR="95250" wR="95250" stAng="16200000" swAng="5400000"/>
                <a:lnTo>
                  <a:pt x="342900" y="190500"/>
                </a:lnTo>
                <a:arcTo hR="95250" wR="95250" stAng="0" swAng="5400000"/>
                <a:lnTo>
                  <a:pt x="0" y="285750"/>
                </a:lnTo>
                <a:lnTo>
                  <a:pt x="0" y="0"/>
                </a:lnTo>
                <a:close/>
              </a:path>
            </a:pathLst>
          </a:custGeom>
          <a:gradFill rotWithShape="1">
            <a:gsLst>
              <a:gs pos="0">
                <a:srgbClr val="6FA3E8">
                  <a:alpha val="31000"/>
                </a:srgbClr>
              </a:gs>
              <a:gs pos="100000">
                <a:srgbClr val="6FA3E8">
                  <a:alpha val="70000"/>
                </a:srgbClr>
              </a:gs>
            </a:gsLst>
            <a:lin ang="0" scaled="0"/>
          </a:gradFill>
          <a:ln/>
          <a:effectLst>
            <a:outerShdw sx="100000" sy="100000" kx="0" ky="0" algn="bl" rotWithShape="0" blurRad="247650" dist="50800" dir="16200000">
              <a:srgbClr val="6FA3E8">
                <a:alpha val="42000"/>
              </a:srgbClr>
            </a:outerShdw>
          </a:effectLst>
        </p:spPr>
      </p:sp>
      <p:sp>
        <p:nvSpPr>
          <p:cNvPr id="45" name="Text 43"/>
          <p:cNvSpPr/>
          <p:nvPr/>
        </p:nvSpPr>
        <p:spPr>
          <a:xfrm>
            <a:off x="12764770" y="7688898"/>
            <a:ext cx="743426" cy="346869"/>
          </a:xfrm>
          <a:prstGeom prst="rect">
            <a:avLst/>
          </a:prstGeom>
          <a:noFill/>
          <a:ln/>
        </p:spPr>
        <p:txBody>
          <a:bodyPr wrap="square" lIns="25400" tIns="25400" rIns="25400" bIns="25400" rtlCol="0" anchor="t">
            <a:normAutofit/>
          </a:bodyPr>
          <a:lstStyle/>
          <a:p>
            <a:pPr algn="l" indent="0" marL="0">
              <a:buNone/>
            </a:pPr>
            <a:r>
              <a:rPr lang="en-US" sz="2100" b="1" dirty="0">
                <a:solidFill>
                  <a:srgbClr val="F5F7FA"/>
                </a:solidFill>
                <a:latin typeface="Arial" pitchFamily="34" charset="0"/>
                <a:ea typeface="Arial" pitchFamily="34" charset="-122"/>
                <a:cs typeface="Arial" pitchFamily="34" charset="-120"/>
              </a:rPr>
              <a:t>0.006</a:t>
            </a:r>
            <a:endParaRPr lang="en-US" sz="2100" dirty="0"/>
          </a:p>
        </p:txBody>
      </p:sp>
      <p:sp>
        <p:nvSpPr>
          <p:cNvPr id="46" name="Text 44"/>
          <p:cNvSpPr/>
          <p:nvPr/>
        </p:nvSpPr>
        <p:spPr>
          <a:xfrm>
            <a:off x="12250420" y="8713152"/>
            <a:ext cx="4776527" cy="668973"/>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Drop in PR-AUC when shuffled. Validation set, 40,915 accidents.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63B40">
                  <a:alpha val="100000"/>
                </a:srgbClr>
              </a:gs>
              <a:gs pos="42000">
                <a:srgbClr val="2B2F33">
                  <a:alpha val="100000"/>
                </a:srgbClr>
              </a:gs>
              <a:gs pos="100000">
                <a:srgbClr val="16181B">
                  <a:alpha val="100000"/>
                </a:srgbClr>
              </a:gs>
            </a:gsLst>
            <a:path path="circle">
              <a:fillToRect l="28000" t="18000" r="72000" b="82000"/>
            </a:path>
          </a:gradFill>
          <a:ln/>
        </p:spPr>
      </p:sp>
      <p:sp>
        <p:nvSpPr>
          <p:cNvPr id="3" name="Text 1"/>
          <p:cNvSpPr/>
          <p:nvPr/>
        </p:nvSpPr>
        <p:spPr>
          <a:xfrm>
            <a:off x="1047750" y="762000"/>
            <a:ext cx="13634653" cy="1264920"/>
          </a:xfrm>
          <a:prstGeom prst="rect">
            <a:avLst/>
          </a:prstGeom>
          <a:noFill/>
          <a:ln/>
        </p:spPr>
        <p:txBody>
          <a:bodyPr wrap="square" lIns="25400" tIns="25400" rIns="25400" bIns="25400" rtlCol="0" anchor="t">
            <a:normAutofit/>
          </a:bodyPr>
          <a:lstStyle/>
          <a:p>
            <a:pPr algn="l" indent="0" marL="0">
              <a:lnSpc>
                <a:spcPct val="99332"/>
              </a:lnSpc>
              <a:buNone/>
            </a:pPr>
            <a:r>
              <a:rPr lang="en-US" sz="4200" b="1" spc="-21" kern="0" dirty="0">
                <a:solidFill>
                  <a:srgbClr val="F5F7FA"/>
                </a:solidFill>
                <a:latin typeface="Arial" pitchFamily="34" charset="0"/>
                <a:ea typeface="Arial" pitchFamily="34" charset="-122"/>
                <a:cs typeface="Arial" pitchFamily="34" charset="-120"/>
              </a:rPr>
              <a:t>Predicting before the accident costs only a little accuracy</a:t>
            </a:r>
            <a:endParaRPr lang="en-US" sz="4200" dirty="0"/>
          </a:p>
        </p:txBody>
      </p:sp>
      <p:sp>
        <p:nvSpPr>
          <p:cNvPr id="4" name="Text 2"/>
          <p:cNvSpPr/>
          <p:nvPr/>
        </p:nvSpPr>
        <p:spPr>
          <a:xfrm>
            <a:off x="14856777" y="915670"/>
            <a:ext cx="1164273" cy="283051"/>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B8C0C8"/>
                </a:solidFill>
                <a:latin typeface="Arial" pitchFamily="34" charset="0"/>
                <a:ea typeface="Arial" pitchFamily="34" charset="-122"/>
                <a:cs typeface="Arial" pitchFamily="34" charset="-120"/>
              </a:rPr>
              <a:t>BACKUP</a:t>
            </a:r>
            <a:endParaRPr lang="en-US" sz="1650" dirty="0"/>
          </a:p>
        </p:txBody>
      </p:sp>
      <p:sp>
        <p:nvSpPr>
          <p:cNvPr id="5" name="Shape 3"/>
          <p:cNvSpPr/>
          <p:nvPr/>
        </p:nvSpPr>
        <p:spPr>
          <a:xfrm>
            <a:off x="16116300" y="876300"/>
            <a:ext cx="1123950" cy="323850"/>
          </a:xfrm>
          <a:prstGeom prst="roundRect">
            <a:avLst>
              <a:gd name="adj" fmla="val 50000"/>
            </a:avLst>
          </a:prstGeom>
          <a:gradFill rotWithShape="1">
            <a:gsLst>
              <a:gs pos="0">
                <a:srgbClr val="2A2F34">
                  <a:alpha val="100000"/>
                </a:srgbClr>
              </a:gs>
              <a:gs pos="100000">
                <a:srgbClr val="121416">
                  <a:alpha val="100000"/>
                </a:srgbClr>
              </a:gs>
            </a:gsLst>
            <a:lin ang="5400000" scaled="0"/>
          </a:gradFill>
          <a:ln/>
          <a:effectLst>
            <a:outerShdw sx="100000" sy="100000" kx="0" ky="0" algn="bl" rotWithShape="0" blurRad="101600" dist="50800" dir="16200000">
              <a:srgbClr val="FFFFFF">
                <a:alpha val="7000"/>
              </a:srgbClr>
            </a:outerShdw>
          </a:effectLst>
        </p:spPr>
      </p:sp>
      <p:sp>
        <p:nvSpPr>
          <p:cNvPr id="6" name="Shape 4"/>
          <p:cNvSpPr/>
          <p:nvPr/>
        </p:nvSpPr>
        <p:spPr>
          <a:xfrm>
            <a:off x="16230600" y="962025"/>
            <a:ext cx="152400" cy="152400"/>
          </a:xfrm>
          <a:prstGeom prst="ellipse">
            <a:avLst/>
          </a:prstGeom>
          <a:solidFill>
            <a:srgbClr val="FFBE0B">
              <a:alpha val="22000"/>
            </a:srgbClr>
          </a:solidFill>
          <a:ln/>
        </p:spPr>
      </p:sp>
      <p:sp>
        <p:nvSpPr>
          <p:cNvPr id="7" name="Shape 5"/>
          <p:cNvSpPr/>
          <p:nvPr/>
        </p:nvSpPr>
        <p:spPr>
          <a:xfrm>
            <a:off x="16478250" y="962025"/>
            <a:ext cx="152400" cy="152400"/>
          </a:xfrm>
          <a:prstGeom prst="ellipse">
            <a:avLst/>
          </a:prstGeom>
          <a:solidFill>
            <a:srgbClr val="E63946">
              <a:alpha val="22000"/>
            </a:srgbClr>
          </a:solidFill>
          <a:ln/>
        </p:spPr>
      </p:sp>
      <p:sp>
        <p:nvSpPr>
          <p:cNvPr id="8" name="Shape 6"/>
          <p:cNvSpPr/>
          <p:nvPr/>
        </p:nvSpPr>
        <p:spPr>
          <a:xfrm>
            <a:off x="16725900" y="962025"/>
            <a:ext cx="152400" cy="152400"/>
          </a:xfrm>
          <a:prstGeom prst="ellipse">
            <a:avLst/>
          </a:prstGeom>
          <a:solidFill>
            <a:srgbClr val="6FA3E8">
              <a:alpha val="22000"/>
            </a:srgbClr>
          </a:solidFill>
          <a:ln/>
        </p:spPr>
      </p:sp>
      <p:sp>
        <p:nvSpPr>
          <p:cNvPr id="9" name="Shape 7"/>
          <p:cNvSpPr/>
          <p:nvPr/>
        </p:nvSpPr>
        <p:spPr>
          <a:xfrm>
            <a:off x="16973550" y="962025"/>
            <a:ext cx="152400" cy="152400"/>
          </a:xfrm>
          <a:prstGeom prst="ellipse">
            <a:avLst/>
          </a:prstGeom>
          <a:solidFill>
            <a:srgbClr val="2ECC71">
              <a:alpha val="22000"/>
            </a:srgbClr>
          </a:solidFill>
          <a:ln/>
        </p:spPr>
      </p:sp>
      <p:sp>
        <p:nvSpPr>
          <p:cNvPr id="10" name="Shape 8"/>
          <p:cNvSpPr/>
          <p:nvPr/>
        </p:nvSpPr>
        <p:spPr>
          <a:xfrm>
            <a:off x="1047750" y="2274570"/>
            <a:ext cx="16192500" cy="19050"/>
          </a:xfrm>
          <a:prstGeom prst="rect">
            <a:avLst/>
          </a:prstGeom>
          <a:blipFill>
            <a:blip r:embed="rId1"/>
            <a:tile tx="0" ty="0" sx="100000" sy="100000" flip="none" algn="tl"/>
          </a:blipFill>
          <a:ln/>
        </p:spPr>
      </p:sp>
      <p:sp>
        <p:nvSpPr>
          <p:cNvPr id="11" name="Shape 9"/>
          <p:cNvSpPr/>
          <p:nvPr/>
        </p:nvSpPr>
        <p:spPr>
          <a:xfrm>
            <a:off x="1047750" y="2769870"/>
            <a:ext cx="16192500" cy="3918426"/>
          </a:xfrm>
          <a:prstGeom prst="roundRect">
            <a:avLst>
              <a:gd name="adj" fmla="val 5348"/>
            </a:avLst>
          </a:prstGeom>
          <a:gradFill rotWithShape="1">
            <a:gsLst>
              <a:gs pos="0">
                <a:srgbClr val="FFFFFF">
                  <a:alpha val="6000"/>
                </a:srgbClr>
              </a:gs>
              <a:gs pos="100000">
                <a:srgbClr val="FFFFFF">
                  <a:alpha val="2000"/>
                </a:srgbClr>
              </a:gs>
            </a:gsLst>
            <a:lin ang="5400000" scaled="0"/>
          </a:gradFill>
          <a:ln w="9525">
            <a:solidFill>
              <a:srgbClr val="FFFFFF">
                <a:alpha val="10000"/>
              </a:srgbClr>
            </a:solidFill>
            <a:prstDash val="solid"/>
          </a:ln>
          <a:effectLst>
            <a:outerShdw sx="100000" sy="100000" kx="0" ky="0" algn="bl" rotWithShape="0" blurRad="571500" dist="285750" dir="5400000">
              <a:srgbClr val="000000">
                <a:alpha val="75000"/>
              </a:srgbClr>
            </a:outerShdw>
          </a:effectLst>
        </p:spPr>
      </p:sp>
      <p:sp>
        <p:nvSpPr>
          <p:cNvPr id="12" name="Text 10"/>
          <p:cNvSpPr/>
          <p:nvPr/>
        </p:nvSpPr>
        <p:spPr>
          <a:xfrm>
            <a:off x="1476375" y="3160395"/>
            <a:ext cx="16868775" cy="310515"/>
          </a:xfrm>
          <a:prstGeom prst="rect">
            <a:avLst/>
          </a:prstGeom>
          <a:noFill/>
          <a:ln/>
        </p:spPr>
        <p:txBody>
          <a:bodyPr wrap="square" lIns="25400" tIns="25400" rIns="25400" bIns="25400" rtlCol="0" anchor="t">
            <a:normAutofit/>
          </a:bodyPr>
          <a:lstStyle/>
          <a:p>
            <a:pPr algn="l" indent="0" marL="0">
              <a:lnSpc>
                <a:spcPct val="111212"/>
              </a:lnSpc>
              <a:buNone/>
            </a:pPr>
            <a:r>
              <a:rPr lang="en-US" sz="1650" b="1" spc="264" kern="0" dirty="0">
                <a:solidFill>
                  <a:srgbClr val="B8C0C8"/>
                </a:solidFill>
                <a:latin typeface="Arial" pitchFamily="34" charset="0"/>
                <a:ea typeface="Arial" pitchFamily="34" charset="-122"/>
                <a:cs typeface="Arial" pitchFamily="34" charset="-120"/>
              </a:rPr>
              <a:t>F1 SCORE · VALIDATION</a:t>
            </a:r>
            <a:endParaRPr lang="en-US" sz="1650" dirty="0"/>
          </a:p>
        </p:txBody>
      </p:sp>
      <p:sp>
        <p:nvSpPr>
          <p:cNvPr id="13" name="Text 11"/>
          <p:cNvSpPr/>
          <p:nvPr/>
        </p:nvSpPr>
        <p:spPr>
          <a:xfrm>
            <a:off x="1476375" y="3718560"/>
            <a:ext cx="2440464" cy="931863"/>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Our final model </a:t>
            </a:r>
            <a:pPr algn="l" indent="0" marL="0">
              <a:lnSpc>
                <a:spcPct val="118427"/>
              </a:lnSpc>
              <a:buNone/>
            </a:pPr>
            <a:r>
              <a:rPr lang="en-US" sz="1800" dirty="0">
                <a:solidFill>
                  <a:srgbClr val="B8C0C8"/>
                </a:solidFill>
                <a:latin typeface="Arial" pitchFamily="34" charset="0"/>
                <a:ea typeface="Arial" pitchFamily="34" charset="-122"/>
                <a:cs typeface="Arial" pitchFamily="34" charset="-120"/>
              </a:rPr>
              <a:t>known beforehand only</a:t>
            </a:r>
            <a:endParaRPr lang="en-US" sz="2550" dirty="0"/>
          </a:p>
        </p:txBody>
      </p:sp>
      <p:sp>
        <p:nvSpPr>
          <p:cNvPr id="14" name="Shape 12"/>
          <p:cNvSpPr/>
          <p:nvPr/>
        </p:nvSpPr>
        <p:spPr>
          <a:xfrm>
            <a:off x="6657975" y="3898741"/>
            <a:ext cx="4286250" cy="533400"/>
          </a:xfrm>
          <a:custGeom>
            <a:avLst/>
            <a:gdLst/>
            <a:ahLst/>
            <a:cxnLst/>
            <a:rect l="l" t="t" r="r" b="b"/>
            <a:pathLst>
              <a:path w="4286250" h="533400">
                <a:moveTo>
                  <a:pt x="0" y="0"/>
                </a:moveTo>
                <a:lnTo>
                  <a:pt x="4191000" y="0"/>
                </a:lnTo>
                <a:arcTo hR="95250" wR="95250" stAng="16200000" swAng="5400000"/>
                <a:lnTo>
                  <a:pt x="4286250" y="438150"/>
                </a:lnTo>
                <a:arcTo hR="95250" wR="95250" stAng="0" swAng="5400000"/>
                <a:lnTo>
                  <a:pt x="0" y="533400"/>
                </a:lnTo>
                <a:lnTo>
                  <a:pt x="0" y="0"/>
                </a:lnTo>
                <a:close/>
              </a:path>
            </a:pathLst>
          </a:custGeom>
          <a:gradFill rotWithShape="1">
            <a:gsLst>
              <a:gs pos="0">
                <a:srgbClr val="2ECC71">
                  <a:alpha val="45000"/>
                </a:srgbClr>
              </a:gs>
              <a:gs pos="100000">
                <a:srgbClr val="2ECC71">
                  <a:alpha val="100000"/>
                </a:srgbClr>
              </a:gs>
            </a:gsLst>
            <a:lin ang="0" scaled="0"/>
          </a:gradFill>
          <a:ln/>
          <a:effectLst>
            <a:outerShdw sx="100000" sy="100000" kx="0" ky="0" algn="bl" rotWithShape="0" blurRad="247650" dist="50800" dir="16200000">
              <a:srgbClr val="2ECC71">
                <a:alpha val="60000"/>
              </a:srgbClr>
            </a:outerShdw>
          </a:effectLst>
        </p:spPr>
      </p:sp>
      <p:sp>
        <p:nvSpPr>
          <p:cNvPr id="15" name="Text 13"/>
          <p:cNvSpPr/>
          <p:nvPr/>
        </p:nvSpPr>
        <p:spPr>
          <a:xfrm>
            <a:off x="11115675" y="3976687"/>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2ECC71"/>
                </a:solidFill>
                <a:latin typeface="Arial" pitchFamily="34" charset="0"/>
                <a:ea typeface="Arial" pitchFamily="34" charset="-122"/>
                <a:cs typeface="Arial" pitchFamily="34" charset="-120"/>
              </a:rPr>
              <a:t>0.346</a:t>
            </a:r>
            <a:endParaRPr lang="en-US" sz="2550" dirty="0"/>
          </a:p>
        </p:txBody>
      </p:sp>
      <p:sp>
        <p:nvSpPr>
          <p:cNvPr id="16" name="Text 14"/>
          <p:cNvSpPr/>
          <p:nvPr/>
        </p:nvSpPr>
        <p:spPr>
          <a:xfrm>
            <a:off x="1476375" y="4898073"/>
            <a:ext cx="3403513" cy="931862"/>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Reference model </a:t>
            </a:r>
            <a:pPr algn="l" indent="0" marL="0">
              <a:lnSpc>
                <a:spcPct val="118427"/>
              </a:lnSpc>
              <a:buNone/>
            </a:pPr>
            <a:r>
              <a:rPr lang="en-US" sz="1800" dirty="0">
                <a:solidFill>
                  <a:srgbClr val="B8C0C8"/>
                </a:solidFill>
                <a:latin typeface="Arial" pitchFamily="34" charset="0"/>
                <a:ea typeface="Arial" pitchFamily="34" charset="-122"/>
                <a:cs typeface="Arial" pitchFamily="34" charset="-120"/>
              </a:rPr>
              <a:t>also uses accident kind and type</a:t>
            </a:r>
            <a:endParaRPr lang="en-US" sz="2550" dirty="0"/>
          </a:p>
        </p:txBody>
      </p:sp>
      <p:sp>
        <p:nvSpPr>
          <p:cNvPr id="17" name="Shape 15"/>
          <p:cNvSpPr/>
          <p:nvPr/>
        </p:nvSpPr>
        <p:spPr>
          <a:xfrm>
            <a:off x="6657975" y="5078254"/>
            <a:ext cx="4648200" cy="533400"/>
          </a:xfrm>
          <a:custGeom>
            <a:avLst/>
            <a:gdLst/>
            <a:ahLst/>
            <a:cxnLst/>
            <a:rect l="l" t="t" r="r" b="b"/>
            <a:pathLst>
              <a:path w="4648200" h="533400">
                <a:moveTo>
                  <a:pt x="0" y="0"/>
                </a:moveTo>
                <a:lnTo>
                  <a:pt x="4552950" y="0"/>
                </a:lnTo>
                <a:arcTo hR="95250" wR="95250" stAng="16200000" swAng="5400000"/>
                <a:lnTo>
                  <a:pt x="4648200" y="438150"/>
                </a:lnTo>
                <a:arcTo hR="95250" wR="95250" stAng="0" swAng="5400000"/>
                <a:lnTo>
                  <a:pt x="0" y="533400"/>
                </a:lnTo>
                <a:lnTo>
                  <a:pt x="0" y="0"/>
                </a:lnTo>
                <a:close/>
              </a:path>
            </a:pathLst>
          </a:custGeom>
          <a:gradFill rotWithShape="1">
            <a:gsLst>
              <a:gs pos="0">
                <a:srgbClr val="B8C0C8">
                  <a:alpha val="25000"/>
                </a:srgbClr>
              </a:gs>
              <a:gs pos="100000">
                <a:srgbClr val="B8C0C8">
                  <a:alpha val="60000"/>
                </a:srgbClr>
              </a:gs>
            </a:gsLst>
            <a:lin ang="0" scaled="0"/>
          </a:gradFill>
          <a:ln/>
        </p:spPr>
      </p:sp>
      <p:sp>
        <p:nvSpPr>
          <p:cNvPr id="18" name="Text 16"/>
          <p:cNvSpPr/>
          <p:nvPr/>
        </p:nvSpPr>
        <p:spPr>
          <a:xfrm>
            <a:off x="11477625" y="5156200"/>
            <a:ext cx="886936" cy="415449"/>
          </a:xfrm>
          <a:prstGeom prst="rect">
            <a:avLst/>
          </a:prstGeom>
          <a:noFill/>
          <a:ln/>
        </p:spPr>
        <p:txBody>
          <a:bodyPr wrap="square" lIns="25400" tIns="25400" rIns="25400" bIns="25400" rtlCol="0" anchor="t">
            <a:normAutofit/>
          </a:bodyPr>
          <a:lstStyle/>
          <a:p>
            <a:pPr algn="l" indent="0" marL="0">
              <a:buNone/>
            </a:pPr>
            <a:r>
              <a:rPr lang="en-US" sz="2550" b="1" dirty="0">
                <a:solidFill>
                  <a:srgbClr val="B8C0C8"/>
                </a:solidFill>
                <a:latin typeface="Arial" pitchFamily="34" charset="0"/>
                <a:ea typeface="Arial" pitchFamily="34" charset="-122"/>
                <a:cs typeface="Arial" pitchFamily="34" charset="-120"/>
              </a:rPr>
              <a:t>0.375</a:t>
            </a:r>
            <a:endParaRPr lang="en-US" sz="2550" dirty="0"/>
          </a:p>
        </p:txBody>
      </p:sp>
      <p:sp>
        <p:nvSpPr>
          <p:cNvPr id="19" name="Text 17"/>
          <p:cNvSpPr/>
          <p:nvPr/>
        </p:nvSpPr>
        <p:spPr>
          <a:xfrm>
            <a:off x="1476375" y="6077585"/>
            <a:ext cx="16868775" cy="353536"/>
          </a:xfrm>
          <a:prstGeom prst="rect">
            <a:avLst/>
          </a:prstGeom>
          <a:noFill/>
          <a:ln/>
        </p:spPr>
        <p:txBody>
          <a:bodyPr wrap="square" lIns="25400" tIns="25400" rIns="25400" bIns="25400" rtlCol="0" anchor="t">
            <a:normAutofit/>
          </a:bodyPr>
          <a:lstStyle/>
          <a:p>
            <a:pPr algn="l" indent="0" marL="0">
              <a:lnSpc>
                <a:spcPct val="117089"/>
              </a:lnSpc>
              <a:buNone/>
            </a:pPr>
            <a:r>
              <a:rPr lang="en-US" sz="1800" dirty="0">
                <a:solidFill>
                  <a:srgbClr val="B8C0C8"/>
                </a:solidFill>
                <a:latin typeface="Arial" pitchFamily="34" charset="0"/>
                <a:ea typeface="Arial" pitchFamily="34" charset="-122"/>
                <a:cs typeface="Arial" pitchFamily="34" charset="-120"/>
              </a:rPr>
              <a:t>Validation set, 40,915 accidents. Reference from a comparable gradient boosting model in the team's final notebook (Micheal), validation set.</a:t>
            </a:r>
            <a:endParaRPr lang="en-US" sz="1800" dirty="0"/>
          </a:p>
        </p:txBody>
      </p:sp>
      <p:sp>
        <p:nvSpPr>
          <p:cNvPr id="20" name="Shape 18"/>
          <p:cNvSpPr/>
          <p:nvPr/>
        </p:nvSpPr>
        <p:spPr>
          <a:xfrm rot="2700000">
            <a:off x="1047750" y="7458075"/>
            <a:ext cx="247650" cy="247650"/>
          </a:xfrm>
          <a:prstGeom prst="rect">
            <a:avLst/>
          </a:prstGeom>
          <a:solidFill>
            <a:srgbClr val="FFBE0B"/>
          </a:solidFill>
          <a:ln/>
          <a:effectLst>
            <a:outerShdw sx="100000" sy="100000" kx="0" ky="0" algn="bl" rotWithShape="0" blurRad="171450" dist="50800" dir="16200000">
              <a:srgbClr val="FFBE0B">
                <a:alpha val="55000"/>
              </a:srgbClr>
            </a:outerShdw>
          </a:effectLst>
        </p:spPr>
      </p:sp>
      <p:sp>
        <p:nvSpPr>
          <p:cNvPr id="21" name="Text 19"/>
          <p:cNvSpPr/>
          <p:nvPr/>
        </p:nvSpPr>
        <p:spPr>
          <a:xfrm>
            <a:off x="1562100" y="7069296"/>
            <a:ext cx="16148495" cy="1063307"/>
          </a:xfrm>
          <a:prstGeom prst="rect">
            <a:avLst/>
          </a:prstGeom>
          <a:noFill/>
          <a:ln/>
        </p:spPr>
        <p:txBody>
          <a:bodyPr wrap="square" lIns="25400" tIns="25400" rIns="25400" bIns="25400" rtlCol="0" anchor="t">
            <a:normAutofit/>
          </a:bodyPr>
          <a:lstStyle/>
          <a:p>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In the reference model, leaving out how the accident happened costs about </a:t>
            </a:r>
            <a:pPr algn="l" indent="0" marL="0">
              <a:lnSpc>
                <a:spcPct val="118427"/>
              </a:lnSpc>
              <a:buNone/>
            </a:pPr>
            <a:r>
              <a:rPr lang="en-US" sz="3300" b="1" dirty="0">
                <a:solidFill>
                  <a:srgbClr val="FFBE0B"/>
                </a:solidFill>
                <a:latin typeface="Arial" pitchFamily="34" charset="0"/>
                <a:ea typeface="Arial" pitchFamily="34" charset="-122"/>
                <a:cs typeface="Arial" pitchFamily="34" charset="-120"/>
              </a:rPr>
              <a:t>0.029 </a:t>
            </a:r>
            <a:pPr algn="l" indent="0" marL="0">
              <a:lnSpc>
                <a:spcPct val="118427"/>
              </a:lnSpc>
              <a:buNone/>
            </a:pPr>
            <a:r>
              <a:rPr lang="en-US" sz="2550" b="1" dirty="0">
                <a:solidFill>
                  <a:srgbClr val="F5F7FA"/>
                </a:solidFill>
                <a:latin typeface="Arial" pitchFamily="34" charset="0"/>
                <a:ea typeface="Arial" pitchFamily="34" charset="-122"/>
                <a:cs typeface="Arial" pitchFamily="34" charset="-120"/>
              </a:rPr>
              <a:t>: the price of being usable for planning.</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2026-10-23T09:41:54Z</dcterms:created>
  <dcterms:modified xsi:type="dcterms:W3CDTF">2026-10-23T09:41:54Z</dcterms:modified>
</cp:coreProperties>
</file>