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588336-1522-ccc8-b849-ee27df453866}">
          <p14:sldIdLst>
            <p14:sldId id="256"/>
            <p14:sldId id="257"/>
          </p14:sldIdLst>
        </p14:section>
        <p14:section name="Data and findings" id="{6aaafcec-a727-9518-6d66-a792127af67c}">
          <p14:sldIdLst>
            <p14:sldId id="258"/>
            <p14:sldId id="259"/>
            <p14:sldId id="260"/>
          </p14:sldIdLst>
        </p14:section>
        <p14:section name="Model" id="{fd21de2a-4302-81d2-eb7d-19c857f43266}">
          <p14:sldIdLst>
            <p14:sldId id="261"/>
            <p14:sldId id="262"/>
            <p14:sldId id="263"/>
          </p14:sldIdLst>
        </p14:section>
        <p14:section name="Results" id="{5e92a455-d3e3-1779-94c7-ea1ca17c31c8}">
          <p14:sldIdLst>
            <p14:sldId id="264"/>
            <p14:sldId id="265"/>
          </p14:sldIdLst>
        </p14:section>
        <p14:section name="Use and recommendations" id="{fefa75a2-3e64-ee39-e296-77cc61405d4e}">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Share of severe accidents (official Destatis area type)</a:t>
            </a:r>
          </a:p>
        </c:rich>
      </c:tx>
      <c:layout/>
      <c:overlay val="0"/>
    </c:title>
    <c:autoTitleDeleted val="0"/>
    <c:plotArea>
      <c:layout/>
      <c:barChart>
        <c:barDir val="col"/>
        <c:grouping val="clustered"/>
        <c:varyColors val="0"/>
        <c:ser>
          <c:idx val="0"/>
          <c:order val="0"/>
          <c:tx>
            <c:strRef>
              <c:f>Sheet1!$B$1</c:f>
              <c:strCache>
                <c:ptCount val="1"/>
                <c:pt idx="0">
                  <c:v>% severe</c:v>
                </c:pt>
              </c:strCache>
            </c:strRef>
          </c:tx>
          <c:spPr>
            <a:solidFill>
              <a:srgbClr val="3B6EA8"/>
            </a:solidFill>
            <a:effectLst/>
          </c:spPr>
          <c:invertIfNegative val="0"/>
          <c:dLbls>
            <c:numFmt formatCode="0.0&quot; %&quot;" sourceLinked="0"/>
            <c:txPr>
              <a:bodyPr/>
              <a:lstStyle/>
              <a:p>
                <a:pPr>
                  <a:defRPr b="0" i="0" strike="noStrike" sz="1400" u="none">
                    <a:solidFill>
                      <a:srgbClr val="1E2328"/>
                    </a:solidFill>
                    <a:latin typeface="+mn-lt"/>
                  </a:defRPr>
                </a:pPr>
              </a:p>
            </c:txPr>
            <c:showLegendKey val="0"/>
            <c:showVal val="1"/>
            <c:showCatName val="0"/>
            <c:showSerName val="0"/>
            <c:showPercent val="0"/>
            <c:showBubbleSize val="0"/>
            <c:showLeaderLines val="0"/>
          </c:dLbls>
          <c:dPt>
            <c:idx val="0"/>
            <c:invertIfNegative val="0"/>
            <c:bubble3D val="0"/>
            <c:spPr>
              <a:solidFill>
                <a:srgbClr val="3B6EA8"/>
              </a:solidFill>
              <a:effectLst/>
            </c:spPr>
          </c:dPt>
          <c:dPt>
            <c:idx val="1"/>
            <c:invertIfNegative val="0"/>
            <c:bubble3D val="0"/>
            <c:spPr>
              <a:solidFill>
                <a:srgbClr val="E8A33D"/>
              </a:solidFill>
              <a:effectLst/>
            </c:spPr>
          </c:dPt>
          <c:dPt>
            <c:idx val="2"/>
            <c:invertIfNegative val="0"/>
            <c:bubble3D val="0"/>
            <c:spPr>
              <a:solidFill>
                <a:srgbClr val="4A7C59"/>
              </a:solidFill>
              <a:effectLst/>
            </c:spPr>
          </c:dPt>
          <c:cat>
            <c:multiLvlStrRef>
              <c:f>Sheet1!$A$2:$A$4</c:f>
              <c:multiLvlStrCache>
                <c:ptCount val="3"/>
                <c:lvl>
                  <c:pt idx="0">
                    <c:v>Cities</c:v>
                  </c:pt>
                  <c:pt idx="1">
                    <c:v>Towns</c:v>
                  </c:pt>
                  <c:pt idx="2">
                    <c:v>Rural areas</c:v>
                  </c:pt>
                </c:lvl>
              </c:multiLvlStrCache>
            </c:multiLvlStrRef>
          </c:cat>
          <c:val>
            <c:numRef>
              <c:f>Sheet1!$B$2:$B$4</c:f>
              <c:numCache>
                <c:formatCode>General</c:formatCode>
                <c:ptCount val="3"/>
                <c:pt idx="0">
                  <c:v>11.3</c:v>
                </c:pt>
                <c:pt idx="1">
                  <c:v>16.2</c:v>
                </c:pt>
                <c:pt idx="2">
                  <c:v>24.3</c:v>
                </c:pt>
              </c:numCache>
            </c:numRef>
          </c:val>
        </c:ser>
        <c:dLbls>
          <c:numFmt formatCode="0.0&quot; %&quot;" sourceLinked="0"/>
          <c:txPr>
            <a:bodyPr/>
            <a:lstStyle/>
            <a:p>
              <a:pPr>
                <a:defRPr b="0" i="0" strike="noStrike" sz="1400" u="none">
                  <a:solidFill>
                    <a:srgbClr val="1E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 severe when this road user is involved (average 15.7 %)</a:t>
            </a:r>
          </a:p>
        </c:rich>
      </c:tx>
      <c:layout/>
      <c:overlay val="0"/>
    </c:title>
    <c:autoTitleDeleted val="0"/>
    <c:plotArea>
      <c:layout/>
      <c:barChart>
        <c:barDir val="bar"/>
        <c:grouping val="clustered"/>
        <c:varyColors val="0"/>
        <c:ser>
          <c:idx val="0"/>
          <c:order val="0"/>
          <c:tx>
            <c:strRef>
              <c:f>Sheet1!$B$1</c:f>
              <c:strCache>
                <c:ptCount val="1"/>
                <c:pt idx="0">
                  <c:v>% severe when involved</c:v>
                </c:pt>
              </c:strCache>
            </c:strRef>
          </c:tx>
          <c:spPr>
            <a:solidFill>
              <a:srgbClr val="C8423B"/>
            </a:solidFill>
            <a:effectLst/>
          </c:spPr>
          <c:invertIfNegative val="0"/>
          <c:dLbls>
            <c:numFmt formatCode="0.0&quot; %&quot;"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dPt>
            <c:idx val="0"/>
            <c:invertIfNegative val="0"/>
            <c:bubble3D val="0"/>
            <c:spPr>
              <a:solidFill>
                <a:srgbClr val="C8423B"/>
              </a:solidFill>
              <a:effectLst/>
            </c:spPr>
          </c:dPt>
          <c:dPt>
            <c:idx val="1"/>
            <c:invertIfNegative val="0"/>
            <c:bubble3D val="0"/>
            <c:spPr>
              <a:solidFill>
                <a:srgbClr val="B4B2A9"/>
              </a:solidFill>
              <a:effectLst/>
            </c:spPr>
          </c:dPt>
          <c:dPt>
            <c:idx val="2"/>
            <c:invertIfNegative val="0"/>
            <c:bubble3D val="0"/>
            <c:spPr>
              <a:solidFill>
                <a:srgbClr val="B4B2A9"/>
              </a:solidFill>
              <a:effectLst/>
            </c:spPr>
          </c:dPt>
          <c:dPt>
            <c:idx val="3"/>
            <c:invertIfNegative val="0"/>
            <c:bubble3D val="0"/>
            <c:spPr>
              <a:solidFill>
                <a:srgbClr val="B4B2A9"/>
              </a:solidFill>
              <a:effectLst/>
            </c:spPr>
          </c:dPt>
          <c:dPt>
            <c:idx val="4"/>
            <c:invertIfNegative val="0"/>
            <c:bubble3D val="0"/>
            <c:spPr>
              <a:solidFill>
                <a:srgbClr val="B4B2A9"/>
              </a:solidFill>
              <a:effectLst/>
            </c:spPr>
          </c:dPt>
          <c:cat>
            <c:multiLvlStrRef>
              <c:f>Sheet1!$A$2:$A$6</c:f>
              <c:multiLvlStrCache>
                <c:ptCount val="5"/>
                <c:lvl>
                  <c:pt idx="0">
                    <c:v>Motorcycle</c:v>
                  </c:pt>
                  <c:pt idx="1">
                    <c:v>Truck</c:v>
                  </c:pt>
                  <c:pt idx="2">
                    <c:v>Pedestrian</c:v>
                  </c:pt>
                  <c:pt idx="3">
                    <c:v>Bicycle</c:v>
                  </c:pt>
                  <c:pt idx="4">
                    <c:v>Car</c:v>
                  </c:pt>
                </c:lvl>
              </c:multiLvlStrCache>
            </c:multiLvlStrRef>
          </c:cat>
          <c:val>
            <c:numRef>
              <c:f>Sheet1!$B$2:$B$6</c:f>
              <c:numCache>
                <c:formatCode>General</c:formatCode>
                <c:ptCount val="5"/>
                <c:pt idx="0">
                  <c:v>24.8</c:v>
                </c:pt>
                <c:pt idx="1">
                  <c:v>21</c:v>
                </c:pt>
                <c:pt idx="2">
                  <c:v>19.2</c:v>
                </c:pt>
                <c:pt idx="3">
                  <c:v>15</c:v>
                </c:pt>
                <c:pt idx="4">
                  <c:v>13.7</c:v>
                </c:pt>
              </c:numCache>
            </c:numRef>
          </c:val>
        </c:ser>
        <c:dLbls>
          <c:numFmt formatCode="0.0&quot; %&quot;"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F1 score on validation data (grey = baselines)</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B4B2A9"/>
            </a:solidFill>
            <a:effectLst/>
          </c:spPr>
          <c:invertIfNegative val="0"/>
          <c:dLbls>
            <c:numFmt formatCode="0.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dPt>
            <c:idx val="0"/>
            <c:invertIfNegative val="0"/>
            <c:bubble3D val="0"/>
            <c:spPr>
              <a:solidFill>
                <a:srgbClr val="B4B2A9"/>
              </a:solidFill>
              <a:effectLst/>
            </c:spPr>
          </c:dPt>
          <c:dPt>
            <c:idx val="1"/>
            <c:invertIfNegative val="0"/>
            <c:bubble3D val="0"/>
            <c:spPr>
              <a:solidFill>
                <a:srgbClr val="B4B2A9"/>
              </a:solidFill>
              <a:effectLst/>
            </c:spPr>
          </c:dPt>
          <c:dPt>
            <c:idx val="2"/>
            <c:invertIfNegative val="0"/>
            <c:bubble3D val="0"/>
            <c:spPr>
              <a:solidFill>
                <a:srgbClr val="E8A33D"/>
              </a:solidFill>
              <a:effectLst/>
            </c:spPr>
          </c:dPt>
          <c:dPt>
            <c:idx val="3"/>
            <c:invertIfNegative val="0"/>
            <c:bubble3D val="0"/>
            <c:spPr>
              <a:solidFill>
                <a:srgbClr val="E8A33D"/>
              </a:solidFill>
              <a:effectLst/>
            </c:spPr>
          </c:dPt>
          <c:dPt>
            <c:idx val="4"/>
            <c:invertIfNegative val="0"/>
            <c:bubble3D val="0"/>
            <c:spPr>
              <a:solidFill>
                <a:srgbClr val="1E2328"/>
              </a:solidFill>
              <a:effectLst/>
            </c:spPr>
          </c:dPt>
          <c:dPt>
            <c:idx val="5"/>
            <c:invertIfNegative val="0"/>
            <c:bubble3D val="0"/>
            <c:spPr>
              <a:solidFill>
                <a:srgbClr val="E8A33D"/>
              </a:solidFill>
              <a:effectLst/>
            </c:spPr>
          </c:dPt>
          <c:cat>
            <c:multiLvlStrRef>
              <c:f>Sheet1!$A$2:$A$7</c:f>
              <c:multiLvlStrCache>
                <c:ptCount val="6"/>
                <c:lvl>
                  <c:pt idx="0">
                    <c:v>Simple rule</c:v>
                  </c:pt>
                  <c:pt idx="1">
                    <c:v>Historical scenario</c:v>
                  </c:pt>
                  <c:pt idx="2">
                    <c:v>Logistic regression</c:v>
                  </c:pt>
                  <c:pt idx="3">
                    <c:v>Random forest</c:v>
                  </c:pt>
                  <c:pt idx="4">
                    <c:v>Gradient boosting</c:v>
                  </c:pt>
                  <c:pt idx="5">
                    <c:v>Stacking (combined)</c:v>
                  </c:pt>
                </c:lvl>
              </c:multiLvlStrCache>
            </c:multiLvlStrRef>
          </c:cat>
          <c:val>
            <c:numRef>
              <c:f>Sheet1!$B$2:$B$7</c:f>
              <c:numCache>
                <c:formatCode>General</c:formatCode>
                <c:ptCount val="6"/>
                <c:pt idx="0">
                  <c:v>0.303</c:v>
                </c:pt>
                <c:pt idx="1">
                  <c:v>0.315</c:v>
                </c:pt>
                <c:pt idx="2">
                  <c:v>0.336</c:v>
                </c:pt>
                <c:pt idx="3">
                  <c:v>0.341</c:v>
                </c:pt>
                <c:pt idx="4">
                  <c:v>0.341</c:v>
                </c:pt>
                <c:pt idx="5">
                  <c:v>0.344</c:v>
                </c:pt>
              </c:numCache>
            </c:numRef>
          </c:val>
        </c:ser>
        <c:dLbls>
          <c:numFmt formatCode="0.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0.36"/>
          <c:min val="0.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How much worse the model gets without this information</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4A7C59"/>
            </a:solidFill>
            <a:effectLst/>
          </c:spPr>
          <c:invertIfNegative val="0"/>
          <c:dLbls>
            <c:numFmt formatCode="0.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dPt>
            <c:idx val="0"/>
            <c:invertIfNegative val="0"/>
            <c:bubble3D val="0"/>
            <c:spPr>
              <a:solidFill>
                <a:srgbClr val="4A7C59"/>
              </a:solidFill>
              <a:effectLst/>
            </c:spPr>
          </c:dPt>
          <c:dPt>
            <c:idx val="1"/>
            <c:invertIfNegative val="0"/>
            <c:bubble3D val="0"/>
            <c:spPr>
              <a:solidFill>
                <a:srgbClr val="C8423B"/>
              </a:solidFill>
              <a:effectLst/>
            </c:spPr>
          </c:dPt>
          <c:dPt>
            <c:idx val="2"/>
            <c:invertIfNegative val="0"/>
            <c:bubble3D val="0"/>
            <c:spPr>
              <a:solidFill>
                <a:srgbClr val="B4B2A9"/>
              </a:solidFill>
              <a:effectLst/>
            </c:spPr>
          </c:dPt>
          <c:cat>
            <c:multiLvlStrRef>
              <c:f>Sheet1!$A$2:$A$4</c:f>
              <c:multiLvlStrCache>
                <c:ptCount val="3"/>
                <c:lvl>
                  <c:pt idx="0">
                    <c:v>Population density (city vs countryside)</c:v>
                  </c:pt>
                  <c:pt idx="1">
                    <c:v>Motorcycle involved</c:v>
                  </c:pt>
                  <c:pt idx="2">
                    <c:v>Car involved</c:v>
                  </c:pt>
                </c:lvl>
              </c:multiLvlStrCache>
            </c:multiLvlStrRef>
          </c:cat>
          <c:val>
            <c:numRef>
              <c:f>Sheet1!$B$2:$B$4</c:f>
              <c:numCache>
                <c:formatCode>General</c:formatCode>
                <c:ptCount val="3"/>
                <c:pt idx="0">
                  <c:v>0.055</c:v>
                </c:pt>
                <c:pt idx="1">
                  <c:v>0.019</c:v>
                </c:pt>
                <c:pt idx="2">
                  <c:v>0.017</c:v>
                </c:pt>
              </c:numCache>
            </c:numRef>
          </c:val>
        </c:ser>
        <c:dLbls>
          <c:numFmt formatCode="0.000" sourceLinked="0"/>
          <c:txPr>
            <a:bodyPr/>
            <a:lstStyle/>
            <a:p>
              <a:pPr>
                <a:defRPr b="0" i="0" strike="noStrike" sz="1200" u="none">
                  <a:solidFill>
                    <a:srgbClr val="1E23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0.06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Britt: Welcome. We are the Random Forest Rangers. Our question today: when an injury accident happens on a German road, can we tell in advance how likely it is that someone is killed or seriously injured?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Britt: In 2025 the police recorded 272,812 accidents with injured people. About 1 in 6, 15.7 percent, were severe. Our client is a road-safety planning team. We only use information that is known BEFORE an accident: place, time, conditions and road users. We do not use how the accident happened, because that is only known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Zina: Our data comes from two official sources. The Unfallatlas records every accident with injuries. From Destatis we added, for each municipality, the population, area and the official degree of urbanisation. We matched them by the municipality code. Only 195 accidents could not be matched, mostly in uninhabited areas, so we left them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Zina: Our clearest finding. In cities, 11 percent of injury accidents are severe, in towns 16 percent, in rural areas 24 percent. This holds in every one of the 16 states. And it is not just a different mix of accidents: the same kind of accident is more severe in the countryside, most likely because of higher speeds. Older eastern states look more dangerous, but mainly because they are more rural.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Jishnu: Who is involved matters most after location. Motorcycle accidents are severe in about 25 percent of cases, on rural roads even about 35 percent. Cars lower the risk, because car occupants are protected. Time matters too: the severe share peaks at night, 26 percent at 3 a.m., and weekends are riskier than weekdays.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Jishnu: Severe accidents are rare, so accuracy is misleading: a model that always says 'not severe' is 84 percent correct and useless. We use the F1 score, which balances finding severe accidents with avoiding false alarms. Before any machine learning we set two baselines: a simple rule, F1 0.303, and a lookup of similar past accidents, F1 0.315. Our models have to beat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Tiziano: We tried the models from the course step by step: logistic regression, a decision tree, random forest, gradient boosting, and combinations of models. Every model beats both baselines. But they all end at about the same F1, around 0.34. Tuning the settings added about 0.002, combining models about 0.003. Four of us got this result independently, with different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Tiziano: Why does everything stop at 0.34? Severity depends mostly on things the accident atlas does not record: speed, road type, helmet and seatbelt use. I tried adding educated guesses for these, and they did not help. As a check, we gave the same model the information about how the accident happened: it only reaches 0.375. So predicting before the accident costs us just 0.034.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Micheal: Our final model is a tuned gradient boosting model. It finds 56 percent of the severe accidents, and 1 in 4 accidents it flags is really severe, compared with 1 in 6 on average. It raises 24 percent fewer false alarms than the historical baseline. Among the 10 percent of accidents it rates as most risky, 1 in 3 is severe. Its probabilities are calibrated, so '25 percent risk' really means about 1 in 4. [Add the test score here after the final test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Micheal: What does the model rely on? We shuffled each piece of information and measured how much worse the model gets. Population density, city versus countryside, is by far the most important, about three times more than anything else. Next come the road users: motorcycles raise the risk, cars lower it. This shows what the model uses, not what causes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Britt: How could this be used? A risk explorer: a planner chooses a place, a time and the road users, and gets the probability that an accident in this situation is severe. This feeds a risk map for planning, targeted campaigns, for example for motorcyclists on rural roads at night, and live warnings in navigation apps. The example on the left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Britt: Three recommendations. First, prioritise rural roads, especially for motorcycles: that is where prevention saves the most. Second, use the model as a risk ranking, not as a yes-or-no decision; cities need their own approach, because one national cut-off misses many severe city accidents. Third, the biggest improvement would come from new data: road type and speed limits, and more than one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Britt: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chemeClr val="tx2"/>
                </a:solidFill>
              </a:rPr>
              <a:t>The Random Forest Rangers  ·  Unfallatlas 2025</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Which road accidents end badly?</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r>
              <a:rPr lang="en-US" sz="1800" dirty="0">
                <a:solidFill>
                  <a:schemeClr val="accent1"/>
                </a:solidFill>
              </a:rPr>
              <a:t>Predicting severe injury accidents in Germany before they happen</a:t>
            </a:r>
            <a:endParaRPr lang="en-US" sz="1800" dirty="0"/>
          </a:p>
        </p:txBody>
      </p:sp>
      <p:sp>
        <p:nvSpPr>
          <p:cNvPr id="4" name="icon circle"/>
          <p:cNvSpPr/>
          <p:nvPr/>
        </p:nvSpPr>
        <p:spPr>
          <a:xfrm>
            <a:off x="548640" y="502920"/>
            <a:ext cx="594360" cy="594360"/>
          </a:xfrm>
          <a:prstGeom prst="ellipse">
            <a:avLst/>
          </a:prstGeom>
          <a:solidFill>
            <a:srgbClr val="E8A33D"/>
          </a:solidFill>
          <a:ln/>
        </p:spPr>
      </p:sp>
      <p:pic>
        <p:nvPicPr>
          <p:cNvPr id="5" name="icon FaRoad" descr="preencoded.png">    </p:cNvPr>
          <p:cNvPicPr>
            <a:picLocks noChangeAspect="1"/>
          </p:cNvPicPr>
          <p:nvPr/>
        </p:nvPicPr>
        <p:blipFill>
          <a:blip r:embed="rId1"/>
          <a:stretch>
            <a:fillRect/>
          </a:stretch>
        </p:blipFill>
        <p:spPr>
          <a:xfrm>
            <a:off x="691286" y="645566"/>
            <a:ext cx="309067" cy="309067"/>
          </a:xfrm>
          <a:prstGeom prst="rect">
            <a:avLst/>
          </a:prstGeom>
        </p:spPr>
      </p:pic>
      <p:sp>
        <p:nvSpPr>
          <p:cNvPr id="6" name="Text 3"/>
          <p:cNvSpPr txBox="1"/>
          <p:nvPr/>
        </p:nvSpPr>
        <p:spPr>
          <a:xfrm>
            <a:off x="548640" y="4160520"/>
            <a:ext cx="8046720" cy="320040"/>
          </a:xfrm>
          <a:prstGeom prst="rect">
            <a:avLst/>
          </a:prstGeom>
          <a:noFill/>
          <a:ln/>
        </p:spPr>
        <p:txBody>
          <a:bodyPr wrap="square" lIns="0" tIns="0" rIns="0" bIns="0" rtlCol="0" anchor="ctr"/>
          <a:lstStyle/>
          <a:p>
            <a:pPr indent="0" marL="0">
              <a:buNone/>
            </a:pPr>
            <a:r>
              <a:rPr lang="en-US" sz="1200" dirty="0">
                <a:solidFill>
                  <a:schemeClr val="bg2"/>
                </a:solidFill>
              </a:rPr>
              <a:t>The Random Forest Rangers: Britt Schulze-Adesida · Jishnu Vasudevan · Micheal Eshak · Tiziano Cocciò · Zina Beek</a:t>
            </a:r>
            <a:endParaRPr lang="en-US" sz="1200" dirty="0"/>
          </a:p>
        </p:txBody>
      </p:sp>
      <p:sp>
        <p:nvSpPr>
          <p:cNvPr id="7" name="Text 4"/>
          <p:cNvSpPr txBox="1"/>
          <p:nvPr/>
        </p:nvSpPr>
        <p:spPr>
          <a:xfrm>
            <a:off x="548640" y="4480560"/>
            <a:ext cx="8046720" cy="274320"/>
          </a:xfrm>
          <a:prstGeom prst="rect">
            <a:avLst/>
          </a:prstGeom>
          <a:noFill/>
          <a:ln/>
        </p:spPr>
        <p:txBody>
          <a:bodyPr wrap="square" lIns="0" tIns="0" rIns="0" bIns="0" rtlCol="0" anchor="ctr"/>
          <a:lstStyle/>
          <a:p>
            <a:pPr indent="0" marL="0">
              <a:buNone/>
            </a:pPr>
            <a:r>
              <a:rPr lang="en-US" sz="1100" dirty="0">
                <a:solidFill>
                  <a:srgbClr val="9CA3AF"/>
                </a:solidFill>
              </a:rPr>
              <a:t>23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1 in 6 injury accidents ends with someone killed or seriously injured</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Britt</a:t>
            </a:r>
            <a:endParaRPr lang="en-US" sz="1100" dirty="0"/>
          </a:p>
        </p:txBody>
      </p:sp>
      <p:sp>
        <p:nvSpPr>
          <p:cNvPr id="5" name="card"/>
          <p:cNvSpPr/>
          <p:nvPr/>
        </p:nvSpPr>
        <p:spPr>
          <a:xfrm>
            <a:off x="457200" y="1234440"/>
            <a:ext cx="3291840" cy="3291840"/>
          </a:xfrm>
          <a:prstGeom prst="roundRect">
            <a:avLst>
              <a:gd name="adj" fmla="val 2222"/>
            </a:avLst>
          </a:prstGeom>
          <a:solidFill>
            <a:schemeClr val="tx1"/>
          </a:solidFill>
          <a:ln/>
        </p:spPr>
      </p:sp>
      <p:sp>
        <p:nvSpPr>
          <p:cNvPr id="6" name="Text 4"/>
          <p:cNvSpPr txBox="1"/>
          <p:nvPr/>
        </p:nvSpPr>
        <p:spPr>
          <a:xfrm>
            <a:off x="731520" y="1463040"/>
            <a:ext cx="2743200" cy="731520"/>
          </a:xfrm>
          <a:prstGeom prst="rect">
            <a:avLst/>
          </a:prstGeom>
          <a:noFill/>
          <a:ln/>
        </p:spPr>
        <p:txBody>
          <a:bodyPr wrap="square" lIns="0" tIns="0" rIns="0" bIns="0" rtlCol="0" anchor="ctr"/>
          <a:lstStyle/>
          <a:p>
            <a:pPr indent="0" marL="0">
              <a:buNone/>
            </a:pPr>
            <a:r>
              <a:rPr lang="en-US" sz="4400" b="1" dirty="0">
                <a:solidFill>
                  <a:schemeClr val="bg1"/>
                </a:solidFill>
                <a:latin typeface="Arial" pitchFamily="34" charset="0"/>
                <a:ea typeface="Arial" pitchFamily="34" charset="-122"/>
                <a:cs typeface="Arial" pitchFamily="34" charset="-120"/>
              </a:rPr>
              <a:t>272,812</a:t>
            </a:r>
            <a:endParaRPr lang="en-US" sz="4400" dirty="0"/>
          </a:p>
        </p:txBody>
      </p:sp>
      <p:sp>
        <p:nvSpPr>
          <p:cNvPr id="7" name="Text 5"/>
          <p:cNvSpPr txBox="1"/>
          <p:nvPr/>
        </p:nvSpPr>
        <p:spPr>
          <a:xfrm>
            <a:off x="731520" y="2194560"/>
            <a:ext cx="2743200" cy="365760"/>
          </a:xfrm>
          <a:prstGeom prst="rect">
            <a:avLst/>
          </a:prstGeom>
          <a:noFill/>
          <a:ln/>
        </p:spPr>
        <p:txBody>
          <a:bodyPr wrap="square" lIns="0" tIns="0" rIns="0" bIns="0" rtlCol="0" anchor="ctr"/>
          <a:lstStyle/>
          <a:p>
            <a:pPr indent="0" marL="0">
              <a:buNone/>
            </a:pPr>
            <a:r>
              <a:rPr lang="en-US" sz="1400" dirty="0">
                <a:solidFill>
                  <a:schemeClr val="bg2"/>
                </a:solidFill>
              </a:rPr>
              <a:t>injury accidents in Germany in 2025</a:t>
            </a:r>
            <a:endParaRPr lang="en-US" sz="1400" dirty="0"/>
          </a:p>
        </p:txBody>
      </p:sp>
      <p:sp>
        <p:nvSpPr>
          <p:cNvPr id="8" name="Text 6"/>
          <p:cNvSpPr txBox="1"/>
          <p:nvPr/>
        </p:nvSpPr>
        <p:spPr>
          <a:xfrm>
            <a:off x="731520" y="2880360"/>
            <a:ext cx="2743200" cy="73152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15.7 %</a:t>
            </a:r>
            <a:endParaRPr lang="en-US" sz="4400" dirty="0"/>
          </a:p>
        </p:txBody>
      </p:sp>
      <p:sp>
        <p:nvSpPr>
          <p:cNvPr id="9" name="Text 7"/>
          <p:cNvSpPr txBox="1"/>
          <p:nvPr/>
        </p:nvSpPr>
        <p:spPr>
          <a:xfrm>
            <a:off x="731520" y="3611880"/>
            <a:ext cx="2743200" cy="548640"/>
          </a:xfrm>
          <a:prstGeom prst="rect">
            <a:avLst/>
          </a:prstGeom>
          <a:noFill/>
          <a:ln/>
        </p:spPr>
        <p:txBody>
          <a:bodyPr wrap="square" lIns="0" tIns="0" rIns="0" bIns="0" rtlCol="0" anchor="ctr"/>
          <a:lstStyle/>
          <a:p>
            <a:pPr indent="0" marL="0">
              <a:buNone/>
            </a:pPr>
            <a:r>
              <a:rPr lang="en-US" sz="1400" dirty="0">
                <a:solidFill>
                  <a:schemeClr val="bg2"/>
                </a:solidFill>
              </a:rPr>
              <a:t>were severe (killed or seriously injured)</a:t>
            </a:r>
            <a:endParaRPr lang="en-US" sz="1400" dirty="0"/>
          </a:p>
        </p:txBody>
      </p:sp>
      <p:sp>
        <p:nvSpPr>
          <p:cNvPr id="10" name="Text 8"/>
          <p:cNvSpPr txBox="1"/>
          <p:nvPr/>
        </p:nvSpPr>
        <p:spPr>
          <a:xfrm>
            <a:off x="4114800" y="1234440"/>
            <a:ext cx="4572000" cy="320040"/>
          </a:xfrm>
          <a:prstGeom prst="rect">
            <a:avLst/>
          </a:prstGeom>
          <a:noFill/>
          <a:ln/>
        </p:spPr>
        <p:txBody>
          <a:bodyPr wrap="square" lIns="0" tIns="0" rIns="0" bIns="0" rtlCol="0" anchor="ctr"/>
          <a:lstStyle/>
          <a:p>
            <a:pPr indent="0" marL="0">
              <a:buNone/>
            </a:pPr>
            <a:r>
              <a:rPr lang="en-US" sz="1600" b="1" dirty="0">
                <a:solidFill>
                  <a:schemeClr val="tx1"/>
                </a:solidFill>
              </a:rPr>
              <a:t>Our question</a:t>
            </a:r>
            <a:endParaRPr lang="en-US" sz="1600" dirty="0"/>
          </a:p>
        </p:txBody>
      </p:sp>
      <p:sp>
        <p:nvSpPr>
          <p:cNvPr id="11" name="Text 9"/>
          <p:cNvSpPr txBox="1"/>
          <p:nvPr/>
        </p:nvSpPr>
        <p:spPr>
          <a:xfrm>
            <a:off x="4114800" y="1572768"/>
            <a:ext cx="4572000" cy="731520"/>
          </a:xfrm>
          <a:prstGeom prst="rect">
            <a:avLst/>
          </a:prstGeom>
          <a:noFill/>
          <a:ln/>
        </p:spPr>
        <p:txBody>
          <a:bodyPr wrap="square" lIns="0" tIns="0" rIns="0" bIns="0" rtlCol="0" anchor="ctr"/>
          <a:lstStyle/>
          <a:p>
            <a:pPr indent="0" marL="0">
              <a:buNone/>
            </a:pPr>
            <a:r>
              <a:rPr lang="en-US" sz="1400" i="1" dirty="0">
                <a:solidFill>
                  <a:schemeClr val="tx2"/>
                </a:solidFill>
              </a:rPr>
              <a:t>If an accident happens with these road users, at this place, time and condition, how likely is it to be severe?</a:t>
            </a:r>
            <a:endParaRPr lang="en-US" sz="1400" dirty="0"/>
          </a:p>
        </p:txBody>
      </p:sp>
      <p:sp>
        <p:nvSpPr>
          <p:cNvPr id="12" name="Text 10"/>
          <p:cNvSpPr txBox="1"/>
          <p:nvPr/>
        </p:nvSpPr>
        <p:spPr>
          <a:xfrm>
            <a:off x="4114800" y="2514600"/>
            <a:ext cx="4572000" cy="320040"/>
          </a:xfrm>
          <a:prstGeom prst="rect">
            <a:avLst/>
          </a:prstGeom>
          <a:noFill/>
          <a:ln/>
        </p:spPr>
        <p:txBody>
          <a:bodyPr wrap="square" lIns="0" tIns="0" rIns="0" bIns="0" rtlCol="0" anchor="ctr"/>
          <a:lstStyle/>
          <a:p>
            <a:pPr indent="0" marL="0">
              <a:buNone/>
            </a:pPr>
            <a:r>
              <a:rPr lang="en-US" sz="1600" b="1" dirty="0">
                <a:solidFill>
                  <a:schemeClr val="tx1"/>
                </a:solidFill>
              </a:rPr>
              <a:t>Who it helps</a:t>
            </a:r>
            <a:endParaRPr lang="en-US" sz="1600" dirty="0"/>
          </a:p>
        </p:txBody>
      </p:sp>
      <p:sp>
        <p:nvSpPr>
          <p:cNvPr id="13" name="icon circle"/>
          <p:cNvSpPr/>
          <p:nvPr/>
        </p:nvSpPr>
        <p:spPr>
          <a:xfrm>
            <a:off x="4114800" y="2926080"/>
            <a:ext cx="411480" cy="411480"/>
          </a:xfrm>
          <a:prstGeom prst="ellipse">
            <a:avLst/>
          </a:prstGeom>
          <a:solidFill>
            <a:srgbClr val="E8A33D"/>
          </a:solidFill>
          <a:ln/>
        </p:spPr>
      </p:sp>
      <p:pic>
        <p:nvPicPr>
          <p:cNvPr id="14" name="icon FaMapMarkedAlt" descr="preencoded.png">    </p:cNvPr>
          <p:cNvPicPr>
            <a:picLocks noChangeAspect="1"/>
          </p:cNvPicPr>
          <p:nvPr/>
        </p:nvPicPr>
        <p:blipFill>
          <a:blip r:embed="rId1"/>
          <a:stretch>
            <a:fillRect/>
          </a:stretch>
        </p:blipFill>
        <p:spPr>
          <a:xfrm>
            <a:off x="4213555" y="3024835"/>
            <a:ext cx="213970" cy="213970"/>
          </a:xfrm>
          <a:prstGeom prst="rect">
            <a:avLst/>
          </a:prstGeom>
        </p:spPr>
      </p:pic>
      <p:sp>
        <p:nvSpPr>
          <p:cNvPr id="15" name="Text 12"/>
          <p:cNvSpPr txBox="1"/>
          <p:nvPr/>
        </p:nvSpPr>
        <p:spPr>
          <a:xfrm>
            <a:off x="4663440" y="2880360"/>
            <a:ext cx="4023360" cy="502920"/>
          </a:xfrm>
          <a:prstGeom prst="rect">
            <a:avLst/>
          </a:prstGeom>
          <a:noFill/>
          <a:ln/>
        </p:spPr>
        <p:txBody>
          <a:bodyPr wrap="square" lIns="0" tIns="0" rIns="0" bIns="0" rtlCol="0" anchor="ctr"/>
          <a:lstStyle/>
          <a:p>
            <a:pPr indent="0" marL="0">
              <a:buNone/>
            </a:pPr>
            <a:r>
              <a:rPr lang="en-US" sz="1200" b="1" dirty="0">
                <a:solidFill>
                  <a:schemeClr val="tx1"/>
                </a:solidFill>
              </a:rPr>
              <a:t>Road planners</a:t>
            </a:r>
            <a:endParaRPr lang="en-US" sz="1200" dirty="0"/>
          </a:p>
          <a:p>
            <a:pPr indent="0" marL="0">
              <a:buNone/>
            </a:pPr>
            <a:r>
              <a:rPr lang="en-US" sz="1200" dirty="0">
                <a:solidFill>
                  <a:schemeClr val="tx2"/>
                </a:solidFill>
              </a:rPr>
              <a:t>where to invest in safer roads</a:t>
            </a:r>
            <a:endParaRPr lang="en-US" sz="1200" dirty="0"/>
          </a:p>
        </p:txBody>
      </p:sp>
      <p:sp>
        <p:nvSpPr>
          <p:cNvPr id="16" name="icon circle"/>
          <p:cNvSpPr/>
          <p:nvPr/>
        </p:nvSpPr>
        <p:spPr>
          <a:xfrm>
            <a:off x="4114800" y="3474720"/>
            <a:ext cx="411480" cy="411480"/>
          </a:xfrm>
          <a:prstGeom prst="ellipse">
            <a:avLst/>
          </a:prstGeom>
          <a:solidFill>
            <a:srgbClr val="E8A33D"/>
          </a:solidFill>
          <a:ln/>
        </p:spPr>
      </p:sp>
      <p:pic>
        <p:nvPicPr>
          <p:cNvPr id="17" name="icon FaHardHat" descr="preencoded.png">    </p:cNvPr>
          <p:cNvPicPr>
            <a:picLocks noChangeAspect="1"/>
          </p:cNvPicPr>
          <p:nvPr/>
        </p:nvPicPr>
        <p:blipFill>
          <a:blip r:embed="rId2"/>
          <a:stretch>
            <a:fillRect/>
          </a:stretch>
        </p:blipFill>
        <p:spPr>
          <a:xfrm>
            <a:off x="4213555" y="3573475"/>
            <a:ext cx="213970" cy="213970"/>
          </a:xfrm>
          <a:prstGeom prst="rect">
            <a:avLst/>
          </a:prstGeom>
        </p:spPr>
      </p:pic>
      <p:sp>
        <p:nvSpPr>
          <p:cNvPr id="18" name="Text 14"/>
          <p:cNvSpPr txBox="1"/>
          <p:nvPr/>
        </p:nvSpPr>
        <p:spPr>
          <a:xfrm>
            <a:off x="4663440" y="3429000"/>
            <a:ext cx="4023360" cy="502920"/>
          </a:xfrm>
          <a:prstGeom prst="rect">
            <a:avLst/>
          </a:prstGeom>
          <a:noFill/>
          <a:ln/>
        </p:spPr>
        <p:txBody>
          <a:bodyPr wrap="square" lIns="0" tIns="0" rIns="0" bIns="0" rtlCol="0" anchor="ctr"/>
          <a:lstStyle/>
          <a:p>
            <a:pPr indent="0" marL="0">
              <a:buNone/>
            </a:pPr>
            <a:r>
              <a:rPr lang="en-US" sz="1200" b="1" dirty="0">
                <a:solidFill>
                  <a:schemeClr val="tx1"/>
                </a:solidFill>
              </a:rPr>
              <a:t>Road-safety authorities</a:t>
            </a:r>
            <a:endParaRPr lang="en-US" sz="1200" dirty="0"/>
          </a:p>
          <a:p>
            <a:pPr indent="0" marL="0">
              <a:buNone/>
            </a:pPr>
            <a:r>
              <a:rPr lang="en-US" sz="1200" dirty="0">
                <a:solidFill>
                  <a:schemeClr val="tx2"/>
                </a:solidFill>
              </a:rPr>
              <a:t>which campaigns matter most</a:t>
            </a:r>
            <a:endParaRPr lang="en-US" sz="1200" dirty="0"/>
          </a:p>
        </p:txBody>
      </p:sp>
      <p:sp>
        <p:nvSpPr>
          <p:cNvPr id="19" name="icon circle"/>
          <p:cNvSpPr/>
          <p:nvPr/>
        </p:nvSpPr>
        <p:spPr>
          <a:xfrm>
            <a:off x="4114800" y="4023360"/>
            <a:ext cx="411480" cy="411480"/>
          </a:xfrm>
          <a:prstGeom prst="ellipse">
            <a:avLst/>
          </a:prstGeom>
          <a:solidFill>
            <a:srgbClr val="E8A33D"/>
          </a:solidFill>
          <a:ln/>
        </p:spPr>
      </p:sp>
      <p:pic>
        <p:nvPicPr>
          <p:cNvPr id="20" name="icon FaMobileAlt" descr="preencoded.png">    </p:cNvPr>
          <p:cNvPicPr>
            <a:picLocks noChangeAspect="1"/>
          </p:cNvPicPr>
          <p:nvPr/>
        </p:nvPicPr>
        <p:blipFill>
          <a:blip r:embed="rId3"/>
          <a:stretch>
            <a:fillRect/>
          </a:stretch>
        </p:blipFill>
        <p:spPr>
          <a:xfrm>
            <a:off x="4213555" y="4122115"/>
            <a:ext cx="213970" cy="213970"/>
          </a:xfrm>
          <a:prstGeom prst="rect">
            <a:avLst/>
          </a:prstGeom>
        </p:spPr>
      </p:pic>
      <p:sp>
        <p:nvSpPr>
          <p:cNvPr id="21" name="Text 16"/>
          <p:cNvSpPr txBox="1"/>
          <p:nvPr/>
        </p:nvSpPr>
        <p:spPr>
          <a:xfrm>
            <a:off x="4663440" y="3977640"/>
            <a:ext cx="4023360" cy="502920"/>
          </a:xfrm>
          <a:prstGeom prst="rect">
            <a:avLst/>
          </a:prstGeom>
          <a:noFill/>
          <a:ln/>
        </p:spPr>
        <p:txBody>
          <a:bodyPr wrap="square" lIns="0" tIns="0" rIns="0" bIns="0" rtlCol="0" anchor="ctr"/>
          <a:lstStyle/>
          <a:p>
            <a:pPr indent="0" marL="0">
              <a:buNone/>
            </a:pPr>
            <a:r>
              <a:rPr lang="en-US" sz="1200" b="1" dirty="0">
                <a:solidFill>
                  <a:schemeClr val="tx1"/>
                </a:solidFill>
              </a:rPr>
              <a:t>Navigation apps</a:t>
            </a:r>
            <a:endParaRPr lang="en-US" sz="1200" dirty="0"/>
          </a:p>
          <a:p>
            <a:pPr indent="0" marL="0">
              <a:buNone/>
            </a:pPr>
            <a:r>
              <a:rPr lang="en-US" sz="1200" dirty="0">
                <a:solidFill>
                  <a:schemeClr val="tx2"/>
                </a:solidFill>
              </a:rPr>
              <a:t>warn drivers in risky situations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We joined police accident data with official population data</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Zina</a:t>
            </a:r>
            <a:endParaRPr lang="en-US" sz="1100" dirty="0"/>
          </a:p>
        </p:txBody>
      </p:sp>
      <p:sp>
        <p:nvSpPr>
          <p:cNvPr id="5" name="card"/>
          <p:cNvSpPr/>
          <p:nvPr/>
        </p:nvSpPr>
        <p:spPr>
          <a:xfrm>
            <a:off x="457200" y="1280160"/>
            <a:ext cx="2560320" cy="2377440"/>
          </a:xfrm>
          <a:prstGeom prst="roundRect">
            <a:avLst>
              <a:gd name="adj" fmla="val 3077"/>
            </a:avLst>
          </a:prstGeom>
          <a:solidFill>
            <a:schemeClr val="bg2"/>
          </a:solidFill>
          <a:ln/>
        </p:spPr>
      </p:sp>
      <p:sp>
        <p:nvSpPr>
          <p:cNvPr id="6" name="icon circle"/>
          <p:cNvSpPr/>
          <p:nvPr/>
        </p:nvSpPr>
        <p:spPr>
          <a:xfrm>
            <a:off x="685800" y="1508760"/>
            <a:ext cx="594360" cy="594360"/>
          </a:xfrm>
          <a:prstGeom prst="ellipse">
            <a:avLst/>
          </a:prstGeom>
          <a:solidFill>
            <a:srgbClr val="C8423B"/>
          </a:solidFill>
          <a:ln/>
        </p:spPr>
      </p:sp>
      <p:pic>
        <p:nvPicPr>
          <p:cNvPr id="7" name="icon FaCarCrash" descr="preencoded.png">    </p:cNvPr>
          <p:cNvPicPr>
            <a:picLocks noChangeAspect="1"/>
          </p:cNvPicPr>
          <p:nvPr/>
        </p:nvPicPr>
        <p:blipFill>
          <a:blip r:embed="rId1"/>
          <a:stretch>
            <a:fillRect/>
          </a:stretch>
        </p:blipFill>
        <p:spPr>
          <a:xfrm>
            <a:off x="828446" y="1651406"/>
            <a:ext cx="309067" cy="309067"/>
          </a:xfrm>
          <a:prstGeom prst="rect">
            <a:avLst/>
          </a:prstGeom>
        </p:spPr>
      </p:pic>
      <p:sp>
        <p:nvSpPr>
          <p:cNvPr id="8" name="Text 5"/>
          <p:cNvSpPr txBox="1"/>
          <p:nvPr/>
        </p:nvSpPr>
        <p:spPr>
          <a:xfrm>
            <a:off x="685800" y="2240280"/>
            <a:ext cx="2103120" cy="365760"/>
          </a:xfrm>
          <a:prstGeom prst="rect">
            <a:avLst/>
          </a:prstGeom>
          <a:noFill/>
          <a:ln/>
        </p:spPr>
        <p:txBody>
          <a:bodyPr wrap="square" lIns="0" tIns="0" rIns="0" bIns="0" rtlCol="0" anchor="ctr"/>
          <a:lstStyle/>
          <a:p>
            <a:pPr indent="0" marL="0">
              <a:buNone/>
            </a:pPr>
            <a:r>
              <a:rPr lang="en-US" sz="1600" b="1" dirty="0">
                <a:solidFill>
                  <a:schemeClr val="tx1"/>
                </a:solidFill>
              </a:rPr>
              <a:t>Unfallatlas 2025</a:t>
            </a:r>
            <a:endParaRPr lang="en-US" sz="1600" dirty="0"/>
          </a:p>
        </p:txBody>
      </p:sp>
      <p:sp>
        <p:nvSpPr>
          <p:cNvPr id="9" name="Text 6"/>
          <p:cNvSpPr txBox="1"/>
          <p:nvPr/>
        </p:nvSpPr>
        <p:spPr>
          <a:xfrm>
            <a:off x="685800" y="2606040"/>
            <a:ext cx="2103120" cy="914400"/>
          </a:xfrm>
          <a:prstGeom prst="rect">
            <a:avLst/>
          </a:prstGeom>
          <a:noFill/>
          <a:ln/>
        </p:spPr>
        <p:txBody>
          <a:bodyPr wrap="square" lIns="0" tIns="0" rIns="0" bIns="0" rtlCol="0" anchor="t"/>
          <a:lstStyle/>
          <a:p>
            <a:pPr indent="0" marL="0">
              <a:buNone/>
            </a:pPr>
            <a:r>
              <a:rPr lang="en-US" sz="1200" dirty="0">
                <a:solidFill>
                  <a:schemeClr val="tx2"/>
                </a:solidFill>
              </a:rPr>
              <a:t>Every injury accident: place, time, light, road surface, road users, severity</a:t>
            </a:r>
            <a:endParaRPr lang="en-US" sz="1200" dirty="0"/>
          </a:p>
        </p:txBody>
      </p:sp>
      <p:sp>
        <p:nvSpPr>
          <p:cNvPr id="10" name="Text 7"/>
          <p:cNvSpPr txBox="1"/>
          <p:nvPr/>
        </p:nvSpPr>
        <p:spPr>
          <a:xfrm>
            <a:off x="3017520" y="2194560"/>
            <a:ext cx="274320" cy="45720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1" name="card"/>
          <p:cNvSpPr/>
          <p:nvPr/>
        </p:nvSpPr>
        <p:spPr>
          <a:xfrm>
            <a:off x="3291840" y="1280160"/>
            <a:ext cx="2560320" cy="2377440"/>
          </a:xfrm>
          <a:prstGeom prst="roundRect">
            <a:avLst>
              <a:gd name="adj" fmla="val 3077"/>
            </a:avLst>
          </a:prstGeom>
          <a:solidFill>
            <a:schemeClr val="bg2"/>
          </a:solidFill>
          <a:ln/>
        </p:spPr>
      </p:sp>
      <p:sp>
        <p:nvSpPr>
          <p:cNvPr id="12" name="icon circle"/>
          <p:cNvSpPr/>
          <p:nvPr/>
        </p:nvSpPr>
        <p:spPr>
          <a:xfrm>
            <a:off x="3520440" y="1508760"/>
            <a:ext cx="594360" cy="594360"/>
          </a:xfrm>
          <a:prstGeom prst="ellipse">
            <a:avLst/>
          </a:prstGeom>
          <a:solidFill>
            <a:srgbClr val="3B6EA8"/>
          </a:solidFill>
          <a:ln/>
        </p:spPr>
      </p:sp>
      <p:pic>
        <p:nvPicPr>
          <p:cNvPr id="13" name="icon FaCity" descr="preencoded.png">    </p:cNvPr>
          <p:cNvPicPr>
            <a:picLocks noChangeAspect="1"/>
          </p:cNvPicPr>
          <p:nvPr/>
        </p:nvPicPr>
        <p:blipFill>
          <a:blip r:embed="rId2"/>
          <a:stretch>
            <a:fillRect/>
          </a:stretch>
        </p:blipFill>
        <p:spPr>
          <a:xfrm>
            <a:off x="3663086" y="1651406"/>
            <a:ext cx="309067" cy="309067"/>
          </a:xfrm>
          <a:prstGeom prst="rect">
            <a:avLst/>
          </a:prstGeom>
        </p:spPr>
      </p:pic>
      <p:sp>
        <p:nvSpPr>
          <p:cNvPr id="14" name="Text 10"/>
          <p:cNvSpPr txBox="1"/>
          <p:nvPr/>
        </p:nvSpPr>
        <p:spPr>
          <a:xfrm>
            <a:off x="3520440" y="2240280"/>
            <a:ext cx="2103120" cy="365760"/>
          </a:xfrm>
          <a:prstGeom prst="rect">
            <a:avLst/>
          </a:prstGeom>
          <a:noFill/>
          <a:ln/>
        </p:spPr>
        <p:txBody>
          <a:bodyPr wrap="square" lIns="0" tIns="0" rIns="0" bIns="0" rtlCol="0" anchor="ctr"/>
          <a:lstStyle/>
          <a:p>
            <a:pPr indent="0" marL="0">
              <a:buNone/>
            </a:pPr>
            <a:r>
              <a:rPr lang="en-US" sz="1600" b="1" dirty="0">
                <a:solidFill>
                  <a:schemeClr val="tx1"/>
                </a:solidFill>
              </a:rPr>
              <a:t>Destatis 2025</a:t>
            </a:r>
            <a:endParaRPr lang="en-US" sz="1600" dirty="0"/>
          </a:p>
        </p:txBody>
      </p:sp>
      <p:sp>
        <p:nvSpPr>
          <p:cNvPr id="15" name="Text 11"/>
          <p:cNvSpPr txBox="1"/>
          <p:nvPr/>
        </p:nvSpPr>
        <p:spPr>
          <a:xfrm>
            <a:off x="3520440" y="2606040"/>
            <a:ext cx="2103120" cy="914400"/>
          </a:xfrm>
          <a:prstGeom prst="rect">
            <a:avLst/>
          </a:prstGeom>
          <a:noFill/>
          <a:ln/>
        </p:spPr>
        <p:txBody>
          <a:bodyPr wrap="square" lIns="0" tIns="0" rIns="0" bIns="0" rtlCol="0" anchor="t"/>
          <a:lstStyle/>
          <a:p>
            <a:pPr indent="0" marL="0">
              <a:buNone/>
            </a:pPr>
            <a:r>
              <a:rPr lang="en-US" sz="1200" dirty="0">
                <a:solidFill>
                  <a:schemeClr val="tx2"/>
                </a:solidFill>
              </a:rPr>
              <a:t>Every municipality: population, area, density, urban / town / rural</a:t>
            </a:r>
            <a:endParaRPr lang="en-US" sz="1200" dirty="0"/>
          </a:p>
        </p:txBody>
      </p:sp>
      <p:sp>
        <p:nvSpPr>
          <p:cNvPr id="16" name="Text 12"/>
          <p:cNvSpPr txBox="1"/>
          <p:nvPr/>
        </p:nvSpPr>
        <p:spPr>
          <a:xfrm>
            <a:off x="5852160" y="2194560"/>
            <a:ext cx="274320" cy="457200"/>
          </a:xfrm>
          <a:prstGeom prst="rect">
            <a:avLst/>
          </a:prstGeom>
          <a:noFill/>
          <a:ln/>
        </p:spPr>
        <p:txBody>
          <a:bodyPr wrap="square" lIns="0" tIns="0" rIns="0" bIns="0" rtlCol="0" anchor="ctr"/>
          <a:lstStyle/>
          <a:p>
            <a:pPr algn="ctr" indent="0" marL="0">
              <a:buNone/>
            </a:pPr>
            <a:r>
              <a:rPr lang="en-US" sz="2400" b="1" dirty="0">
                <a:solidFill>
                  <a:schemeClr val="tx2"/>
                </a:solidFill>
              </a:rPr>
              <a:t>=</a:t>
            </a:r>
            <a:endParaRPr lang="en-US" sz="2400" dirty="0"/>
          </a:p>
        </p:txBody>
      </p:sp>
      <p:sp>
        <p:nvSpPr>
          <p:cNvPr id="17" name="card"/>
          <p:cNvSpPr/>
          <p:nvPr/>
        </p:nvSpPr>
        <p:spPr>
          <a:xfrm>
            <a:off x="6126480" y="1280160"/>
            <a:ext cx="2560320" cy="2377440"/>
          </a:xfrm>
          <a:prstGeom prst="roundRect">
            <a:avLst>
              <a:gd name="adj" fmla="val 3077"/>
            </a:avLst>
          </a:prstGeom>
          <a:solidFill>
            <a:schemeClr val="bg2"/>
          </a:solidFill>
          <a:ln/>
        </p:spPr>
      </p:sp>
      <p:sp>
        <p:nvSpPr>
          <p:cNvPr id="18" name="icon circle"/>
          <p:cNvSpPr/>
          <p:nvPr/>
        </p:nvSpPr>
        <p:spPr>
          <a:xfrm>
            <a:off x="6355080" y="1508760"/>
            <a:ext cx="594360" cy="594360"/>
          </a:xfrm>
          <a:prstGeom prst="ellipse">
            <a:avLst/>
          </a:prstGeom>
          <a:solidFill>
            <a:srgbClr val="4A7C59"/>
          </a:solidFill>
          <a:ln/>
        </p:spPr>
      </p:sp>
      <p:pic>
        <p:nvPicPr>
          <p:cNvPr id="19" name="icon FaDatabase" descr="preencoded.png">    </p:cNvPr>
          <p:cNvPicPr>
            <a:picLocks noChangeAspect="1"/>
          </p:cNvPicPr>
          <p:nvPr/>
        </p:nvPicPr>
        <p:blipFill>
          <a:blip r:embed="rId3"/>
          <a:stretch>
            <a:fillRect/>
          </a:stretch>
        </p:blipFill>
        <p:spPr>
          <a:xfrm>
            <a:off x="6497726" y="1651406"/>
            <a:ext cx="309067" cy="309067"/>
          </a:xfrm>
          <a:prstGeom prst="rect">
            <a:avLst/>
          </a:prstGeom>
        </p:spPr>
      </p:pic>
      <p:sp>
        <p:nvSpPr>
          <p:cNvPr id="20" name="Text 15"/>
          <p:cNvSpPr txBox="1"/>
          <p:nvPr/>
        </p:nvSpPr>
        <p:spPr>
          <a:xfrm>
            <a:off x="6355080" y="2240280"/>
            <a:ext cx="2103120" cy="365760"/>
          </a:xfrm>
          <a:prstGeom prst="rect">
            <a:avLst/>
          </a:prstGeom>
          <a:noFill/>
          <a:ln/>
        </p:spPr>
        <p:txBody>
          <a:bodyPr wrap="square" lIns="0" tIns="0" rIns="0" bIns="0" rtlCol="0" anchor="ctr"/>
          <a:lstStyle/>
          <a:p>
            <a:pPr indent="0" marL="0">
              <a:buNone/>
            </a:pPr>
            <a:r>
              <a:rPr lang="en-US" sz="1600" b="1" dirty="0">
                <a:solidFill>
                  <a:schemeClr val="tx1"/>
                </a:solidFill>
              </a:rPr>
              <a:t>Our dataset</a:t>
            </a:r>
            <a:endParaRPr lang="en-US" sz="1600" dirty="0"/>
          </a:p>
        </p:txBody>
      </p:sp>
      <p:sp>
        <p:nvSpPr>
          <p:cNvPr id="21" name="Text 16"/>
          <p:cNvSpPr txBox="1"/>
          <p:nvPr/>
        </p:nvSpPr>
        <p:spPr>
          <a:xfrm>
            <a:off x="6355080" y="2606040"/>
            <a:ext cx="2103120" cy="914400"/>
          </a:xfrm>
          <a:prstGeom prst="rect">
            <a:avLst/>
          </a:prstGeom>
          <a:noFill/>
          <a:ln/>
        </p:spPr>
        <p:txBody>
          <a:bodyPr wrap="square" lIns="0" tIns="0" rIns="0" bIns="0" rtlCol="0" anchor="t"/>
          <a:lstStyle/>
          <a:p>
            <a:pPr indent="0" marL="0">
              <a:buNone/>
            </a:pPr>
            <a:r>
              <a:rPr lang="en-US" sz="1200" dirty="0">
                <a:solidFill>
                  <a:schemeClr val="tx2"/>
                </a:solidFill>
              </a:rPr>
              <a:t>272,812 accidents, 41 columns, ready for modelling</a:t>
            </a:r>
            <a:endParaRPr lang="en-US" sz="1200" dirty="0"/>
          </a:p>
        </p:txBody>
      </p:sp>
      <p:sp>
        <p:nvSpPr>
          <p:cNvPr id="22" name="Text 17"/>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200" b="1" dirty="0">
                <a:solidFill>
                  <a:schemeClr val="tx2"/>
                </a:solidFill>
              </a:rPr>
              <a:t>Matched by municipality code. </a:t>
            </a:r>
            <a:pPr indent="0" marL="0">
              <a:buNone/>
            </a:pPr>
            <a:r>
              <a:rPr lang="en-US" sz="1200" dirty="0">
                <a:solidFill>
                  <a:schemeClr val="tx2"/>
                </a:solidFill>
              </a:rPr>
              <a:t>Only 195 accidents (0.07 %) could not be matched, mostly in forests and lakes, and were left out.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On country roads, accidents are twice as often severe</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Zina</a:t>
            </a:r>
            <a:endParaRPr lang="en-US" sz="1100" dirty="0"/>
          </a:p>
        </p:txBody>
      </p:sp>
      <p:graphicFrame>
        <p:nvGraphicFramePr>
          <p:cNvPr id="5" name="Chart 0" descr=""/>
          <p:cNvGraphicFramePr/>
          <p:nvPr/>
        </p:nvGraphicFramePr>
        <p:xfrm>
          <a:off x="457200" y="1143000"/>
          <a:ext cx="4846320" cy="34747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577840" y="1234440"/>
            <a:ext cx="3108960" cy="1508760"/>
          </a:xfrm>
          <a:prstGeom prst="roundRect">
            <a:avLst>
              <a:gd name="adj" fmla="val 4848"/>
            </a:avLst>
          </a:prstGeom>
          <a:solidFill>
            <a:schemeClr val="bg2"/>
          </a:solidFill>
          <a:ln/>
        </p:spPr>
      </p:sp>
      <p:sp>
        <p:nvSpPr>
          <p:cNvPr id="7" name="Text 4"/>
          <p:cNvSpPr txBox="1"/>
          <p:nvPr/>
        </p:nvSpPr>
        <p:spPr>
          <a:xfrm>
            <a:off x="5806440" y="137160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In all 16 states</a:t>
            </a:r>
            <a:endParaRPr lang="en-US" sz="1500" dirty="0"/>
          </a:p>
        </p:txBody>
      </p:sp>
      <p:sp>
        <p:nvSpPr>
          <p:cNvPr id="8" name="Text 5"/>
          <p:cNvSpPr txBox="1"/>
          <p:nvPr/>
        </p:nvSpPr>
        <p:spPr>
          <a:xfrm>
            <a:off x="5806440" y="1719072"/>
            <a:ext cx="2743200" cy="914400"/>
          </a:xfrm>
          <a:prstGeom prst="rect">
            <a:avLst/>
          </a:prstGeom>
          <a:noFill/>
          <a:ln/>
        </p:spPr>
        <p:txBody>
          <a:bodyPr wrap="square" lIns="0" tIns="0" rIns="0" bIns="0" rtlCol="0" anchor="t"/>
          <a:lstStyle/>
          <a:p>
            <a:pPr indent="0" marL="0">
              <a:buNone/>
            </a:pPr>
            <a:r>
              <a:rPr lang="en-US" sz="1200" dirty="0">
                <a:solidFill>
                  <a:schemeClr val="tx2"/>
                </a:solidFill>
              </a:rPr>
              <a:t>Severity rises from cities to towns to rural areas in every state.</a:t>
            </a:r>
            <a:endParaRPr lang="en-US" sz="1200" dirty="0"/>
          </a:p>
        </p:txBody>
      </p:sp>
      <p:sp>
        <p:nvSpPr>
          <p:cNvPr id="9" name="card"/>
          <p:cNvSpPr/>
          <p:nvPr/>
        </p:nvSpPr>
        <p:spPr>
          <a:xfrm>
            <a:off x="5577840" y="2926080"/>
            <a:ext cx="3108960" cy="1600200"/>
          </a:xfrm>
          <a:prstGeom prst="roundRect">
            <a:avLst>
              <a:gd name="adj" fmla="val 4571"/>
            </a:avLst>
          </a:prstGeom>
          <a:solidFill>
            <a:schemeClr val="bg2"/>
          </a:solidFill>
          <a:ln/>
        </p:spPr>
      </p:sp>
      <p:sp>
        <p:nvSpPr>
          <p:cNvPr id="10" name="Text 7"/>
          <p:cNvSpPr txBox="1"/>
          <p:nvPr/>
        </p:nvSpPr>
        <p:spPr>
          <a:xfrm>
            <a:off x="5806440" y="3063240"/>
            <a:ext cx="2743200" cy="320040"/>
          </a:xfrm>
          <a:prstGeom prst="rect">
            <a:avLst/>
          </a:prstGeom>
          <a:noFill/>
          <a:ln/>
        </p:spPr>
        <p:txBody>
          <a:bodyPr wrap="square" lIns="0" tIns="0" rIns="0" bIns="0" rtlCol="0" anchor="ctr"/>
          <a:lstStyle/>
          <a:p>
            <a:pPr indent="0" marL="0">
              <a:buNone/>
            </a:pPr>
            <a:r>
              <a:rPr lang="en-US" sz="1500" b="1" dirty="0">
                <a:solidFill>
                  <a:schemeClr val="tx1"/>
                </a:solidFill>
              </a:rPr>
              <a:t>Same accident, worse outcome</a:t>
            </a:r>
            <a:endParaRPr lang="en-US" sz="1500" dirty="0"/>
          </a:p>
        </p:txBody>
      </p:sp>
      <p:sp>
        <p:nvSpPr>
          <p:cNvPr id="11" name="Text 8"/>
          <p:cNvSpPr txBox="1"/>
          <p:nvPr/>
        </p:nvSpPr>
        <p:spPr>
          <a:xfrm>
            <a:off x="5806440" y="3410712"/>
            <a:ext cx="2743200" cy="1051560"/>
          </a:xfrm>
          <a:prstGeom prst="rect">
            <a:avLst/>
          </a:prstGeom>
          <a:noFill/>
          <a:ln/>
        </p:spPr>
        <p:txBody>
          <a:bodyPr wrap="square" lIns="0" tIns="0" rIns="0" bIns="0" rtlCol="0" anchor="t"/>
          <a:lstStyle/>
          <a:p>
            <a:pPr indent="0" marL="0">
              <a:buNone/>
            </a:pPr>
            <a:r>
              <a:rPr lang="en-US" sz="1200" dirty="0">
                <a:solidFill>
                  <a:schemeClr val="tx2"/>
                </a:solidFill>
              </a:rPr>
              <a:t>Of the 13-point gap, 10.5 points come from the same kind of accident being more severe in rural areas, most likely because of higher speeds.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Motorcycles, nights and weekends raise the risk</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Jishnu</a:t>
            </a:r>
            <a:endParaRPr lang="en-US" sz="1100" dirty="0"/>
          </a:p>
        </p:txBody>
      </p:sp>
      <p:graphicFrame>
        <p:nvGraphicFramePr>
          <p:cNvPr id="5" name="Chart 0" descr=""/>
          <p:cNvGraphicFramePr/>
          <p:nvPr/>
        </p:nvGraphicFramePr>
        <p:xfrm>
          <a:off x="457200" y="1143000"/>
          <a:ext cx="4846320" cy="34747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577840" y="1234440"/>
            <a:ext cx="3108960" cy="978408"/>
          </a:xfrm>
          <a:prstGeom prst="roundRect">
            <a:avLst>
              <a:gd name="adj" fmla="val 7477"/>
            </a:avLst>
          </a:prstGeom>
          <a:solidFill>
            <a:schemeClr val="bg2"/>
          </a:solidFill>
          <a:ln/>
        </p:spPr>
      </p:sp>
      <p:sp>
        <p:nvSpPr>
          <p:cNvPr id="7" name="icon circle"/>
          <p:cNvSpPr/>
          <p:nvPr/>
        </p:nvSpPr>
        <p:spPr>
          <a:xfrm>
            <a:off x="5760720" y="1453896"/>
            <a:ext cx="548640" cy="548640"/>
          </a:xfrm>
          <a:prstGeom prst="ellipse">
            <a:avLst/>
          </a:prstGeom>
          <a:solidFill>
            <a:srgbClr val="C8423B"/>
          </a:solidFill>
          <a:ln/>
        </p:spPr>
      </p:sp>
      <p:pic>
        <p:nvPicPr>
          <p:cNvPr id="8" name="icon FaMotorcycle" descr="preencoded.png">    </p:cNvPr>
          <p:cNvPicPr>
            <a:picLocks noChangeAspect="1"/>
          </p:cNvPicPr>
          <p:nvPr/>
        </p:nvPicPr>
        <p:blipFill>
          <a:blip r:embed="rId2"/>
          <a:stretch>
            <a:fillRect/>
          </a:stretch>
        </p:blipFill>
        <p:spPr>
          <a:xfrm>
            <a:off x="5892394" y="1585570"/>
            <a:ext cx="285293" cy="285293"/>
          </a:xfrm>
          <a:prstGeom prst="rect">
            <a:avLst/>
          </a:prstGeom>
        </p:spPr>
      </p:pic>
      <p:sp>
        <p:nvSpPr>
          <p:cNvPr id="9" name="Text 5"/>
          <p:cNvSpPr txBox="1"/>
          <p:nvPr/>
        </p:nvSpPr>
        <p:spPr>
          <a:xfrm>
            <a:off x="6446520" y="1325880"/>
            <a:ext cx="2148840" cy="41148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about 35 %</a:t>
            </a:r>
            <a:endParaRPr lang="en-US" sz="2000" dirty="0"/>
          </a:p>
        </p:txBody>
      </p:sp>
      <p:sp>
        <p:nvSpPr>
          <p:cNvPr id="10" name="Text 6"/>
          <p:cNvSpPr txBox="1"/>
          <p:nvPr/>
        </p:nvSpPr>
        <p:spPr>
          <a:xfrm>
            <a:off x="6446520" y="1719072"/>
            <a:ext cx="2148840" cy="457200"/>
          </a:xfrm>
          <a:prstGeom prst="rect">
            <a:avLst/>
          </a:prstGeom>
          <a:noFill/>
          <a:ln/>
        </p:spPr>
        <p:txBody>
          <a:bodyPr wrap="square" lIns="0" tIns="0" rIns="0" bIns="0" rtlCol="0" anchor="t"/>
          <a:lstStyle/>
          <a:p>
            <a:pPr indent="0" marL="0">
              <a:buNone/>
            </a:pPr>
            <a:r>
              <a:rPr lang="en-US" sz="1100" dirty="0">
                <a:solidFill>
                  <a:schemeClr val="tx2"/>
                </a:solidFill>
              </a:rPr>
              <a:t>of motorcycle accidents on rural roads are severe</a:t>
            </a:r>
            <a:endParaRPr lang="en-US" sz="1100" dirty="0"/>
          </a:p>
        </p:txBody>
      </p:sp>
      <p:sp>
        <p:nvSpPr>
          <p:cNvPr id="11" name="card"/>
          <p:cNvSpPr/>
          <p:nvPr/>
        </p:nvSpPr>
        <p:spPr>
          <a:xfrm>
            <a:off x="5577840" y="2350008"/>
            <a:ext cx="3108960" cy="978408"/>
          </a:xfrm>
          <a:prstGeom prst="roundRect">
            <a:avLst>
              <a:gd name="adj" fmla="val 7477"/>
            </a:avLst>
          </a:prstGeom>
          <a:solidFill>
            <a:schemeClr val="bg2"/>
          </a:solidFill>
          <a:ln/>
        </p:spPr>
      </p:sp>
      <p:sp>
        <p:nvSpPr>
          <p:cNvPr id="12" name="icon circle"/>
          <p:cNvSpPr/>
          <p:nvPr/>
        </p:nvSpPr>
        <p:spPr>
          <a:xfrm>
            <a:off x="5760720" y="2569464"/>
            <a:ext cx="548640" cy="548640"/>
          </a:xfrm>
          <a:prstGeom prst="ellipse">
            <a:avLst/>
          </a:prstGeom>
          <a:solidFill>
            <a:srgbClr val="C8423B"/>
          </a:solidFill>
          <a:ln/>
        </p:spPr>
      </p:sp>
      <p:pic>
        <p:nvPicPr>
          <p:cNvPr id="13" name="icon FaClock" descr="preencoded.png">    </p:cNvPr>
          <p:cNvPicPr>
            <a:picLocks noChangeAspect="1"/>
          </p:cNvPicPr>
          <p:nvPr/>
        </p:nvPicPr>
        <p:blipFill>
          <a:blip r:embed="rId3"/>
          <a:stretch>
            <a:fillRect/>
          </a:stretch>
        </p:blipFill>
        <p:spPr>
          <a:xfrm>
            <a:off x="5892394" y="2701138"/>
            <a:ext cx="285293" cy="285293"/>
          </a:xfrm>
          <a:prstGeom prst="rect">
            <a:avLst/>
          </a:prstGeom>
        </p:spPr>
      </p:pic>
      <p:sp>
        <p:nvSpPr>
          <p:cNvPr id="14" name="Text 9"/>
          <p:cNvSpPr txBox="1"/>
          <p:nvPr/>
        </p:nvSpPr>
        <p:spPr>
          <a:xfrm>
            <a:off x="6446520" y="2441448"/>
            <a:ext cx="2148840" cy="41148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26.3 %</a:t>
            </a:r>
            <a:endParaRPr lang="en-US" sz="2000" dirty="0"/>
          </a:p>
        </p:txBody>
      </p:sp>
      <p:sp>
        <p:nvSpPr>
          <p:cNvPr id="15" name="Text 10"/>
          <p:cNvSpPr txBox="1"/>
          <p:nvPr/>
        </p:nvSpPr>
        <p:spPr>
          <a:xfrm>
            <a:off x="6446520" y="2834640"/>
            <a:ext cx="2148840" cy="457200"/>
          </a:xfrm>
          <a:prstGeom prst="rect">
            <a:avLst/>
          </a:prstGeom>
          <a:noFill/>
          <a:ln/>
        </p:spPr>
        <p:txBody>
          <a:bodyPr wrap="square" lIns="0" tIns="0" rIns="0" bIns="0" rtlCol="0" anchor="t"/>
          <a:lstStyle/>
          <a:p>
            <a:pPr indent="0" marL="0">
              <a:buNone/>
            </a:pPr>
            <a:r>
              <a:rPr lang="en-US" sz="1100" dirty="0">
                <a:solidFill>
                  <a:schemeClr val="tx2"/>
                </a:solidFill>
              </a:rPr>
              <a:t>severe at 3 a.m., the highest hour of the day</a:t>
            </a:r>
            <a:endParaRPr lang="en-US" sz="1100" dirty="0"/>
          </a:p>
        </p:txBody>
      </p:sp>
      <p:sp>
        <p:nvSpPr>
          <p:cNvPr id="16" name="card"/>
          <p:cNvSpPr/>
          <p:nvPr/>
        </p:nvSpPr>
        <p:spPr>
          <a:xfrm>
            <a:off x="5577840" y="3465576"/>
            <a:ext cx="3108960" cy="978408"/>
          </a:xfrm>
          <a:prstGeom prst="roundRect">
            <a:avLst>
              <a:gd name="adj" fmla="val 7477"/>
            </a:avLst>
          </a:prstGeom>
          <a:solidFill>
            <a:schemeClr val="bg2"/>
          </a:solidFill>
          <a:ln/>
        </p:spPr>
      </p:sp>
      <p:sp>
        <p:nvSpPr>
          <p:cNvPr id="17" name="icon circle"/>
          <p:cNvSpPr/>
          <p:nvPr/>
        </p:nvSpPr>
        <p:spPr>
          <a:xfrm>
            <a:off x="5760720" y="3685032"/>
            <a:ext cx="548640" cy="548640"/>
          </a:xfrm>
          <a:prstGeom prst="ellipse">
            <a:avLst/>
          </a:prstGeom>
          <a:solidFill>
            <a:srgbClr val="C8423B"/>
          </a:solidFill>
          <a:ln/>
        </p:spPr>
      </p:sp>
      <p:pic>
        <p:nvPicPr>
          <p:cNvPr id="18" name="icon FaUsers" descr="preencoded.png">    </p:cNvPr>
          <p:cNvPicPr>
            <a:picLocks noChangeAspect="1"/>
          </p:cNvPicPr>
          <p:nvPr/>
        </p:nvPicPr>
        <p:blipFill>
          <a:blip r:embed="rId4"/>
          <a:stretch>
            <a:fillRect/>
          </a:stretch>
        </p:blipFill>
        <p:spPr>
          <a:xfrm>
            <a:off x="5892394" y="3816706"/>
            <a:ext cx="285293" cy="285293"/>
          </a:xfrm>
          <a:prstGeom prst="rect">
            <a:avLst/>
          </a:prstGeom>
        </p:spPr>
      </p:pic>
      <p:sp>
        <p:nvSpPr>
          <p:cNvPr id="19" name="Text 13"/>
          <p:cNvSpPr txBox="1"/>
          <p:nvPr/>
        </p:nvSpPr>
        <p:spPr>
          <a:xfrm>
            <a:off x="6446520" y="3557016"/>
            <a:ext cx="2148840" cy="41148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19.8 %</a:t>
            </a:r>
            <a:endParaRPr lang="en-US" sz="2000" dirty="0"/>
          </a:p>
        </p:txBody>
      </p:sp>
      <p:sp>
        <p:nvSpPr>
          <p:cNvPr id="20" name="Text 14"/>
          <p:cNvSpPr txBox="1"/>
          <p:nvPr/>
        </p:nvSpPr>
        <p:spPr>
          <a:xfrm>
            <a:off x="6446520" y="3950208"/>
            <a:ext cx="2148840" cy="457200"/>
          </a:xfrm>
          <a:prstGeom prst="rect">
            <a:avLst/>
          </a:prstGeom>
          <a:noFill/>
          <a:ln/>
        </p:spPr>
        <p:txBody>
          <a:bodyPr wrap="square" lIns="0" tIns="0" rIns="0" bIns="0" rtlCol="0" anchor="t"/>
          <a:lstStyle/>
          <a:p>
            <a:pPr indent="0" marL="0">
              <a:buNone/>
            </a:pPr>
            <a:r>
              <a:rPr lang="en-US" sz="1100" dirty="0">
                <a:solidFill>
                  <a:schemeClr val="tx2"/>
                </a:solidFill>
              </a:rPr>
              <a:t>severe on Sundays, vs 15 % on weekdays</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A model must beat simple rules to be worth it</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Jishnu</a:t>
            </a:r>
            <a:endParaRPr lang="en-US" sz="1100" dirty="0"/>
          </a:p>
        </p:txBody>
      </p:sp>
      <p:sp>
        <p:nvSpPr>
          <p:cNvPr id="5" name="card"/>
          <p:cNvSpPr/>
          <p:nvPr/>
        </p:nvSpPr>
        <p:spPr>
          <a:xfrm>
            <a:off x="457200" y="1234440"/>
            <a:ext cx="3931920" cy="3291840"/>
          </a:xfrm>
          <a:prstGeom prst="roundRect">
            <a:avLst>
              <a:gd name="adj" fmla="val 2222"/>
            </a:avLst>
          </a:prstGeom>
          <a:solidFill>
            <a:schemeClr val="bg2"/>
          </a:solidFill>
          <a:ln/>
        </p:spPr>
      </p:sp>
      <p:sp>
        <p:nvSpPr>
          <p:cNvPr id="6" name="icon circle"/>
          <p:cNvSpPr/>
          <p:nvPr/>
        </p:nvSpPr>
        <p:spPr>
          <a:xfrm>
            <a:off x="685800" y="1463040"/>
            <a:ext cx="548640" cy="548640"/>
          </a:xfrm>
          <a:prstGeom prst="ellipse">
            <a:avLst/>
          </a:prstGeom>
          <a:solidFill>
            <a:srgbClr val="E8A33D"/>
          </a:solidFill>
          <a:ln/>
        </p:spPr>
      </p:sp>
      <p:pic>
        <p:nvPicPr>
          <p:cNvPr id="7" name="icon FaExclamationTriangle" descr="preencoded.png">    </p:cNvPr>
          <p:cNvPicPr>
            <a:picLocks noChangeAspect="1"/>
          </p:cNvPicPr>
          <p:nvPr/>
        </p:nvPicPr>
        <p:blipFill>
          <a:blip r:embed="rId1"/>
          <a:stretch>
            <a:fillRect/>
          </a:stretch>
        </p:blipFill>
        <p:spPr>
          <a:xfrm>
            <a:off x="817474" y="1594714"/>
            <a:ext cx="285293" cy="285293"/>
          </a:xfrm>
          <a:prstGeom prst="rect">
            <a:avLst/>
          </a:prstGeom>
        </p:spPr>
      </p:pic>
      <p:sp>
        <p:nvSpPr>
          <p:cNvPr id="8" name="Text 5"/>
          <p:cNvSpPr txBox="1"/>
          <p:nvPr/>
        </p:nvSpPr>
        <p:spPr>
          <a:xfrm>
            <a:off x="1371600" y="1463040"/>
            <a:ext cx="2926080" cy="548640"/>
          </a:xfrm>
          <a:prstGeom prst="rect">
            <a:avLst/>
          </a:prstGeom>
          <a:noFill/>
          <a:ln/>
        </p:spPr>
        <p:txBody>
          <a:bodyPr wrap="square" lIns="0" tIns="0" rIns="0" bIns="0" rtlCol="0" anchor="ctr"/>
          <a:lstStyle/>
          <a:p>
            <a:pPr indent="0" marL="0">
              <a:buNone/>
            </a:pPr>
            <a:r>
              <a:rPr lang="en-US" sz="1600" b="1" dirty="0">
                <a:solidFill>
                  <a:schemeClr val="tx1"/>
                </a:solidFill>
              </a:rPr>
              <a:t>Why not just “% correct”?</a:t>
            </a:r>
            <a:endParaRPr lang="en-US" sz="1600" dirty="0"/>
          </a:p>
        </p:txBody>
      </p:sp>
      <p:sp>
        <p:nvSpPr>
          <p:cNvPr id="9" name="Text 6"/>
          <p:cNvSpPr txBox="1"/>
          <p:nvPr/>
        </p:nvSpPr>
        <p:spPr>
          <a:xfrm>
            <a:off x="685800" y="2194560"/>
            <a:ext cx="3520440" cy="2103120"/>
          </a:xfrm>
          <a:prstGeom prst="rect">
            <a:avLst/>
          </a:prstGeom>
          <a:noFill/>
          <a:ln/>
        </p:spPr>
        <p:txBody>
          <a:bodyPr wrap="square" lIns="0" tIns="0" rIns="0" bIns="0" rtlCol="0" anchor="t"/>
          <a:lstStyle/>
          <a:p>
            <a:pPr indent="0" marL="0">
              <a:buNone/>
            </a:pPr>
            <a:r>
              <a:rPr lang="en-US" sz="1400" dirty="0">
                <a:solidFill>
                  <a:schemeClr val="tx2"/>
                </a:solidFill>
              </a:rPr>
              <a:t>Saying “never severe” is 84 % correct, but finds no severe accident at all.</a:t>
            </a:r>
            <a:endParaRPr lang="en-US" sz="1400" dirty="0"/>
          </a:p>
          <a:p>
            <a:pPr indent="0" marL="0">
              <a:buNone/>
            </a:pPr>
            <a:r>
              <a:rPr lang="en-US" sz="600" dirty="0">
                <a:solidFill>
                  <a:schemeClr val="tx2"/>
                </a:solidFill>
              </a:rPr>
              <a:t> </a:t>
            </a:r>
            <a:endParaRPr lang="en-US" sz="1400" dirty="0"/>
          </a:p>
          <a:p>
            <a:pPr indent="0" marL="0">
              <a:buNone/>
            </a:pPr>
            <a:r>
              <a:rPr lang="en-US" sz="1400" b="1" dirty="0">
                <a:solidFill>
                  <a:schemeClr val="tx1"/>
                </a:solidFill>
              </a:rPr>
              <a:t>So we use the F1 score: </a:t>
            </a:r>
            <a:pPr indent="0" marL="0">
              <a:buNone/>
            </a:pPr>
            <a:r>
              <a:rPr lang="en-US" sz="1400" dirty="0">
                <a:solidFill>
                  <a:schemeClr val="tx2"/>
                </a:solidFill>
              </a:rPr>
              <a:t>a balance between finding severe accidents and avoiding false alarms.</a:t>
            </a:r>
            <a:endParaRPr lang="en-US" sz="1400" dirty="0"/>
          </a:p>
        </p:txBody>
      </p:sp>
      <p:sp>
        <p:nvSpPr>
          <p:cNvPr id="10" name="Text 7"/>
          <p:cNvSpPr txBox="1"/>
          <p:nvPr/>
        </p:nvSpPr>
        <p:spPr>
          <a:xfrm>
            <a:off x="4663440" y="1234440"/>
            <a:ext cx="4023360" cy="320040"/>
          </a:xfrm>
          <a:prstGeom prst="rect">
            <a:avLst/>
          </a:prstGeom>
          <a:noFill/>
          <a:ln/>
        </p:spPr>
        <p:txBody>
          <a:bodyPr wrap="square" lIns="0" tIns="0" rIns="0" bIns="0" rtlCol="0" anchor="ctr"/>
          <a:lstStyle/>
          <a:p>
            <a:pPr indent="0" marL="0">
              <a:buNone/>
            </a:pPr>
            <a:r>
              <a:rPr lang="en-US" sz="1600" b="1" dirty="0">
                <a:solidFill>
                  <a:schemeClr val="tx1"/>
                </a:solidFill>
              </a:rPr>
              <a:t>Our two baselines</a:t>
            </a:r>
            <a:endParaRPr lang="en-US" sz="1600" dirty="0"/>
          </a:p>
        </p:txBody>
      </p:sp>
      <p:sp>
        <p:nvSpPr>
          <p:cNvPr id="11" name="card"/>
          <p:cNvSpPr/>
          <p:nvPr/>
        </p:nvSpPr>
        <p:spPr>
          <a:xfrm>
            <a:off x="4663440" y="1691640"/>
            <a:ext cx="4023360" cy="1234440"/>
          </a:xfrm>
          <a:prstGeom prst="roundRect">
            <a:avLst>
              <a:gd name="adj" fmla="val 5926"/>
            </a:avLst>
          </a:prstGeom>
          <a:solidFill>
            <a:schemeClr val="bg2"/>
          </a:solidFill>
          <a:ln/>
        </p:spPr>
      </p:sp>
      <p:sp>
        <p:nvSpPr>
          <p:cNvPr id="12" name="Text 9"/>
          <p:cNvSpPr txBox="1"/>
          <p:nvPr/>
        </p:nvSpPr>
        <p:spPr>
          <a:xfrm>
            <a:off x="4892040" y="1828800"/>
            <a:ext cx="2377440" cy="320040"/>
          </a:xfrm>
          <a:prstGeom prst="rect">
            <a:avLst/>
          </a:prstGeom>
          <a:noFill/>
          <a:ln/>
        </p:spPr>
        <p:txBody>
          <a:bodyPr wrap="square" lIns="0" tIns="0" rIns="0" bIns="0" rtlCol="0" anchor="ctr"/>
          <a:lstStyle/>
          <a:p>
            <a:pPr indent="0" marL="0">
              <a:buNone/>
            </a:pPr>
            <a:r>
              <a:rPr lang="en-US" sz="1400" b="1" dirty="0">
                <a:solidFill>
                  <a:schemeClr val="tx1"/>
                </a:solidFill>
              </a:rPr>
              <a:t>Simple rule</a:t>
            </a:r>
            <a:endParaRPr lang="en-US" sz="1400" dirty="0"/>
          </a:p>
        </p:txBody>
      </p:sp>
      <p:sp>
        <p:nvSpPr>
          <p:cNvPr id="13" name="Text 10"/>
          <p:cNvSpPr txBox="1"/>
          <p:nvPr/>
        </p:nvSpPr>
        <p:spPr>
          <a:xfrm>
            <a:off x="4892040" y="2148840"/>
            <a:ext cx="2377440" cy="685800"/>
          </a:xfrm>
          <a:prstGeom prst="rect">
            <a:avLst/>
          </a:prstGeom>
          <a:noFill/>
          <a:ln/>
        </p:spPr>
        <p:txBody>
          <a:bodyPr wrap="square" lIns="0" tIns="0" rIns="0" bIns="0" rtlCol="0" anchor="t"/>
          <a:lstStyle/>
          <a:p>
            <a:pPr indent="0" marL="0">
              <a:buNone/>
            </a:pPr>
            <a:r>
              <a:rPr lang="en-US" sz="1100" dirty="0">
                <a:solidFill>
                  <a:schemeClr val="tx2"/>
                </a:solidFill>
              </a:rPr>
              <a:t>flag if motorcycle, pedestrian or no car involved</a:t>
            </a:r>
            <a:endParaRPr lang="en-US" sz="1100" dirty="0"/>
          </a:p>
        </p:txBody>
      </p:sp>
      <p:sp>
        <p:nvSpPr>
          <p:cNvPr id="14" name="Text 11"/>
          <p:cNvSpPr txBox="1"/>
          <p:nvPr/>
        </p:nvSpPr>
        <p:spPr>
          <a:xfrm>
            <a:off x="7315200" y="1874520"/>
            <a:ext cx="1234440" cy="548640"/>
          </a:xfrm>
          <a:prstGeom prst="rect">
            <a:avLst/>
          </a:prstGeom>
          <a:noFill/>
          <a:ln/>
        </p:spPr>
        <p:txBody>
          <a:bodyPr wrap="square" lIns="0" tIns="0" rIns="0" bIns="0" rtlCol="0" anchor="ctr"/>
          <a:lstStyle/>
          <a:p>
            <a:pPr algn="r" indent="0" marL="0">
              <a:buNone/>
            </a:pPr>
            <a:r>
              <a:rPr lang="en-US" sz="2800" b="1" dirty="0">
                <a:solidFill>
                  <a:schemeClr val="tx2"/>
                </a:solidFill>
                <a:latin typeface="Arial" pitchFamily="34" charset="0"/>
                <a:ea typeface="Arial" pitchFamily="34" charset="-122"/>
                <a:cs typeface="Arial" pitchFamily="34" charset="-120"/>
              </a:rPr>
              <a:t>0.303</a:t>
            </a:r>
            <a:endParaRPr lang="en-US" sz="2800" dirty="0"/>
          </a:p>
        </p:txBody>
      </p:sp>
      <p:sp>
        <p:nvSpPr>
          <p:cNvPr id="15" name="Text 12"/>
          <p:cNvSpPr txBox="1"/>
          <p:nvPr/>
        </p:nvSpPr>
        <p:spPr>
          <a:xfrm>
            <a:off x="7315200" y="2423160"/>
            <a:ext cx="1234440" cy="274320"/>
          </a:xfrm>
          <a:prstGeom prst="rect">
            <a:avLst/>
          </a:prstGeom>
          <a:noFill/>
          <a:ln/>
        </p:spPr>
        <p:txBody>
          <a:bodyPr wrap="square" lIns="0" tIns="0" rIns="0" bIns="0" rtlCol="0" anchor="ctr"/>
          <a:lstStyle/>
          <a:p>
            <a:pPr algn="r" indent="0" marL="0">
              <a:buNone/>
            </a:pPr>
            <a:r>
              <a:rPr lang="en-US" sz="1100" dirty="0">
                <a:solidFill>
                  <a:schemeClr val="tx2"/>
                </a:solidFill>
              </a:rPr>
              <a:t>F1</a:t>
            </a:r>
            <a:endParaRPr lang="en-US" sz="1100" dirty="0"/>
          </a:p>
        </p:txBody>
      </p:sp>
      <p:sp>
        <p:nvSpPr>
          <p:cNvPr id="16" name="card"/>
          <p:cNvSpPr/>
          <p:nvPr/>
        </p:nvSpPr>
        <p:spPr>
          <a:xfrm>
            <a:off x="4663440" y="3108960"/>
            <a:ext cx="4023360" cy="1234440"/>
          </a:xfrm>
          <a:prstGeom prst="roundRect">
            <a:avLst>
              <a:gd name="adj" fmla="val 5926"/>
            </a:avLst>
          </a:prstGeom>
          <a:solidFill>
            <a:schemeClr val="bg2"/>
          </a:solidFill>
          <a:ln/>
        </p:spPr>
      </p:sp>
      <p:sp>
        <p:nvSpPr>
          <p:cNvPr id="17" name="Text 14"/>
          <p:cNvSpPr txBox="1"/>
          <p:nvPr/>
        </p:nvSpPr>
        <p:spPr>
          <a:xfrm>
            <a:off x="4892040" y="3246120"/>
            <a:ext cx="2377440" cy="320040"/>
          </a:xfrm>
          <a:prstGeom prst="rect">
            <a:avLst/>
          </a:prstGeom>
          <a:noFill/>
          <a:ln/>
        </p:spPr>
        <p:txBody>
          <a:bodyPr wrap="square" lIns="0" tIns="0" rIns="0" bIns="0" rtlCol="0" anchor="ctr"/>
          <a:lstStyle/>
          <a:p>
            <a:pPr indent="0" marL="0">
              <a:buNone/>
            </a:pPr>
            <a:r>
              <a:rPr lang="en-US" sz="1400" b="1" dirty="0">
                <a:solidFill>
                  <a:schemeClr val="tx1"/>
                </a:solidFill>
              </a:rPr>
              <a:t>Historical scenario</a:t>
            </a:r>
            <a:endParaRPr lang="en-US" sz="1400" dirty="0"/>
          </a:p>
        </p:txBody>
      </p:sp>
      <p:sp>
        <p:nvSpPr>
          <p:cNvPr id="18" name="Text 15"/>
          <p:cNvSpPr txBox="1"/>
          <p:nvPr/>
        </p:nvSpPr>
        <p:spPr>
          <a:xfrm>
            <a:off x="4892040" y="3566160"/>
            <a:ext cx="2377440" cy="685800"/>
          </a:xfrm>
          <a:prstGeom prst="rect">
            <a:avLst/>
          </a:prstGeom>
          <a:noFill/>
          <a:ln/>
        </p:spPr>
        <p:txBody>
          <a:bodyPr wrap="square" lIns="0" tIns="0" rIns="0" bIns="0" rtlCol="0" anchor="t"/>
          <a:lstStyle/>
          <a:p>
            <a:pPr indent="0" marL="0">
              <a:buNone/>
            </a:pPr>
            <a:r>
              <a:rPr lang="en-US" sz="1100" dirty="0">
                <a:solidFill>
                  <a:schemeClr val="tx2"/>
                </a:solidFill>
              </a:rPr>
              <a:t>severe share of similar past accidents (state, night, weekend, road users)</a:t>
            </a:r>
            <a:endParaRPr lang="en-US" sz="1100" dirty="0"/>
          </a:p>
        </p:txBody>
      </p:sp>
      <p:sp>
        <p:nvSpPr>
          <p:cNvPr id="19" name="Text 16"/>
          <p:cNvSpPr txBox="1"/>
          <p:nvPr/>
        </p:nvSpPr>
        <p:spPr>
          <a:xfrm>
            <a:off x="7315200" y="3291840"/>
            <a:ext cx="1234440" cy="548640"/>
          </a:xfrm>
          <a:prstGeom prst="rect">
            <a:avLst/>
          </a:prstGeom>
          <a:noFill/>
          <a:ln/>
        </p:spPr>
        <p:txBody>
          <a:bodyPr wrap="square" lIns="0" tIns="0" rIns="0" bIns="0" rtlCol="0" anchor="ctr"/>
          <a:lstStyle/>
          <a:p>
            <a:pPr algn="r" indent="0" marL="0">
              <a:buNone/>
            </a:pPr>
            <a:r>
              <a:rPr lang="en-US" sz="2800" b="1" dirty="0">
                <a:solidFill>
                  <a:schemeClr val="tx2"/>
                </a:solidFill>
                <a:latin typeface="Arial" pitchFamily="34" charset="0"/>
                <a:ea typeface="Arial" pitchFamily="34" charset="-122"/>
                <a:cs typeface="Arial" pitchFamily="34" charset="-120"/>
              </a:rPr>
              <a:t>0.315</a:t>
            </a:r>
            <a:endParaRPr lang="en-US" sz="2800" dirty="0"/>
          </a:p>
        </p:txBody>
      </p:sp>
      <p:sp>
        <p:nvSpPr>
          <p:cNvPr id="20" name="Text 17"/>
          <p:cNvSpPr txBox="1"/>
          <p:nvPr/>
        </p:nvSpPr>
        <p:spPr>
          <a:xfrm>
            <a:off x="7315200" y="3840480"/>
            <a:ext cx="1234440" cy="274320"/>
          </a:xfrm>
          <a:prstGeom prst="rect">
            <a:avLst/>
          </a:prstGeom>
          <a:noFill/>
          <a:ln/>
        </p:spPr>
        <p:txBody>
          <a:bodyPr wrap="square" lIns="0" tIns="0" rIns="0" bIns="0" rtlCol="0" anchor="ctr"/>
          <a:lstStyle/>
          <a:p>
            <a:pPr algn="r" indent="0" marL="0">
              <a:buNone/>
            </a:pPr>
            <a:r>
              <a:rPr lang="en-US" sz="1100" dirty="0">
                <a:solidFill>
                  <a:schemeClr val="tx2"/>
                </a:solidFill>
              </a:rPr>
              <a:t>F1</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Every model beats the baselines, and all end near 0.34</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Tiziano</a:t>
            </a:r>
            <a:endParaRPr lang="en-US" sz="1100" dirty="0"/>
          </a:p>
        </p:txBody>
      </p:sp>
      <p:graphicFrame>
        <p:nvGraphicFramePr>
          <p:cNvPr id="5" name="Chart 0" descr=""/>
          <p:cNvGraphicFramePr/>
          <p:nvPr/>
        </p:nvGraphicFramePr>
        <p:xfrm>
          <a:off x="457200" y="114300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852160" y="1234440"/>
            <a:ext cx="2834640" cy="3291840"/>
          </a:xfrm>
          <a:prstGeom prst="roundRect">
            <a:avLst>
              <a:gd name="adj" fmla="val 2581"/>
            </a:avLst>
          </a:prstGeom>
          <a:solidFill>
            <a:schemeClr val="bg2"/>
          </a:solidFill>
          <a:ln/>
        </p:spPr>
      </p:sp>
      <p:sp>
        <p:nvSpPr>
          <p:cNvPr id="7" name="icon circle"/>
          <p:cNvSpPr/>
          <p:nvPr/>
        </p:nvSpPr>
        <p:spPr>
          <a:xfrm>
            <a:off x="6080760" y="1463040"/>
            <a:ext cx="548640" cy="548640"/>
          </a:xfrm>
          <a:prstGeom prst="ellipse">
            <a:avLst/>
          </a:prstGeom>
          <a:solidFill>
            <a:srgbClr val="1E2328"/>
          </a:solidFill>
          <a:ln/>
        </p:spPr>
      </p:sp>
      <p:pic>
        <p:nvPicPr>
          <p:cNvPr id="8" name="icon FaLayerGroup" descr="preencoded.png">    </p:cNvPr>
          <p:cNvPicPr>
            <a:picLocks noChangeAspect="1"/>
          </p:cNvPicPr>
          <p:nvPr/>
        </p:nvPicPr>
        <p:blipFill>
          <a:blip r:embed="rId2"/>
          <a:stretch>
            <a:fillRect/>
          </a:stretch>
        </p:blipFill>
        <p:spPr>
          <a:xfrm>
            <a:off x="6212434" y="1594714"/>
            <a:ext cx="285293" cy="285293"/>
          </a:xfrm>
          <a:prstGeom prst="rect">
            <a:avLst/>
          </a:prstGeom>
        </p:spPr>
      </p:pic>
      <p:sp>
        <p:nvSpPr>
          <p:cNvPr id="9" name="Text 5"/>
          <p:cNvSpPr txBox="1"/>
          <p:nvPr/>
        </p:nvSpPr>
        <p:spPr>
          <a:xfrm>
            <a:off x="6080760" y="2148840"/>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4 notebooks, 1 answer</a:t>
            </a:r>
            <a:endParaRPr lang="en-US" sz="1500" dirty="0"/>
          </a:p>
        </p:txBody>
      </p:sp>
      <p:sp>
        <p:nvSpPr>
          <p:cNvPr id="10" name="Text 6"/>
          <p:cNvSpPr txBox="1"/>
          <p:nvPr/>
        </p:nvSpPr>
        <p:spPr>
          <a:xfrm>
            <a:off x="6080760" y="2542032"/>
            <a:ext cx="2468880" cy="1828800"/>
          </a:xfrm>
          <a:prstGeom prst="rect">
            <a:avLst/>
          </a:prstGeom>
          <a:noFill/>
          <a:ln/>
        </p:spPr>
        <p:txBody>
          <a:bodyPr wrap="square" lIns="0" tIns="0" rIns="0" bIns="0" rtlCol="0" anchor="t"/>
          <a:lstStyle/>
          <a:p>
            <a:pPr indent="0" marL="0">
              <a:buNone/>
            </a:pPr>
            <a:r>
              <a:rPr lang="en-US" sz="1200" dirty="0">
                <a:solidFill>
                  <a:schemeClr val="tx2"/>
                </a:solidFill>
              </a:rPr>
              <a:t>Four of us built models with different code. All reached F1 ≈ 0.34. Tuning added about 0.002, combining models about 0.003.</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The limit is the data, not the model</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Tiziano</a:t>
            </a:r>
            <a:endParaRPr lang="en-US" sz="1100" dirty="0"/>
          </a:p>
        </p:txBody>
      </p:sp>
      <p:sp>
        <p:nvSpPr>
          <p:cNvPr id="5" name="Text 3"/>
          <p:cNvSpPr txBox="1"/>
          <p:nvPr/>
        </p:nvSpPr>
        <p:spPr>
          <a:xfrm>
            <a:off x="457200" y="1234440"/>
            <a:ext cx="4023360" cy="320040"/>
          </a:xfrm>
          <a:prstGeom prst="rect">
            <a:avLst/>
          </a:prstGeom>
          <a:noFill/>
          <a:ln/>
        </p:spPr>
        <p:txBody>
          <a:bodyPr wrap="square" lIns="0" tIns="0" rIns="0" bIns="0" rtlCol="0" anchor="ctr"/>
          <a:lstStyle/>
          <a:p>
            <a:pPr indent="0" marL="0">
              <a:buNone/>
            </a:pPr>
            <a:r>
              <a:rPr lang="en-US" sz="1600" b="1" dirty="0">
                <a:solidFill>
                  <a:schemeClr val="tx1"/>
                </a:solidFill>
              </a:rPr>
              <a:t>What decides severity is mostly not recorded</a:t>
            </a:r>
            <a:endParaRPr lang="en-US" sz="1600" dirty="0"/>
          </a:p>
        </p:txBody>
      </p:sp>
      <p:sp>
        <p:nvSpPr>
          <p:cNvPr id="6" name="icon circle"/>
          <p:cNvSpPr/>
          <p:nvPr/>
        </p:nvSpPr>
        <p:spPr>
          <a:xfrm>
            <a:off x="457200" y="1737360"/>
            <a:ext cx="502920" cy="502920"/>
          </a:xfrm>
          <a:prstGeom prst="ellipse">
            <a:avLst/>
          </a:prstGeom>
          <a:solidFill>
            <a:srgbClr val="4B5563"/>
          </a:solidFill>
          <a:ln/>
        </p:spPr>
      </p:sp>
      <p:pic>
        <p:nvPicPr>
          <p:cNvPr id="7" name="icon FaTachometerAlt" descr="preencoded.png">    </p:cNvPr>
          <p:cNvPicPr>
            <a:picLocks noChangeAspect="1"/>
          </p:cNvPicPr>
          <p:nvPr/>
        </p:nvPicPr>
        <p:blipFill>
          <a:blip r:embed="rId1"/>
          <a:stretch>
            <a:fillRect/>
          </a:stretch>
        </p:blipFill>
        <p:spPr>
          <a:xfrm>
            <a:off x="577901" y="1858061"/>
            <a:ext cx="261518" cy="261518"/>
          </a:xfrm>
          <a:prstGeom prst="rect">
            <a:avLst/>
          </a:prstGeom>
        </p:spPr>
      </p:pic>
      <p:sp>
        <p:nvSpPr>
          <p:cNvPr id="8" name="Text 5"/>
          <p:cNvSpPr txBox="1"/>
          <p:nvPr/>
        </p:nvSpPr>
        <p:spPr>
          <a:xfrm>
            <a:off x="1143000" y="1737360"/>
            <a:ext cx="3291840" cy="502920"/>
          </a:xfrm>
          <a:prstGeom prst="rect">
            <a:avLst/>
          </a:prstGeom>
          <a:noFill/>
          <a:ln/>
        </p:spPr>
        <p:txBody>
          <a:bodyPr wrap="square" lIns="0" tIns="0" rIns="0" bIns="0" rtlCol="0" anchor="ctr"/>
          <a:lstStyle/>
          <a:p>
            <a:pPr indent="0" marL="0">
              <a:buNone/>
            </a:pPr>
            <a:r>
              <a:rPr lang="en-US" sz="1400" dirty="0">
                <a:solidFill>
                  <a:schemeClr val="tx1"/>
                </a:solidFill>
              </a:rPr>
              <a:t>Speed and speed limit</a:t>
            </a:r>
            <a:endParaRPr lang="en-US" sz="1400" dirty="0"/>
          </a:p>
        </p:txBody>
      </p:sp>
      <p:sp>
        <p:nvSpPr>
          <p:cNvPr id="9" name="icon circle"/>
          <p:cNvSpPr/>
          <p:nvPr/>
        </p:nvSpPr>
        <p:spPr>
          <a:xfrm>
            <a:off x="457200" y="2423160"/>
            <a:ext cx="502920" cy="502920"/>
          </a:xfrm>
          <a:prstGeom prst="ellipse">
            <a:avLst/>
          </a:prstGeom>
          <a:solidFill>
            <a:srgbClr val="4B5563"/>
          </a:solidFill>
          <a:ln/>
        </p:spPr>
      </p:sp>
      <p:pic>
        <p:nvPicPr>
          <p:cNvPr id="10" name="icon FaRoad" descr="preencoded.png">    </p:cNvPr>
          <p:cNvPicPr>
            <a:picLocks noChangeAspect="1"/>
          </p:cNvPicPr>
          <p:nvPr/>
        </p:nvPicPr>
        <p:blipFill>
          <a:blip r:embed="rId2"/>
          <a:stretch>
            <a:fillRect/>
          </a:stretch>
        </p:blipFill>
        <p:spPr>
          <a:xfrm>
            <a:off x="577901" y="2543861"/>
            <a:ext cx="261518" cy="261518"/>
          </a:xfrm>
          <a:prstGeom prst="rect">
            <a:avLst/>
          </a:prstGeom>
        </p:spPr>
      </p:pic>
      <p:sp>
        <p:nvSpPr>
          <p:cNvPr id="11" name="Text 7"/>
          <p:cNvSpPr txBox="1"/>
          <p:nvPr/>
        </p:nvSpPr>
        <p:spPr>
          <a:xfrm>
            <a:off x="1143000" y="2423160"/>
            <a:ext cx="3291840" cy="502920"/>
          </a:xfrm>
          <a:prstGeom prst="rect">
            <a:avLst/>
          </a:prstGeom>
          <a:noFill/>
          <a:ln/>
        </p:spPr>
        <p:txBody>
          <a:bodyPr wrap="square" lIns="0" tIns="0" rIns="0" bIns="0" rtlCol="0" anchor="ctr"/>
          <a:lstStyle/>
          <a:p>
            <a:pPr indent="0" marL="0">
              <a:buNone/>
            </a:pPr>
            <a:r>
              <a:rPr lang="en-US" sz="1400" dirty="0">
                <a:solidFill>
                  <a:schemeClr val="tx1"/>
                </a:solidFill>
              </a:rPr>
              <a:t>Road type (motorway, country road, street)</a:t>
            </a:r>
            <a:endParaRPr lang="en-US" sz="1400" dirty="0"/>
          </a:p>
        </p:txBody>
      </p:sp>
      <p:sp>
        <p:nvSpPr>
          <p:cNvPr id="12" name="icon circle"/>
          <p:cNvSpPr/>
          <p:nvPr/>
        </p:nvSpPr>
        <p:spPr>
          <a:xfrm>
            <a:off x="457200" y="3108960"/>
            <a:ext cx="502920" cy="502920"/>
          </a:xfrm>
          <a:prstGeom prst="ellipse">
            <a:avLst/>
          </a:prstGeom>
          <a:solidFill>
            <a:srgbClr val="4B5563"/>
          </a:solidFill>
          <a:ln/>
        </p:spPr>
      </p:sp>
      <p:pic>
        <p:nvPicPr>
          <p:cNvPr id="13" name="icon FaHardHat" descr="preencoded.png">    </p:cNvPr>
          <p:cNvPicPr>
            <a:picLocks noChangeAspect="1"/>
          </p:cNvPicPr>
          <p:nvPr/>
        </p:nvPicPr>
        <p:blipFill>
          <a:blip r:embed="rId3"/>
          <a:stretch>
            <a:fillRect/>
          </a:stretch>
        </p:blipFill>
        <p:spPr>
          <a:xfrm>
            <a:off x="577901" y="3229661"/>
            <a:ext cx="261518" cy="261518"/>
          </a:xfrm>
          <a:prstGeom prst="rect">
            <a:avLst/>
          </a:prstGeom>
        </p:spPr>
      </p:pic>
      <p:sp>
        <p:nvSpPr>
          <p:cNvPr id="14" name="Text 9"/>
          <p:cNvSpPr txBox="1"/>
          <p:nvPr/>
        </p:nvSpPr>
        <p:spPr>
          <a:xfrm>
            <a:off x="1143000" y="3108960"/>
            <a:ext cx="3291840" cy="502920"/>
          </a:xfrm>
          <a:prstGeom prst="rect">
            <a:avLst/>
          </a:prstGeom>
          <a:noFill/>
          <a:ln/>
        </p:spPr>
        <p:txBody>
          <a:bodyPr wrap="square" lIns="0" tIns="0" rIns="0" bIns="0" rtlCol="0" anchor="ctr"/>
          <a:lstStyle/>
          <a:p>
            <a:pPr indent="0" marL="0">
              <a:buNone/>
            </a:pPr>
            <a:r>
              <a:rPr lang="en-US" sz="1400" dirty="0">
                <a:solidFill>
                  <a:schemeClr val="tx1"/>
                </a:solidFill>
              </a:rPr>
              <a:t>Helmet and seatbelt use</a:t>
            </a:r>
            <a:endParaRPr lang="en-US" sz="1400" dirty="0"/>
          </a:p>
        </p:txBody>
      </p:sp>
      <p:sp>
        <p:nvSpPr>
          <p:cNvPr id="15" name="Text 10"/>
          <p:cNvSpPr txBox="1"/>
          <p:nvPr/>
        </p:nvSpPr>
        <p:spPr>
          <a:xfrm>
            <a:off x="457200" y="3886200"/>
            <a:ext cx="4023360" cy="548640"/>
          </a:xfrm>
          <a:prstGeom prst="rect">
            <a:avLst/>
          </a:prstGeom>
          <a:noFill/>
          <a:ln/>
        </p:spPr>
        <p:txBody>
          <a:bodyPr wrap="square" lIns="0" tIns="0" rIns="0" bIns="0" rtlCol="0" anchor="ctr"/>
          <a:lstStyle/>
          <a:p>
            <a:pPr indent="0" marL="0">
              <a:buNone/>
            </a:pPr>
            <a:r>
              <a:rPr lang="en-US" sz="1200" i="1" dirty="0">
                <a:solidFill>
                  <a:schemeClr val="tx2"/>
                </a:solidFill>
              </a:rPr>
              <a:t>Educated guesses for these did not help. Only real measurements will.</a:t>
            </a:r>
            <a:endParaRPr lang="en-US" sz="1200" dirty="0"/>
          </a:p>
        </p:txBody>
      </p:sp>
      <p:sp>
        <p:nvSpPr>
          <p:cNvPr id="16" name="card"/>
          <p:cNvSpPr/>
          <p:nvPr/>
        </p:nvSpPr>
        <p:spPr>
          <a:xfrm>
            <a:off x="4846320" y="1234440"/>
            <a:ext cx="3840480" cy="3291840"/>
          </a:xfrm>
          <a:prstGeom prst="roundRect">
            <a:avLst>
              <a:gd name="adj" fmla="val 2222"/>
            </a:avLst>
          </a:prstGeom>
          <a:solidFill>
            <a:schemeClr val="bg2"/>
          </a:solidFill>
          <a:ln/>
        </p:spPr>
      </p:sp>
      <p:sp>
        <p:nvSpPr>
          <p:cNvPr id="17" name="Text 12"/>
          <p:cNvSpPr txBox="1"/>
          <p:nvPr/>
        </p:nvSpPr>
        <p:spPr>
          <a:xfrm>
            <a:off x="5074920" y="1371600"/>
            <a:ext cx="3474720" cy="457200"/>
          </a:xfrm>
          <a:prstGeom prst="rect">
            <a:avLst/>
          </a:prstGeom>
          <a:noFill/>
          <a:ln/>
        </p:spPr>
        <p:txBody>
          <a:bodyPr wrap="square" lIns="0" tIns="0" rIns="0" bIns="0" rtlCol="0" anchor="ctr"/>
          <a:lstStyle/>
          <a:p>
            <a:pPr indent="0" marL="0">
              <a:buNone/>
            </a:pPr>
            <a:r>
              <a:rPr lang="en-US" sz="1400" b="1" dirty="0">
                <a:solidFill>
                  <a:schemeClr val="tx1"/>
                </a:solidFill>
              </a:rPr>
              <a:t>Price of predicting before the accident</a:t>
            </a:r>
            <a:endParaRPr lang="en-US" sz="1400" dirty="0"/>
          </a:p>
        </p:txBody>
      </p:sp>
      <p:sp>
        <p:nvSpPr>
          <p:cNvPr id="18" name="Text 13"/>
          <p:cNvSpPr txBox="1"/>
          <p:nvPr/>
        </p:nvSpPr>
        <p:spPr>
          <a:xfrm>
            <a:off x="5074920" y="1828800"/>
            <a:ext cx="1600200" cy="566928"/>
          </a:xfrm>
          <a:prstGeom prst="rect">
            <a:avLst/>
          </a:prstGeom>
          <a:noFill/>
          <a:ln/>
        </p:spPr>
        <p:txBody>
          <a:bodyPr wrap="square" lIns="0" tIns="0" rIns="0" bIns="0" rtlCol="0" anchor="b"/>
          <a:lstStyle/>
          <a:p>
            <a:pPr indent="0" marL="0">
              <a:buNone/>
            </a:pPr>
            <a:r>
              <a:rPr lang="en-US" sz="3200" b="1" dirty="0">
                <a:solidFill>
                  <a:schemeClr val="tx1"/>
                </a:solidFill>
                <a:latin typeface="Arial" pitchFamily="34" charset="0"/>
                <a:ea typeface="Arial" pitchFamily="34" charset="-122"/>
                <a:cs typeface="Arial" pitchFamily="34" charset="-120"/>
              </a:rPr>
              <a:t>0.341</a:t>
            </a:r>
            <a:endParaRPr lang="en-US" sz="3200" dirty="0"/>
          </a:p>
        </p:txBody>
      </p:sp>
      <p:sp>
        <p:nvSpPr>
          <p:cNvPr id="19" name="Text 14"/>
          <p:cNvSpPr txBox="1"/>
          <p:nvPr/>
        </p:nvSpPr>
        <p:spPr>
          <a:xfrm>
            <a:off x="5074920" y="2432304"/>
            <a:ext cx="1600200" cy="566928"/>
          </a:xfrm>
          <a:prstGeom prst="rect">
            <a:avLst/>
          </a:prstGeom>
          <a:noFill/>
          <a:ln/>
        </p:spPr>
        <p:txBody>
          <a:bodyPr wrap="square" lIns="0" tIns="0" rIns="0" bIns="0" rtlCol="0" anchor="t"/>
          <a:lstStyle/>
          <a:p>
            <a:pPr indent="0" marL="0">
              <a:buNone/>
            </a:pPr>
            <a:r>
              <a:rPr lang="en-US" sz="1200" dirty="0">
                <a:solidFill>
                  <a:schemeClr val="tx2"/>
                </a:solidFill>
              </a:rPr>
              <a:t>our model, before the accident</a:t>
            </a:r>
            <a:endParaRPr lang="en-US" sz="1200" dirty="0"/>
          </a:p>
        </p:txBody>
      </p:sp>
      <p:sp>
        <p:nvSpPr>
          <p:cNvPr id="20" name="Text 15"/>
          <p:cNvSpPr txBox="1"/>
          <p:nvPr/>
        </p:nvSpPr>
        <p:spPr>
          <a:xfrm>
            <a:off x="6858000" y="1828800"/>
            <a:ext cx="1691640" cy="566928"/>
          </a:xfrm>
          <a:prstGeom prst="rect">
            <a:avLst/>
          </a:prstGeom>
          <a:noFill/>
          <a:ln/>
        </p:spPr>
        <p:txBody>
          <a:bodyPr wrap="square" lIns="0" tIns="0" rIns="0" bIns="0" rtlCol="0" anchor="b"/>
          <a:lstStyle/>
          <a:p>
            <a:pPr indent="0" marL="0">
              <a:buNone/>
            </a:pPr>
            <a:r>
              <a:rPr lang="en-US" sz="3200" b="1" dirty="0">
                <a:solidFill>
                  <a:schemeClr val="tx2"/>
                </a:solidFill>
                <a:latin typeface="Arial" pitchFamily="34" charset="0"/>
                <a:ea typeface="Arial" pitchFamily="34" charset="-122"/>
                <a:cs typeface="Arial" pitchFamily="34" charset="-120"/>
              </a:rPr>
              <a:t>0.375</a:t>
            </a:r>
            <a:endParaRPr lang="en-US" sz="3200" dirty="0"/>
          </a:p>
        </p:txBody>
      </p:sp>
      <p:sp>
        <p:nvSpPr>
          <p:cNvPr id="21" name="Text 16"/>
          <p:cNvSpPr txBox="1"/>
          <p:nvPr/>
        </p:nvSpPr>
        <p:spPr>
          <a:xfrm>
            <a:off x="6858000" y="2432304"/>
            <a:ext cx="1691640" cy="566928"/>
          </a:xfrm>
          <a:prstGeom prst="rect">
            <a:avLst/>
          </a:prstGeom>
          <a:noFill/>
          <a:ln/>
        </p:spPr>
        <p:txBody>
          <a:bodyPr wrap="square" lIns="0" tIns="0" rIns="0" bIns="0" rtlCol="0" anchor="t"/>
          <a:lstStyle/>
          <a:p>
            <a:pPr indent="0" marL="0">
              <a:buNone/>
            </a:pPr>
            <a:r>
              <a:rPr lang="en-US" sz="1200" dirty="0">
                <a:solidFill>
                  <a:schemeClr val="tx2"/>
                </a:solidFill>
              </a:rPr>
              <a:t>same model, if it knew how the accident happened</a:t>
            </a:r>
            <a:endParaRPr lang="en-US" sz="1200" dirty="0"/>
          </a:p>
        </p:txBody>
      </p:sp>
      <p:sp>
        <p:nvSpPr>
          <p:cNvPr id="22" name="Text 17"/>
          <p:cNvSpPr txBox="1"/>
          <p:nvPr/>
        </p:nvSpPr>
        <p:spPr>
          <a:xfrm>
            <a:off x="5074920" y="3154680"/>
            <a:ext cx="3474720" cy="1234440"/>
          </a:xfrm>
          <a:prstGeom prst="rect">
            <a:avLst/>
          </a:prstGeom>
          <a:noFill/>
          <a:ln/>
        </p:spPr>
        <p:txBody>
          <a:bodyPr wrap="square" lIns="0" tIns="0" rIns="0" bIns="0" rtlCol="0" anchor="t"/>
          <a:lstStyle/>
          <a:p>
            <a:pPr indent="0" marL="0">
              <a:buNone/>
            </a:pPr>
            <a:r>
              <a:rPr lang="en-US" sz="1200" dirty="0">
                <a:solidFill>
                  <a:schemeClr val="tx2"/>
                </a:solidFill>
              </a:rPr>
              <a:t>Knowing the accident type would add only 0.034 F1. We cannot use it for prevention, so our model is close to what is possible.</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Our model finds more than half of the severe accidents</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Micheal</a:t>
            </a:r>
            <a:endParaRPr lang="en-US" sz="1100" dirty="0"/>
          </a:p>
        </p:txBody>
      </p:sp>
      <p:sp>
        <p:nvSpPr>
          <p:cNvPr id="5" name="card"/>
          <p:cNvSpPr/>
          <p:nvPr/>
        </p:nvSpPr>
        <p:spPr>
          <a:xfrm>
            <a:off x="457200" y="1234440"/>
            <a:ext cx="2148840" cy="1463040"/>
          </a:xfrm>
          <a:prstGeom prst="roundRect">
            <a:avLst>
              <a:gd name="adj" fmla="val 5000"/>
            </a:avLst>
          </a:prstGeom>
          <a:solidFill>
            <a:schemeClr val="bg2"/>
          </a:solidFill>
          <a:ln/>
        </p:spPr>
      </p:sp>
      <p:sp>
        <p:nvSpPr>
          <p:cNvPr id="6" name="Text 4"/>
          <p:cNvSpPr txBox="1"/>
          <p:nvPr/>
        </p:nvSpPr>
        <p:spPr>
          <a:xfrm>
            <a:off x="640080" y="1344168"/>
            <a:ext cx="1783080" cy="566928"/>
          </a:xfrm>
          <a:prstGeom prst="rect">
            <a:avLst/>
          </a:prstGeom>
          <a:noFill/>
          <a:ln/>
        </p:spPr>
        <p:txBody>
          <a:bodyPr wrap="square" lIns="0" tIns="0" rIns="0" bIns="0" rtlCol="0" anchor="b"/>
          <a:lstStyle/>
          <a:p>
            <a:pPr indent="0" marL="0">
              <a:buNone/>
            </a:pPr>
            <a:r>
              <a:rPr lang="en-US" sz="3000" b="1" dirty="0">
                <a:solidFill>
                  <a:schemeClr val="accent2"/>
                </a:solidFill>
                <a:latin typeface="Arial" pitchFamily="34" charset="0"/>
                <a:ea typeface="Arial" pitchFamily="34" charset="-122"/>
                <a:cs typeface="Arial" pitchFamily="34" charset="-120"/>
              </a:rPr>
              <a:t>56 %</a:t>
            </a:r>
            <a:endParaRPr lang="en-US" sz="3000" dirty="0"/>
          </a:p>
        </p:txBody>
      </p:sp>
      <p:sp>
        <p:nvSpPr>
          <p:cNvPr id="7" name="Text 5"/>
          <p:cNvSpPr txBox="1"/>
          <p:nvPr/>
        </p:nvSpPr>
        <p:spPr>
          <a:xfrm>
            <a:off x="640080" y="1947672"/>
            <a:ext cx="1783080" cy="566928"/>
          </a:xfrm>
          <a:prstGeom prst="rect">
            <a:avLst/>
          </a:prstGeom>
          <a:noFill/>
          <a:ln/>
        </p:spPr>
        <p:txBody>
          <a:bodyPr wrap="square" lIns="0" tIns="0" rIns="0" bIns="0" rtlCol="0" anchor="t"/>
          <a:lstStyle/>
          <a:p>
            <a:pPr indent="0" marL="0">
              <a:buNone/>
            </a:pPr>
            <a:r>
              <a:rPr lang="en-US" sz="1200" dirty="0">
                <a:solidFill>
                  <a:schemeClr val="tx2"/>
                </a:solidFill>
              </a:rPr>
              <a:t>of severe accidents are found</a:t>
            </a:r>
            <a:endParaRPr lang="en-US" sz="1200" dirty="0"/>
          </a:p>
        </p:txBody>
      </p:sp>
      <p:sp>
        <p:nvSpPr>
          <p:cNvPr id="8" name="card"/>
          <p:cNvSpPr/>
          <p:nvPr/>
        </p:nvSpPr>
        <p:spPr>
          <a:xfrm>
            <a:off x="2788920" y="1234440"/>
            <a:ext cx="2148840" cy="1463040"/>
          </a:xfrm>
          <a:prstGeom prst="roundRect">
            <a:avLst>
              <a:gd name="adj" fmla="val 5000"/>
            </a:avLst>
          </a:prstGeom>
          <a:solidFill>
            <a:schemeClr val="bg2"/>
          </a:solidFill>
          <a:ln/>
        </p:spPr>
      </p:sp>
      <p:sp>
        <p:nvSpPr>
          <p:cNvPr id="9" name="Text 7"/>
          <p:cNvSpPr txBox="1"/>
          <p:nvPr/>
        </p:nvSpPr>
        <p:spPr>
          <a:xfrm>
            <a:off x="2971800" y="1344168"/>
            <a:ext cx="1783080" cy="566928"/>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1 in 4</a:t>
            </a:r>
            <a:endParaRPr lang="en-US" sz="3000" dirty="0"/>
          </a:p>
        </p:txBody>
      </p:sp>
      <p:sp>
        <p:nvSpPr>
          <p:cNvPr id="10" name="Text 8"/>
          <p:cNvSpPr txBox="1"/>
          <p:nvPr/>
        </p:nvSpPr>
        <p:spPr>
          <a:xfrm>
            <a:off x="2971800" y="1947672"/>
            <a:ext cx="1783080" cy="566928"/>
          </a:xfrm>
          <a:prstGeom prst="rect">
            <a:avLst/>
          </a:prstGeom>
          <a:noFill/>
          <a:ln/>
        </p:spPr>
        <p:txBody>
          <a:bodyPr wrap="square" lIns="0" tIns="0" rIns="0" bIns="0" rtlCol="0" anchor="t"/>
          <a:lstStyle/>
          <a:p>
            <a:pPr indent="0" marL="0">
              <a:buNone/>
            </a:pPr>
            <a:r>
              <a:rPr lang="en-US" sz="1200" dirty="0">
                <a:solidFill>
                  <a:schemeClr val="tx2"/>
                </a:solidFill>
              </a:rPr>
              <a:t>flagged accidents is really severe (average: 1 in 6)</a:t>
            </a:r>
            <a:endParaRPr lang="en-US" sz="1200" dirty="0"/>
          </a:p>
        </p:txBody>
      </p:sp>
      <p:sp>
        <p:nvSpPr>
          <p:cNvPr id="11" name="card"/>
          <p:cNvSpPr/>
          <p:nvPr/>
        </p:nvSpPr>
        <p:spPr>
          <a:xfrm>
            <a:off x="457200" y="2834640"/>
            <a:ext cx="2148840" cy="1463040"/>
          </a:xfrm>
          <a:prstGeom prst="roundRect">
            <a:avLst>
              <a:gd name="adj" fmla="val 5000"/>
            </a:avLst>
          </a:prstGeom>
          <a:solidFill>
            <a:schemeClr val="bg2"/>
          </a:solidFill>
          <a:ln/>
        </p:spPr>
      </p:sp>
      <p:sp>
        <p:nvSpPr>
          <p:cNvPr id="12" name="Text 10"/>
          <p:cNvSpPr txBox="1"/>
          <p:nvPr/>
        </p:nvSpPr>
        <p:spPr>
          <a:xfrm>
            <a:off x="640080" y="2944368"/>
            <a:ext cx="1783080" cy="566928"/>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24 %</a:t>
            </a:r>
            <a:endParaRPr lang="en-US" sz="3000" dirty="0"/>
          </a:p>
        </p:txBody>
      </p:sp>
      <p:sp>
        <p:nvSpPr>
          <p:cNvPr id="13" name="Text 11"/>
          <p:cNvSpPr txBox="1"/>
          <p:nvPr/>
        </p:nvSpPr>
        <p:spPr>
          <a:xfrm>
            <a:off x="640080" y="3547872"/>
            <a:ext cx="1783080" cy="566928"/>
          </a:xfrm>
          <a:prstGeom prst="rect">
            <a:avLst/>
          </a:prstGeom>
          <a:noFill/>
          <a:ln/>
        </p:spPr>
        <p:txBody>
          <a:bodyPr wrap="square" lIns="0" tIns="0" rIns="0" bIns="0" rtlCol="0" anchor="t"/>
          <a:lstStyle/>
          <a:p>
            <a:pPr indent="0" marL="0">
              <a:buNone/>
            </a:pPr>
            <a:r>
              <a:rPr lang="en-US" sz="1200" dirty="0">
                <a:solidFill>
                  <a:schemeClr val="tx2"/>
                </a:solidFill>
              </a:rPr>
              <a:t>fewer false alarms than the historical scenario</a:t>
            </a:r>
            <a:endParaRPr lang="en-US" sz="1200" dirty="0"/>
          </a:p>
        </p:txBody>
      </p:sp>
      <p:sp>
        <p:nvSpPr>
          <p:cNvPr id="14" name="card"/>
          <p:cNvSpPr/>
          <p:nvPr/>
        </p:nvSpPr>
        <p:spPr>
          <a:xfrm>
            <a:off x="2788920" y="2834640"/>
            <a:ext cx="2148840" cy="1463040"/>
          </a:xfrm>
          <a:prstGeom prst="roundRect">
            <a:avLst>
              <a:gd name="adj" fmla="val 5000"/>
            </a:avLst>
          </a:prstGeom>
          <a:solidFill>
            <a:schemeClr val="bg2"/>
          </a:solidFill>
          <a:ln/>
        </p:spPr>
      </p:sp>
      <p:sp>
        <p:nvSpPr>
          <p:cNvPr id="15" name="Text 13"/>
          <p:cNvSpPr txBox="1"/>
          <p:nvPr/>
        </p:nvSpPr>
        <p:spPr>
          <a:xfrm>
            <a:off x="2971800" y="2944368"/>
            <a:ext cx="1783080" cy="566928"/>
          </a:xfrm>
          <a:prstGeom prst="rect">
            <a:avLst/>
          </a:prstGeom>
          <a:noFill/>
          <a:ln/>
        </p:spPr>
        <p:txBody>
          <a:bodyPr wrap="square" lIns="0" tIns="0" rIns="0" bIns="0" rtlCol="0" anchor="b"/>
          <a:lstStyle/>
          <a:p>
            <a:pPr indent="0" marL="0">
              <a:buNone/>
            </a:pPr>
            <a:r>
              <a:rPr lang="en-US" sz="3000" b="1" dirty="0">
                <a:solidFill>
                  <a:schemeClr val="tx1"/>
                </a:solidFill>
                <a:latin typeface="Arial" pitchFamily="34" charset="0"/>
                <a:ea typeface="Arial" pitchFamily="34" charset="-122"/>
                <a:cs typeface="Arial" pitchFamily="34" charset="-120"/>
              </a:rPr>
              <a:t>1 in 3</a:t>
            </a:r>
            <a:endParaRPr lang="en-US" sz="3000" dirty="0"/>
          </a:p>
        </p:txBody>
      </p:sp>
      <p:sp>
        <p:nvSpPr>
          <p:cNvPr id="16" name="Text 14"/>
          <p:cNvSpPr txBox="1"/>
          <p:nvPr/>
        </p:nvSpPr>
        <p:spPr>
          <a:xfrm>
            <a:off x="2971800" y="3547872"/>
            <a:ext cx="1783080" cy="566928"/>
          </a:xfrm>
          <a:prstGeom prst="rect">
            <a:avLst/>
          </a:prstGeom>
          <a:noFill/>
          <a:ln/>
        </p:spPr>
        <p:txBody>
          <a:bodyPr wrap="square" lIns="0" tIns="0" rIns="0" bIns="0" rtlCol="0" anchor="t"/>
          <a:lstStyle/>
          <a:p>
            <a:pPr indent="0" marL="0">
              <a:buNone/>
            </a:pPr>
            <a:r>
              <a:rPr lang="en-US" sz="1200" dirty="0">
                <a:solidFill>
                  <a:schemeClr val="tx2"/>
                </a:solidFill>
              </a:rPr>
              <a:t>severe in the 10 % highest-risk accidents (2× the average)</a:t>
            </a:r>
            <a:endParaRPr lang="en-US" sz="1200" dirty="0"/>
          </a:p>
        </p:txBody>
      </p:sp>
      <p:sp>
        <p:nvSpPr>
          <p:cNvPr id="17" name="card"/>
          <p:cNvSpPr/>
          <p:nvPr/>
        </p:nvSpPr>
        <p:spPr>
          <a:xfrm>
            <a:off x="5257800" y="1234440"/>
            <a:ext cx="3429000" cy="3063240"/>
          </a:xfrm>
          <a:prstGeom prst="roundRect">
            <a:avLst>
              <a:gd name="adj" fmla="val 2388"/>
            </a:avLst>
          </a:prstGeom>
          <a:solidFill>
            <a:schemeClr val="tx1"/>
          </a:solidFill>
          <a:ln/>
        </p:spPr>
      </p:sp>
      <p:sp>
        <p:nvSpPr>
          <p:cNvPr id="18" name="Text 16"/>
          <p:cNvSpPr txBox="1"/>
          <p:nvPr/>
        </p:nvSpPr>
        <p:spPr>
          <a:xfrm>
            <a:off x="5486400" y="1417320"/>
            <a:ext cx="3017520" cy="320040"/>
          </a:xfrm>
          <a:prstGeom prst="rect">
            <a:avLst/>
          </a:prstGeom>
          <a:noFill/>
          <a:ln/>
        </p:spPr>
        <p:txBody>
          <a:bodyPr wrap="square" lIns="0" tIns="0" rIns="0" bIns="0" rtlCol="0" anchor="ctr"/>
          <a:lstStyle/>
          <a:p>
            <a:pPr indent="0" marL="0">
              <a:buNone/>
            </a:pPr>
            <a:r>
              <a:rPr lang="en-US" sz="1500" b="1" dirty="0">
                <a:solidFill>
                  <a:schemeClr val="accent1"/>
                </a:solidFill>
              </a:rPr>
              <a:t>Final model</a:t>
            </a:r>
            <a:endParaRPr lang="en-US" sz="1500" dirty="0"/>
          </a:p>
        </p:txBody>
      </p:sp>
      <p:sp>
        <p:nvSpPr>
          <p:cNvPr id="19" name="Text 17"/>
          <p:cNvSpPr txBox="1"/>
          <p:nvPr/>
        </p:nvSpPr>
        <p:spPr>
          <a:xfrm>
            <a:off x="5486400" y="1783080"/>
            <a:ext cx="3017520" cy="1463040"/>
          </a:xfrm>
          <a:prstGeom prst="rect">
            <a:avLst/>
          </a:prstGeom>
          <a:noFill/>
          <a:ln/>
        </p:spPr>
        <p:txBody>
          <a:bodyPr wrap="square" lIns="0" tIns="0" rIns="0" bIns="0" rtlCol="0" anchor="t"/>
          <a:lstStyle/>
          <a:p>
            <a:pPr indent="0" marL="0">
              <a:spcAft>
                <a:spcPts val="600"/>
              </a:spcAft>
              <a:buNone/>
            </a:pPr>
            <a:r>
              <a:rPr lang="en-US" sz="1200" dirty="0">
                <a:solidFill>
                  <a:schemeClr val="bg1"/>
                </a:solidFill>
              </a:rPr>
              <a:t>Gradient boosting, tuned and calibrated</a:t>
            </a:r>
            <a:endParaRPr lang="en-US" sz="1200" dirty="0"/>
          </a:p>
          <a:p>
            <a:pPr indent="0" marL="0">
              <a:spcAft>
                <a:spcPts val="600"/>
              </a:spcAft>
              <a:buNone/>
            </a:pPr>
            <a:r>
              <a:rPr lang="en-US" sz="1200" dirty="0">
                <a:solidFill>
                  <a:schemeClr val="bg1"/>
                </a:solidFill>
              </a:rPr>
              <a:t>Validation F1 0.341 (+0.027 over the best baseline)</a:t>
            </a:r>
            <a:endParaRPr lang="en-US" sz="1200" dirty="0"/>
          </a:p>
          <a:p>
            <a:pPr indent="0" marL="0">
              <a:spcAft>
                <a:spcPts val="600"/>
              </a:spcAft>
              <a:buNone/>
            </a:pPr>
            <a:r>
              <a:rPr lang="en-US" sz="1200" dirty="0">
                <a:solidFill>
                  <a:schemeClr val="bg1"/>
                </a:solidFill>
              </a:rPr>
              <a:t>Probabilities are real risks: predicted 15.7 % = observed 15.7 %</a:t>
            </a:r>
            <a:endParaRPr lang="en-US" sz="1200" dirty="0"/>
          </a:p>
        </p:txBody>
      </p:sp>
      <p:sp>
        <p:nvSpPr>
          <p:cNvPr id="20" name="test score box"/>
          <p:cNvSpPr/>
          <p:nvPr/>
        </p:nvSpPr>
        <p:spPr>
          <a:xfrm>
            <a:off x="5486400" y="3383280"/>
            <a:ext cx="2971800" cy="731520"/>
          </a:xfrm>
          <a:prstGeom prst="roundRect">
            <a:avLst>
              <a:gd name="adj" fmla="val 7500"/>
            </a:avLst>
          </a:prstGeom>
          <a:solidFill>
            <a:schemeClr val="accent1"/>
          </a:solidFill>
          <a:ln/>
        </p:spPr>
      </p:sp>
      <p:sp>
        <p:nvSpPr>
          <p:cNvPr id="21" name="TEST SCORE PLACEHOLDER"/>
          <p:cNvSpPr txBox="1"/>
          <p:nvPr/>
        </p:nvSpPr>
        <p:spPr>
          <a:xfrm>
            <a:off x="5623560" y="3383280"/>
            <a:ext cx="2743200" cy="731520"/>
          </a:xfrm>
          <a:prstGeom prst="rect">
            <a:avLst/>
          </a:prstGeom>
          <a:noFill/>
          <a:ln/>
        </p:spPr>
        <p:txBody>
          <a:bodyPr wrap="square" lIns="0" tIns="0" rIns="0" bIns="0" rtlCol="0" anchor="ctr"/>
          <a:lstStyle/>
          <a:p>
            <a:pPr indent="0" marL="0">
              <a:buNone/>
            </a:pPr>
            <a:r>
              <a:rPr lang="en-US" sz="1300" b="1" dirty="0">
                <a:solidFill>
                  <a:schemeClr val="tx1"/>
                </a:solidFill>
              </a:rPr>
              <a:t>Test score: </a:t>
            </a:r>
            <a:pPr indent="0" marL="0">
              <a:buNone/>
            </a:pPr>
            <a:r>
              <a:rPr lang="en-US" sz="1300" dirty="0">
                <a:solidFill>
                  <a:schemeClr val="tx1"/>
                </a:solidFill>
              </a:rPr>
              <a:t>[add after the final test run]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Where and who matter most</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Micheal</a:t>
            </a:r>
            <a:endParaRPr lang="en-US" sz="1100" dirty="0"/>
          </a:p>
        </p:txBody>
      </p:sp>
      <p:graphicFrame>
        <p:nvGraphicFramePr>
          <p:cNvPr id="5" name="Chart 0" descr=""/>
          <p:cNvGraphicFramePr/>
          <p:nvPr/>
        </p:nvGraphicFramePr>
        <p:xfrm>
          <a:off x="457200" y="114300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6035040" y="1234440"/>
            <a:ext cx="2651760" cy="3291840"/>
          </a:xfrm>
          <a:prstGeom prst="roundRect">
            <a:avLst>
              <a:gd name="adj" fmla="val 2759"/>
            </a:avLst>
          </a:prstGeom>
          <a:solidFill>
            <a:schemeClr val="bg2"/>
          </a:solidFill>
          <a:ln/>
        </p:spPr>
      </p:sp>
      <p:sp>
        <p:nvSpPr>
          <p:cNvPr id="7" name="icon circle"/>
          <p:cNvSpPr/>
          <p:nvPr/>
        </p:nvSpPr>
        <p:spPr>
          <a:xfrm>
            <a:off x="6263640" y="1463040"/>
            <a:ext cx="548640" cy="548640"/>
          </a:xfrm>
          <a:prstGeom prst="ellipse">
            <a:avLst/>
          </a:prstGeom>
          <a:solidFill>
            <a:srgbClr val="4A7C59"/>
          </a:solidFill>
          <a:ln/>
        </p:spPr>
      </p:sp>
      <p:pic>
        <p:nvPicPr>
          <p:cNvPr id="8" name="icon FaTree" descr="preencoded.png">    </p:cNvPr>
          <p:cNvPicPr>
            <a:picLocks noChangeAspect="1"/>
          </p:cNvPicPr>
          <p:nvPr/>
        </p:nvPicPr>
        <p:blipFill>
          <a:blip r:embed="rId2"/>
          <a:stretch>
            <a:fillRect/>
          </a:stretch>
        </p:blipFill>
        <p:spPr>
          <a:xfrm>
            <a:off x="6395314" y="1594714"/>
            <a:ext cx="285293" cy="285293"/>
          </a:xfrm>
          <a:prstGeom prst="rect">
            <a:avLst/>
          </a:prstGeom>
        </p:spPr>
      </p:pic>
      <p:sp>
        <p:nvSpPr>
          <p:cNvPr id="9" name="Text 5"/>
          <p:cNvSpPr txBox="1"/>
          <p:nvPr/>
        </p:nvSpPr>
        <p:spPr>
          <a:xfrm>
            <a:off x="6263640" y="2148840"/>
            <a:ext cx="2286000" cy="365760"/>
          </a:xfrm>
          <a:prstGeom prst="rect">
            <a:avLst/>
          </a:prstGeom>
          <a:noFill/>
          <a:ln/>
        </p:spPr>
        <p:txBody>
          <a:bodyPr wrap="square" lIns="0" tIns="0" rIns="0" bIns="0" rtlCol="0" anchor="ctr"/>
          <a:lstStyle/>
          <a:p>
            <a:pPr indent="0" marL="0">
              <a:buNone/>
            </a:pPr>
            <a:r>
              <a:rPr lang="en-US" sz="1500" b="1" dirty="0">
                <a:solidFill>
                  <a:schemeClr val="tx1"/>
                </a:solidFill>
              </a:rPr>
              <a:t>3× more important</a:t>
            </a:r>
            <a:endParaRPr lang="en-US" sz="1500" dirty="0"/>
          </a:p>
        </p:txBody>
      </p:sp>
      <p:sp>
        <p:nvSpPr>
          <p:cNvPr id="10" name="Text 6"/>
          <p:cNvSpPr txBox="1"/>
          <p:nvPr/>
        </p:nvSpPr>
        <p:spPr>
          <a:xfrm>
            <a:off x="6263640" y="2542032"/>
            <a:ext cx="2286000" cy="1828800"/>
          </a:xfrm>
          <a:prstGeom prst="rect">
            <a:avLst/>
          </a:prstGeom>
          <a:noFill/>
          <a:ln/>
        </p:spPr>
        <p:txBody>
          <a:bodyPr wrap="square" lIns="0" tIns="0" rIns="0" bIns="0" rtlCol="0" anchor="t"/>
          <a:lstStyle/>
          <a:p>
            <a:pPr indent="0" marL="0">
              <a:buNone/>
            </a:pPr>
            <a:r>
              <a:rPr lang="en-US" sz="1200" dirty="0">
                <a:solidFill>
                  <a:schemeClr val="tx2"/>
                </a:solidFill>
              </a:rPr>
              <a:t>City vs countryside matters about three times more than any other information, followed by who is involved. All other information adds only small amounts.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Data product: a risk explorer for road planners</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Britt</a:t>
            </a:r>
            <a:endParaRPr lang="en-US" sz="1100" dirty="0"/>
          </a:p>
        </p:txBody>
      </p:sp>
      <p:sp>
        <p:nvSpPr>
          <p:cNvPr id="5" name="mock screen"/>
          <p:cNvSpPr/>
          <p:nvPr/>
        </p:nvSpPr>
        <p:spPr>
          <a:xfrm>
            <a:off x="457200" y="1234440"/>
            <a:ext cx="4206240" cy="3291840"/>
          </a:xfrm>
          <a:prstGeom prst="roundRect">
            <a:avLst>
              <a:gd name="adj" fmla="val 2778"/>
            </a:avLst>
          </a:prstGeom>
          <a:solidFill>
            <a:schemeClr val="tx1"/>
          </a:solidFill>
          <a:ln/>
        </p:spPr>
      </p:sp>
      <p:sp>
        <p:nvSpPr>
          <p:cNvPr id="6" name="Text 4"/>
          <p:cNvSpPr txBox="1"/>
          <p:nvPr/>
        </p:nvSpPr>
        <p:spPr>
          <a:xfrm>
            <a:off x="685800" y="1371600"/>
            <a:ext cx="3749040" cy="320040"/>
          </a:xfrm>
          <a:prstGeom prst="rect">
            <a:avLst/>
          </a:prstGeom>
          <a:noFill/>
          <a:ln/>
        </p:spPr>
        <p:txBody>
          <a:bodyPr wrap="square" lIns="0" tIns="0" rIns="0" bIns="0" rtlCol="0" anchor="ctr"/>
          <a:lstStyle/>
          <a:p>
            <a:pPr indent="0" marL="0">
              <a:buNone/>
            </a:pPr>
            <a:r>
              <a:rPr lang="en-US" sz="1300" b="1" dirty="0">
                <a:solidFill>
                  <a:schemeClr val="accent1"/>
                </a:solidFill>
              </a:rPr>
              <a:t>Choose a situation</a:t>
            </a:r>
            <a:endParaRPr lang="en-US" sz="1300" dirty="0"/>
          </a:p>
        </p:txBody>
      </p:sp>
      <p:sp>
        <p:nvSpPr>
          <p:cNvPr id="7" name="mock input"/>
          <p:cNvSpPr/>
          <p:nvPr/>
        </p:nvSpPr>
        <p:spPr>
          <a:xfrm>
            <a:off x="685800" y="1783080"/>
            <a:ext cx="3749040" cy="365760"/>
          </a:xfrm>
          <a:prstGeom prst="roundRect">
            <a:avLst>
              <a:gd name="adj" fmla="val 12500"/>
            </a:avLst>
          </a:prstGeom>
          <a:solidFill>
            <a:srgbClr val="374151"/>
          </a:solidFill>
          <a:ln/>
        </p:spPr>
      </p:sp>
      <p:sp>
        <p:nvSpPr>
          <p:cNvPr id="8" name="Text 6"/>
          <p:cNvSpPr txBox="1"/>
          <p:nvPr/>
        </p:nvSpPr>
        <p:spPr>
          <a:xfrm>
            <a:off x="822960" y="1783080"/>
            <a:ext cx="3566160" cy="365760"/>
          </a:xfrm>
          <a:prstGeom prst="rect">
            <a:avLst/>
          </a:prstGeom>
          <a:noFill/>
          <a:ln/>
        </p:spPr>
        <p:txBody>
          <a:bodyPr wrap="square" lIns="0" tIns="0" rIns="0" bIns="0" rtlCol="0" anchor="ctr"/>
          <a:lstStyle/>
          <a:p>
            <a:pPr indent="0" marL="0">
              <a:buNone/>
            </a:pPr>
            <a:r>
              <a:rPr lang="en-US" sz="1100" dirty="0">
                <a:solidFill>
                  <a:srgbClr val="9CA3AF"/>
                </a:solidFill>
              </a:rPr>
              <a:t>Place:  </a:t>
            </a:r>
            <a:pPr indent="0" marL="0">
              <a:buNone/>
            </a:pPr>
            <a:r>
              <a:rPr lang="en-US" sz="1100" dirty="0">
                <a:solidFill>
                  <a:srgbClr val="FFFFFF"/>
                </a:solidFill>
              </a:rPr>
              <a:t>rural municipality, Thüringen</a:t>
            </a:r>
            <a:endParaRPr lang="en-US" sz="1100" dirty="0"/>
          </a:p>
        </p:txBody>
      </p:sp>
      <p:sp>
        <p:nvSpPr>
          <p:cNvPr id="9" name="mock input"/>
          <p:cNvSpPr/>
          <p:nvPr/>
        </p:nvSpPr>
        <p:spPr>
          <a:xfrm>
            <a:off x="685800" y="2240280"/>
            <a:ext cx="3749040" cy="365760"/>
          </a:xfrm>
          <a:prstGeom prst="roundRect">
            <a:avLst>
              <a:gd name="adj" fmla="val 12500"/>
            </a:avLst>
          </a:prstGeom>
          <a:solidFill>
            <a:srgbClr val="374151"/>
          </a:solidFill>
          <a:ln/>
        </p:spPr>
      </p:sp>
      <p:sp>
        <p:nvSpPr>
          <p:cNvPr id="10" name="Text 8"/>
          <p:cNvSpPr txBox="1"/>
          <p:nvPr/>
        </p:nvSpPr>
        <p:spPr>
          <a:xfrm>
            <a:off x="822960" y="2240280"/>
            <a:ext cx="3566160" cy="365760"/>
          </a:xfrm>
          <a:prstGeom prst="rect">
            <a:avLst/>
          </a:prstGeom>
          <a:noFill/>
          <a:ln/>
        </p:spPr>
        <p:txBody>
          <a:bodyPr wrap="square" lIns="0" tIns="0" rIns="0" bIns="0" rtlCol="0" anchor="ctr"/>
          <a:lstStyle/>
          <a:p>
            <a:pPr indent="0" marL="0">
              <a:buNone/>
            </a:pPr>
            <a:r>
              <a:rPr lang="en-US" sz="1100" dirty="0">
                <a:solidFill>
                  <a:srgbClr val="9CA3AF"/>
                </a:solidFill>
              </a:rPr>
              <a:t>When:  </a:t>
            </a:r>
            <a:pPr indent="0" marL="0">
              <a:buNone/>
            </a:pPr>
            <a:r>
              <a:rPr lang="en-US" sz="1100" dirty="0">
                <a:solidFill>
                  <a:srgbClr val="FFFFFF"/>
                </a:solidFill>
              </a:rPr>
              <a:t>Sunday, 22:00, dark</a:t>
            </a:r>
            <a:endParaRPr lang="en-US" sz="1100" dirty="0"/>
          </a:p>
        </p:txBody>
      </p:sp>
      <p:sp>
        <p:nvSpPr>
          <p:cNvPr id="11" name="mock input"/>
          <p:cNvSpPr/>
          <p:nvPr/>
        </p:nvSpPr>
        <p:spPr>
          <a:xfrm>
            <a:off x="685800" y="2697480"/>
            <a:ext cx="3749040" cy="365760"/>
          </a:xfrm>
          <a:prstGeom prst="roundRect">
            <a:avLst>
              <a:gd name="adj" fmla="val 12500"/>
            </a:avLst>
          </a:prstGeom>
          <a:solidFill>
            <a:srgbClr val="374151"/>
          </a:solidFill>
          <a:ln/>
        </p:spPr>
      </p:sp>
      <p:sp>
        <p:nvSpPr>
          <p:cNvPr id="12" name="Text 10"/>
          <p:cNvSpPr txBox="1"/>
          <p:nvPr/>
        </p:nvSpPr>
        <p:spPr>
          <a:xfrm>
            <a:off x="822960" y="2697480"/>
            <a:ext cx="3566160" cy="365760"/>
          </a:xfrm>
          <a:prstGeom prst="rect">
            <a:avLst/>
          </a:prstGeom>
          <a:noFill/>
          <a:ln/>
        </p:spPr>
        <p:txBody>
          <a:bodyPr wrap="square" lIns="0" tIns="0" rIns="0" bIns="0" rtlCol="0" anchor="ctr"/>
          <a:lstStyle/>
          <a:p>
            <a:pPr indent="0" marL="0">
              <a:buNone/>
            </a:pPr>
            <a:r>
              <a:rPr lang="en-US" sz="1100" dirty="0">
                <a:solidFill>
                  <a:srgbClr val="9CA3AF"/>
                </a:solidFill>
              </a:rPr>
              <a:t>Road users:  </a:t>
            </a:r>
            <a:pPr indent="0" marL="0">
              <a:buNone/>
            </a:pPr>
            <a:r>
              <a:rPr lang="en-US" sz="1100" dirty="0">
                <a:solidFill>
                  <a:srgbClr val="FFFFFF"/>
                </a:solidFill>
              </a:rPr>
              <a:t>motorcycle + car</a:t>
            </a:r>
            <a:endParaRPr lang="en-US" sz="1100" dirty="0"/>
          </a:p>
        </p:txBody>
      </p:sp>
      <p:sp>
        <p:nvSpPr>
          <p:cNvPr id="13" name="Text 11"/>
          <p:cNvSpPr txBox="1"/>
          <p:nvPr/>
        </p:nvSpPr>
        <p:spPr>
          <a:xfrm>
            <a:off x="685800" y="3291840"/>
            <a:ext cx="3749040" cy="274320"/>
          </a:xfrm>
          <a:prstGeom prst="rect">
            <a:avLst/>
          </a:prstGeom>
          <a:noFill/>
          <a:ln/>
        </p:spPr>
        <p:txBody>
          <a:bodyPr wrap="square" lIns="0" tIns="0" rIns="0" bIns="0" rtlCol="0" anchor="ctr"/>
          <a:lstStyle/>
          <a:p>
            <a:pPr indent="0" marL="0">
              <a:buNone/>
            </a:pPr>
            <a:r>
              <a:rPr lang="en-US" sz="1100" dirty="0">
                <a:solidFill>
                  <a:srgbClr val="9CA3AF"/>
                </a:solidFill>
              </a:rPr>
              <a:t>Predicted risk of a severe outcome</a:t>
            </a:r>
            <a:endParaRPr lang="en-US" sz="1100" dirty="0"/>
          </a:p>
        </p:txBody>
      </p:sp>
      <p:sp>
        <p:nvSpPr>
          <p:cNvPr id="14" name="risk bar track"/>
          <p:cNvSpPr/>
          <p:nvPr/>
        </p:nvSpPr>
        <p:spPr>
          <a:xfrm>
            <a:off x="685800" y="3611880"/>
            <a:ext cx="3749040" cy="201168"/>
          </a:xfrm>
          <a:prstGeom prst="roundRect">
            <a:avLst>
              <a:gd name="adj" fmla="val 50000"/>
            </a:avLst>
          </a:prstGeom>
          <a:solidFill>
            <a:srgbClr val="374151"/>
          </a:solidFill>
          <a:ln/>
        </p:spPr>
      </p:sp>
      <p:sp>
        <p:nvSpPr>
          <p:cNvPr id="15" name="risk bar fill"/>
          <p:cNvSpPr/>
          <p:nvPr/>
        </p:nvSpPr>
        <p:spPr>
          <a:xfrm>
            <a:off x="685800" y="3611880"/>
            <a:ext cx="1499616" cy="201168"/>
          </a:xfrm>
          <a:prstGeom prst="roundRect">
            <a:avLst>
              <a:gd name="adj" fmla="val 50000"/>
            </a:avLst>
          </a:prstGeom>
          <a:solidFill>
            <a:schemeClr val="accent2"/>
          </a:solidFill>
          <a:ln/>
        </p:spPr>
      </p:sp>
      <p:sp>
        <p:nvSpPr>
          <p:cNvPr id="16" name="Text 14"/>
          <p:cNvSpPr txBox="1"/>
          <p:nvPr/>
        </p:nvSpPr>
        <p:spPr>
          <a:xfrm>
            <a:off x="685800" y="3931920"/>
            <a:ext cx="3749040" cy="320040"/>
          </a:xfrm>
          <a:prstGeom prst="rect">
            <a:avLst/>
          </a:prstGeom>
          <a:noFill/>
          <a:ln/>
        </p:spPr>
        <p:txBody>
          <a:bodyPr wrap="square" lIns="0" tIns="0" rIns="0" bIns="0" rtlCol="0" anchor="ctr"/>
          <a:lstStyle/>
          <a:p>
            <a:pPr indent="0" marL="0">
              <a:buNone/>
            </a:pPr>
            <a:r>
              <a:rPr lang="en-US" sz="1200" b="1" dirty="0">
                <a:solidFill>
                  <a:schemeClr val="bg1"/>
                </a:solidFill>
              </a:rPr>
              <a:t>High risk: far above the 15.7 % average</a:t>
            </a:r>
            <a:endParaRPr lang="en-US" sz="1200" dirty="0"/>
          </a:p>
        </p:txBody>
      </p:sp>
      <p:sp>
        <p:nvSpPr>
          <p:cNvPr id="17" name="Text 15"/>
          <p:cNvSpPr txBox="1"/>
          <p:nvPr/>
        </p:nvSpPr>
        <p:spPr>
          <a:xfrm>
            <a:off x="685800" y="4224528"/>
            <a:ext cx="3749040" cy="228600"/>
          </a:xfrm>
          <a:prstGeom prst="rect">
            <a:avLst/>
          </a:prstGeom>
          <a:noFill/>
          <a:ln/>
        </p:spPr>
        <p:txBody>
          <a:bodyPr wrap="square" lIns="0" tIns="0" rIns="0" bIns="0" rtlCol="0" anchor="ctr"/>
          <a:lstStyle/>
          <a:p>
            <a:pPr indent="0" marL="0">
              <a:buNone/>
            </a:pPr>
            <a:r>
              <a:rPr lang="en-US" sz="900" i="1" dirty="0">
                <a:solidFill>
                  <a:srgbClr val="9CA3AF"/>
                </a:solidFill>
              </a:rPr>
              <a:t>Illustrative example</a:t>
            </a:r>
            <a:endParaRPr lang="en-US" sz="900" dirty="0"/>
          </a:p>
        </p:txBody>
      </p:sp>
      <p:sp>
        <p:nvSpPr>
          <p:cNvPr id="18" name="icon circle"/>
          <p:cNvSpPr/>
          <p:nvPr/>
        </p:nvSpPr>
        <p:spPr>
          <a:xfrm>
            <a:off x="4983480" y="1371600"/>
            <a:ext cx="548640" cy="548640"/>
          </a:xfrm>
          <a:prstGeom prst="ellipse">
            <a:avLst/>
          </a:prstGeom>
          <a:solidFill>
            <a:srgbClr val="E8A33D"/>
          </a:solidFill>
          <a:ln/>
        </p:spPr>
      </p:sp>
      <p:pic>
        <p:nvPicPr>
          <p:cNvPr id="19" name="icon FaMapMarkedAlt" descr="preencoded.png">    </p:cNvPr>
          <p:cNvPicPr>
            <a:picLocks noChangeAspect="1"/>
          </p:cNvPicPr>
          <p:nvPr/>
        </p:nvPicPr>
        <p:blipFill>
          <a:blip r:embed="rId1"/>
          <a:stretch>
            <a:fillRect/>
          </a:stretch>
        </p:blipFill>
        <p:spPr>
          <a:xfrm>
            <a:off x="5115154" y="1503274"/>
            <a:ext cx="285293" cy="285293"/>
          </a:xfrm>
          <a:prstGeom prst="rect">
            <a:avLst/>
          </a:prstGeom>
        </p:spPr>
      </p:pic>
      <p:sp>
        <p:nvSpPr>
          <p:cNvPr id="20" name="Text 17"/>
          <p:cNvSpPr txBox="1"/>
          <p:nvPr/>
        </p:nvSpPr>
        <p:spPr>
          <a:xfrm>
            <a:off x="5669280" y="1280160"/>
            <a:ext cx="3017520" cy="777240"/>
          </a:xfrm>
          <a:prstGeom prst="rect">
            <a:avLst/>
          </a:prstGeom>
          <a:noFill/>
          <a:ln/>
        </p:spPr>
        <p:txBody>
          <a:bodyPr wrap="square" lIns="0" tIns="0" rIns="0" bIns="0" rtlCol="0" anchor="ctr"/>
          <a:lstStyle/>
          <a:p>
            <a:pPr indent="0" marL="0">
              <a:buNone/>
            </a:pPr>
            <a:r>
              <a:rPr lang="en-US" sz="1300" b="1" dirty="0">
                <a:solidFill>
                  <a:schemeClr val="tx1"/>
                </a:solidFill>
              </a:rPr>
              <a:t>Risk map</a:t>
            </a:r>
            <a:endParaRPr lang="en-US" sz="1300" dirty="0"/>
          </a:p>
          <a:p>
            <a:pPr indent="0" marL="0">
              <a:buNone/>
            </a:pPr>
            <a:r>
              <a:rPr lang="en-US" sz="1300" dirty="0">
                <a:solidFill>
                  <a:schemeClr val="tx2"/>
                </a:solidFill>
              </a:rPr>
              <a:t>rank municipalities and situations by predicted risk</a:t>
            </a:r>
            <a:endParaRPr lang="en-US" sz="1300" dirty="0"/>
          </a:p>
        </p:txBody>
      </p:sp>
      <p:sp>
        <p:nvSpPr>
          <p:cNvPr id="21" name="icon circle"/>
          <p:cNvSpPr/>
          <p:nvPr/>
        </p:nvSpPr>
        <p:spPr>
          <a:xfrm>
            <a:off x="4983480" y="2468880"/>
            <a:ext cx="548640" cy="548640"/>
          </a:xfrm>
          <a:prstGeom prst="ellipse">
            <a:avLst/>
          </a:prstGeom>
          <a:solidFill>
            <a:srgbClr val="E8A33D"/>
          </a:solidFill>
          <a:ln/>
        </p:spPr>
      </p:sp>
      <p:pic>
        <p:nvPicPr>
          <p:cNvPr id="22" name="icon FaBullseye" descr="preencoded.png">    </p:cNvPr>
          <p:cNvPicPr>
            <a:picLocks noChangeAspect="1"/>
          </p:cNvPicPr>
          <p:nvPr/>
        </p:nvPicPr>
        <p:blipFill>
          <a:blip r:embed="rId2"/>
          <a:stretch>
            <a:fillRect/>
          </a:stretch>
        </p:blipFill>
        <p:spPr>
          <a:xfrm>
            <a:off x="5115154" y="2600554"/>
            <a:ext cx="285293" cy="285293"/>
          </a:xfrm>
          <a:prstGeom prst="rect">
            <a:avLst/>
          </a:prstGeom>
        </p:spPr>
      </p:pic>
      <p:sp>
        <p:nvSpPr>
          <p:cNvPr id="23" name="Text 19"/>
          <p:cNvSpPr txBox="1"/>
          <p:nvPr/>
        </p:nvSpPr>
        <p:spPr>
          <a:xfrm>
            <a:off x="5669280" y="2377440"/>
            <a:ext cx="3017520" cy="777240"/>
          </a:xfrm>
          <a:prstGeom prst="rect">
            <a:avLst/>
          </a:prstGeom>
          <a:noFill/>
          <a:ln/>
        </p:spPr>
        <p:txBody>
          <a:bodyPr wrap="square" lIns="0" tIns="0" rIns="0" bIns="0" rtlCol="0" anchor="ctr"/>
          <a:lstStyle/>
          <a:p>
            <a:pPr indent="0" marL="0">
              <a:buNone/>
            </a:pPr>
            <a:r>
              <a:rPr lang="en-US" sz="1300" b="1" dirty="0">
                <a:solidFill>
                  <a:schemeClr val="tx1"/>
                </a:solidFill>
              </a:rPr>
              <a:t>Target campaigns</a:t>
            </a:r>
            <a:endParaRPr lang="en-US" sz="1300" dirty="0"/>
          </a:p>
          <a:p>
            <a:pPr indent="0" marL="0">
              <a:buNone/>
            </a:pPr>
            <a:r>
              <a:rPr lang="en-US" sz="1300" dirty="0">
                <a:solidFill>
                  <a:schemeClr val="tx2"/>
                </a:solidFill>
              </a:rPr>
              <a:t>e.g. motorcyclists on rural roads at night and weekends</a:t>
            </a:r>
            <a:endParaRPr lang="en-US" sz="1300" dirty="0"/>
          </a:p>
        </p:txBody>
      </p:sp>
      <p:sp>
        <p:nvSpPr>
          <p:cNvPr id="24" name="icon circle"/>
          <p:cNvSpPr/>
          <p:nvPr/>
        </p:nvSpPr>
        <p:spPr>
          <a:xfrm>
            <a:off x="4983480" y="3566160"/>
            <a:ext cx="548640" cy="548640"/>
          </a:xfrm>
          <a:prstGeom prst="ellipse">
            <a:avLst/>
          </a:prstGeom>
          <a:solidFill>
            <a:srgbClr val="E8A33D"/>
          </a:solidFill>
          <a:ln/>
        </p:spPr>
      </p:sp>
      <p:pic>
        <p:nvPicPr>
          <p:cNvPr id="25" name="icon FaMobileAlt" descr="preencoded.png">    </p:cNvPr>
          <p:cNvPicPr>
            <a:picLocks noChangeAspect="1"/>
          </p:cNvPicPr>
          <p:nvPr/>
        </p:nvPicPr>
        <p:blipFill>
          <a:blip r:embed="rId3"/>
          <a:stretch>
            <a:fillRect/>
          </a:stretch>
        </p:blipFill>
        <p:spPr>
          <a:xfrm>
            <a:off x="5115154" y="3697834"/>
            <a:ext cx="285293" cy="285293"/>
          </a:xfrm>
          <a:prstGeom prst="rect">
            <a:avLst/>
          </a:prstGeom>
        </p:spPr>
      </p:pic>
      <p:sp>
        <p:nvSpPr>
          <p:cNvPr id="26" name="Text 21"/>
          <p:cNvSpPr txBox="1"/>
          <p:nvPr/>
        </p:nvSpPr>
        <p:spPr>
          <a:xfrm>
            <a:off x="5669280" y="3474720"/>
            <a:ext cx="3017520" cy="777240"/>
          </a:xfrm>
          <a:prstGeom prst="rect">
            <a:avLst/>
          </a:prstGeom>
          <a:noFill/>
          <a:ln/>
        </p:spPr>
        <p:txBody>
          <a:bodyPr wrap="square" lIns="0" tIns="0" rIns="0" bIns="0" rtlCol="0" anchor="ctr"/>
          <a:lstStyle/>
          <a:p>
            <a:pPr indent="0" marL="0">
              <a:buNone/>
            </a:pPr>
            <a:r>
              <a:rPr lang="en-US" sz="1300" b="1" dirty="0">
                <a:solidFill>
                  <a:schemeClr val="tx1"/>
                </a:solidFill>
              </a:rPr>
              <a:t>Live warnings</a:t>
            </a:r>
            <a:endParaRPr lang="en-US" sz="1300" dirty="0"/>
          </a:p>
          <a:p>
            <a:pPr indent="0" marL="0">
              <a:buNone/>
            </a:pPr>
            <a:r>
              <a:rPr lang="en-US" sz="1300" dirty="0">
                <a:solidFill>
                  <a:schemeClr val="tx2"/>
                </a:solidFill>
              </a:rPr>
              <a:t>navigation apps warn when a trip enters a high-risk situation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949440" cy="685800"/>
          </a:xfrm>
          <a:prstGeom prst="rect">
            <a:avLst/>
          </a:prstGeom>
          <a:noFill/>
          <a:ln/>
        </p:spPr>
        <p:txBody>
          <a:bodyPr wrap="square" lIns="0" tIns="0" rIns="0" bIns="0" rtlCol="0" anchor="ctr"/>
          <a:lstStyle/>
          <a:p>
            <a:pPr algn="l" indent="0" marL="0">
              <a:buNone/>
            </a:pPr>
            <a:r>
              <a:rPr lang="en-US" sz="2600" b="1" dirty="0">
                <a:solidFill>
                  <a:schemeClr val="tx1"/>
                </a:solidFill>
              </a:rPr>
              <a:t>Recommendations and next steps</a:t>
            </a:r>
            <a:endParaRPr lang="en-US" sz="2600" dirty="0"/>
          </a:p>
        </p:txBody>
      </p:sp>
      <p:sp>
        <p:nvSpPr>
          <p:cNvPr id="3" name="speaker chip"/>
          <p:cNvSpPr/>
          <p:nvPr/>
        </p:nvSpPr>
        <p:spPr>
          <a:xfrm>
            <a:off x="7635240" y="411480"/>
            <a:ext cx="1051560" cy="329184"/>
          </a:xfrm>
          <a:prstGeom prst="roundRect">
            <a:avLst>
              <a:gd name="adj" fmla="val 50000"/>
            </a:avLst>
          </a:prstGeom>
          <a:solidFill>
            <a:schemeClr val="bg2"/>
          </a:solidFill>
          <a:ln/>
        </p:spPr>
      </p:sp>
      <p:sp>
        <p:nvSpPr>
          <p:cNvPr id="4" name="speaker name"/>
          <p:cNvSpPr txBox="1"/>
          <p:nvPr/>
        </p:nvSpPr>
        <p:spPr>
          <a:xfrm>
            <a:off x="7635240" y="411480"/>
            <a:ext cx="1051560" cy="329184"/>
          </a:xfrm>
          <a:prstGeom prst="rect">
            <a:avLst/>
          </a:prstGeom>
          <a:noFill/>
          <a:ln/>
        </p:spPr>
        <p:txBody>
          <a:bodyPr wrap="square" lIns="0" tIns="0" rIns="0" bIns="0" rtlCol="0" anchor="ctr"/>
          <a:lstStyle/>
          <a:p>
            <a:pPr algn="ctr" indent="0" marL="0">
              <a:buNone/>
            </a:pPr>
            <a:r>
              <a:rPr lang="en-US" sz="1100" b="1" dirty="0">
                <a:solidFill>
                  <a:schemeClr val="tx2"/>
                </a:solidFill>
              </a:rPr>
              <a:t>Britt</a:t>
            </a:r>
            <a:endParaRPr lang="en-US" sz="1100" dirty="0"/>
          </a:p>
        </p:txBody>
      </p:sp>
      <p:sp>
        <p:nvSpPr>
          <p:cNvPr id="5" name="card"/>
          <p:cNvSpPr/>
          <p:nvPr/>
        </p:nvSpPr>
        <p:spPr>
          <a:xfrm>
            <a:off x="457200" y="1234440"/>
            <a:ext cx="2560320" cy="3291840"/>
          </a:xfrm>
          <a:prstGeom prst="roundRect">
            <a:avLst>
              <a:gd name="adj" fmla="val 2857"/>
            </a:avLst>
          </a:prstGeom>
          <a:solidFill>
            <a:schemeClr val="bg2"/>
          </a:solidFill>
          <a:ln/>
        </p:spPr>
      </p:sp>
      <p:sp>
        <p:nvSpPr>
          <p:cNvPr id="6" name="number circle"/>
          <p:cNvSpPr/>
          <p:nvPr/>
        </p:nvSpPr>
        <p:spPr>
          <a:xfrm>
            <a:off x="685800" y="1463040"/>
            <a:ext cx="594360" cy="594360"/>
          </a:xfrm>
          <a:prstGeom prst="ellipse">
            <a:avLst/>
          </a:prstGeom>
          <a:solidFill>
            <a:srgbClr val="4A7C59"/>
          </a:solidFill>
          <a:ln/>
        </p:spPr>
      </p:sp>
      <p:sp>
        <p:nvSpPr>
          <p:cNvPr id="7" name="Text 5"/>
          <p:cNvSpPr txBox="1"/>
          <p:nvPr/>
        </p:nvSpPr>
        <p:spPr>
          <a:xfrm>
            <a:off x="685800" y="146304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6"/>
          <p:cNvSpPr txBox="1"/>
          <p:nvPr/>
        </p:nvSpPr>
        <p:spPr>
          <a:xfrm>
            <a:off x="685800" y="2240280"/>
            <a:ext cx="2103120" cy="640080"/>
          </a:xfrm>
          <a:prstGeom prst="rect">
            <a:avLst/>
          </a:prstGeom>
          <a:noFill/>
          <a:ln/>
        </p:spPr>
        <p:txBody>
          <a:bodyPr wrap="square" lIns="0" tIns="0" rIns="0" bIns="0" rtlCol="0" anchor="t"/>
          <a:lstStyle/>
          <a:p>
            <a:pPr indent="0" marL="0">
              <a:buNone/>
            </a:pPr>
            <a:r>
              <a:rPr lang="en-US" sz="1600" b="1" dirty="0">
                <a:solidFill>
                  <a:schemeClr val="tx1"/>
                </a:solidFill>
              </a:rPr>
              <a:t>Prioritise rural roads</a:t>
            </a:r>
            <a:endParaRPr lang="en-US" sz="1600" dirty="0"/>
          </a:p>
        </p:txBody>
      </p:sp>
      <p:sp>
        <p:nvSpPr>
          <p:cNvPr id="9" name="Text 7"/>
          <p:cNvSpPr txBox="1"/>
          <p:nvPr/>
        </p:nvSpPr>
        <p:spPr>
          <a:xfrm>
            <a:off x="685800" y="2926080"/>
            <a:ext cx="2103120" cy="1463040"/>
          </a:xfrm>
          <a:prstGeom prst="rect">
            <a:avLst/>
          </a:prstGeom>
          <a:noFill/>
          <a:ln/>
        </p:spPr>
        <p:txBody>
          <a:bodyPr wrap="square" lIns="0" tIns="0" rIns="0" bIns="0" rtlCol="0" anchor="t"/>
          <a:lstStyle/>
          <a:p>
            <a:pPr indent="0" marL="0">
              <a:buNone/>
            </a:pPr>
            <a:r>
              <a:rPr lang="en-US" sz="1200" dirty="0">
                <a:solidFill>
                  <a:schemeClr val="tx2"/>
                </a:solidFill>
              </a:rPr>
              <a:t>Speed limits, safer curves and motorcycle campaigns where accidents are most often severe</a:t>
            </a:r>
            <a:endParaRPr lang="en-US" sz="1200" dirty="0"/>
          </a:p>
        </p:txBody>
      </p:sp>
      <p:sp>
        <p:nvSpPr>
          <p:cNvPr id="10" name="card"/>
          <p:cNvSpPr/>
          <p:nvPr/>
        </p:nvSpPr>
        <p:spPr>
          <a:xfrm>
            <a:off x="3291840" y="1234440"/>
            <a:ext cx="2560320" cy="3291840"/>
          </a:xfrm>
          <a:prstGeom prst="roundRect">
            <a:avLst>
              <a:gd name="adj" fmla="val 2857"/>
            </a:avLst>
          </a:prstGeom>
          <a:solidFill>
            <a:schemeClr val="bg2"/>
          </a:solidFill>
          <a:ln/>
        </p:spPr>
      </p:sp>
      <p:sp>
        <p:nvSpPr>
          <p:cNvPr id="11" name="number circle"/>
          <p:cNvSpPr/>
          <p:nvPr/>
        </p:nvSpPr>
        <p:spPr>
          <a:xfrm>
            <a:off x="3520440" y="1463040"/>
            <a:ext cx="594360" cy="594360"/>
          </a:xfrm>
          <a:prstGeom prst="ellipse">
            <a:avLst/>
          </a:prstGeom>
          <a:solidFill>
            <a:srgbClr val="E8A33D"/>
          </a:solidFill>
          <a:ln/>
        </p:spPr>
      </p:sp>
      <p:sp>
        <p:nvSpPr>
          <p:cNvPr id="12" name="Text 10"/>
          <p:cNvSpPr txBox="1"/>
          <p:nvPr/>
        </p:nvSpPr>
        <p:spPr>
          <a:xfrm>
            <a:off x="3520440" y="146304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3" name="Text 11"/>
          <p:cNvSpPr txBox="1"/>
          <p:nvPr/>
        </p:nvSpPr>
        <p:spPr>
          <a:xfrm>
            <a:off x="3520440" y="2240280"/>
            <a:ext cx="2103120" cy="640080"/>
          </a:xfrm>
          <a:prstGeom prst="rect">
            <a:avLst/>
          </a:prstGeom>
          <a:noFill/>
          <a:ln/>
        </p:spPr>
        <p:txBody>
          <a:bodyPr wrap="square" lIns="0" tIns="0" rIns="0" bIns="0" rtlCol="0" anchor="t"/>
          <a:lstStyle/>
          <a:p>
            <a:pPr indent="0" marL="0">
              <a:buNone/>
            </a:pPr>
            <a:r>
              <a:rPr lang="en-US" sz="1600" b="1" dirty="0">
                <a:solidFill>
                  <a:schemeClr val="tx1"/>
                </a:solidFill>
              </a:rPr>
              <a:t>Use risk, not yes / no</a:t>
            </a:r>
            <a:endParaRPr lang="en-US" sz="1600" dirty="0"/>
          </a:p>
        </p:txBody>
      </p:sp>
      <p:sp>
        <p:nvSpPr>
          <p:cNvPr id="14" name="Text 12"/>
          <p:cNvSpPr txBox="1"/>
          <p:nvPr/>
        </p:nvSpPr>
        <p:spPr>
          <a:xfrm>
            <a:off x="3520440" y="2926080"/>
            <a:ext cx="2103120" cy="1463040"/>
          </a:xfrm>
          <a:prstGeom prst="rect">
            <a:avLst/>
          </a:prstGeom>
          <a:noFill/>
          <a:ln/>
        </p:spPr>
        <p:txBody>
          <a:bodyPr wrap="square" lIns="0" tIns="0" rIns="0" bIns="0" rtlCol="0" anchor="t"/>
          <a:lstStyle/>
          <a:p>
            <a:pPr indent="0" marL="0">
              <a:buNone/>
            </a:pPr>
            <a:r>
              <a:rPr lang="en-US" sz="1200" dirty="0">
                <a:solidFill>
                  <a:schemeClr val="tx2"/>
                </a:solidFill>
              </a:rPr>
              <a:t>Rank situations by predicted risk; a single cut-off misses many severe accidents in cities</a:t>
            </a:r>
            <a:endParaRPr lang="en-US" sz="1200" dirty="0"/>
          </a:p>
        </p:txBody>
      </p:sp>
      <p:sp>
        <p:nvSpPr>
          <p:cNvPr id="15" name="card"/>
          <p:cNvSpPr/>
          <p:nvPr/>
        </p:nvSpPr>
        <p:spPr>
          <a:xfrm>
            <a:off x="6126480" y="1234440"/>
            <a:ext cx="2560320" cy="3291840"/>
          </a:xfrm>
          <a:prstGeom prst="roundRect">
            <a:avLst>
              <a:gd name="adj" fmla="val 2857"/>
            </a:avLst>
          </a:prstGeom>
          <a:solidFill>
            <a:schemeClr val="bg2"/>
          </a:solidFill>
          <a:ln/>
        </p:spPr>
      </p:sp>
      <p:sp>
        <p:nvSpPr>
          <p:cNvPr id="16" name="number circle"/>
          <p:cNvSpPr/>
          <p:nvPr/>
        </p:nvSpPr>
        <p:spPr>
          <a:xfrm>
            <a:off x="6355080" y="1463040"/>
            <a:ext cx="594360" cy="594360"/>
          </a:xfrm>
          <a:prstGeom prst="ellipse">
            <a:avLst/>
          </a:prstGeom>
          <a:solidFill>
            <a:srgbClr val="3B6EA8"/>
          </a:solidFill>
          <a:ln/>
        </p:spPr>
      </p:sp>
      <p:sp>
        <p:nvSpPr>
          <p:cNvPr id="17" name="Text 15"/>
          <p:cNvSpPr txBox="1"/>
          <p:nvPr/>
        </p:nvSpPr>
        <p:spPr>
          <a:xfrm>
            <a:off x="6355080" y="146304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8" name="Text 16"/>
          <p:cNvSpPr txBox="1"/>
          <p:nvPr/>
        </p:nvSpPr>
        <p:spPr>
          <a:xfrm>
            <a:off x="6355080" y="2240280"/>
            <a:ext cx="2103120" cy="640080"/>
          </a:xfrm>
          <a:prstGeom prst="rect">
            <a:avLst/>
          </a:prstGeom>
          <a:noFill/>
          <a:ln/>
        </p:spPr>
        <p:txBody>
          <a:bodyPr wrap="square" lIns="0" tIns="0" rIns="0" bIns="0" rtlCol="0" anchor="t"/>
          <a:lstStyle/>
          <a:p>
            <a:pPr indent="0" marL="0">
              <a:buNone/>
            </a:pPr>
            <a:r>
              <a:rPr lang="en-US" sz="1600" b="1" dirty="0">
                <a:solidFill>
                  <a:schemeClr val="tx1"/>
                </a:solidFill>
              </a:rPr>
              <a:t>Add the missing data</a:t>
            </a:r>
            <a:endParaRPr lang="en-US" sz="1600" dirty="0"/>
          </a:p>
        </p:txBody>
      </p:sp>
      <p:sp>
        <p:nvSpPr>
          <p:cNvPr id="19" name="Text 17"/>
          <p:cNvSpPr txBox="1"/>
          <p:nvPr/>
        </p:nvSpPr>
        <p:spPr>
          <a:xfrm>
            <a:off x="6355080" y="2926080"/>
            <a:ext cx="2103120" cy="1463040"/>
          </a:xfrm>
          <a:prstGeom prst="rect">
            <a:avLst/>
          </a:prstGeom>
          <a:noFill/>
          <a:ln/>
        </p:spPr>
        <p:txBody>
          <a:bodyPr wrap="square" lIns="0" tIns="0" rIns="0" bIns="0" rtlCol="0" anchor="t"/>
          <a:lstStyle/>
          <a:p>
            <a:pPr indent="0" marL="0">
              <a:buNone/>
            </a:pPr>
            <a:r>
              <a:rPr lang="en-US" sz="1200" dirty="0">
                <a:solidFill>
                  <a:schemeClr val="tx2"/>
                </a:solidFill>
              </a:rPr>
              <a:t>Road type and speed limits (e.g. OpenStreetMap) and several years of data</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Thank you</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indent="0" marL="0">
              <a:buNone/>
            </a:pPr>
            <a:r>
              <a:rPr lang="en-US" sz="1800" dirty="0">
                <a:solidFill>
                  <a:schemeClr val="accent1"/>
                </a:solidFill>
              </a:rPr>
              <a:t>Questions?</a:t>
            </a:r>
            <a:endParaRPr lang="en-US" sz="1800" dirty="0"/>
          </a:p>
        </p:txBody>
      </p:sp>
      <p:sp>
        <p:nvSpPr>
          <p:cNvPr id="4" name="icon circle"/>
          <p:cNvSpPr/>
          <p:nvPr/>
        </p:nvSpPr>
        <p:spPr>
          <a:xfrm>
            <a:off x="548640" y="502920"/>
            <a:ext cx="594360" cy="594360"/>
          </a:xfrm>
          <a:prstGeom prst="ellipse">
            <a:avLst/>
          </a:prstGeom>
          <a:solidFill>
            <a:srgbClr val="E8A33D"/>
          </a:solidFill>
          <a:ln/>
        </p:spPr>
      </p:sp>
      <p:pic>
        <p:nvPicPr>
          <p:cNvPr id="5" name="icon FaRoad" descr="preencoded.png">    </p:cNvPr>
          <p:cNvPicPr>
            <a:picLocks noChangeAspect="1"/>
          </p:cNvPicPr>
          <p:nvPr/>
        </p:nvPicPr>
        <p:blipFill>
          <a:blip r:embed="rId1"/>
          <a:stretch>
            <a:fillRect/>
          </a:stretch>
        </p:blipFill>
        <p:spPr>
          <a:xfrm>
            <a:off x="691286" y="645566"/>
            <a:ext cx="309067" cy="309067"/>
          </a:xfrm>
          <a:prstGeom prst="rect">
            <a:avLst/>
          </a:prstGeom>
        </p:spPr>
      </p:pic>
      <p:sp>
        <p:nvSpPr>
          <p:cNvPr id="6" name="Text 3"/>
          <p:cNvSpPr txBox="1"/>
          <p:nvPr/>
        </p:nvSpPr>
        <p:spPr>
          <a:xfrm>
            <a:off x="548640" y="4297680"/>
            <a:ext cx="8046720" cy="320040"/>
          </a:xfrm>
          <a:prstGeom prst="rect">
            <a:avLst/>
          </a:prstGeom>
          <a:noFill/>
          <a:ln/>
        </p:spPr>
        <p:txBody>
          <a:bodyPr wrap="square" lIns="0" tIns="0" rIns="0" bIns="0" rtlCol="0" anchor="ctr"/>
          <a:lstStyle/>
          <a:p>
            <a:pPr indent="0" marL="0">
              <a:buNone/>
            </a:pPr>
            <a:r>
              <a:rPr lang="en-US" sz="1200" dirty="0">
                <a:solidFill>
                  <a:schemeClr val="bg2"/>
                </a:solidFill>
              </a:rPr>
              <a:t>Notebooks and data: github.com/zinaF19/The-Random-Forest-Rangers</a:t>
            </a:r>
            <a:endParaRPr lang="en-US" sz="1200" dirty="0"/>
          </a:p>
        </p:txBody>
      </p:sp>
    </p:spTree>
  </p:cSld>
  <p:clrMapOvr>
    <a:masterClrMapping/>
  </p:clrMapOvr>
</p:sld>
</file>

<file path=ppt/theme/theme1.xml><?xml version="1.0" encoding="utf-8"?>
<a:theme xmlns:a="http://schemas.openxmlformats.org/drawingml/2006/main" name="Random Forest Rangers">
  <a:themeElements>
    <a:clrScheme name="Random Forest Rangers">
      <a:dk1>
        <a:srgbClr val="1E2328"/>
      </a:dk1>
      <a:lt1>
        <a:srgbClr val="FFFFFF"/>
      </a:lt1>
      <a:dk2>
        <a:srgbClr val="4B5563"/>
      </a:dk2>
      <a:lt2>
        <a:srgbClr val="F3F4F6"/>
      </a:lt2>
      <a:accent1>
        <a:srgbClr val="E8A33D"/>
      </a:accent1>
      <a:accent2>
        <a:srgbClr val="C8423B"/>
      </a:accent2>
      <a:accent3>
        <a:srgbClr val="3B6EA8"/>
      </a:accent3>
      <a:accent4>
        <a:srgbClr val="4A7C59"/>
      </a:accent4>
      <a:accent5>
        <a:srgbClr val="B4B2A9"/>
      </a:accent5>
      <a:accent6>
        <a:srgbClr val="6B7280"/>
      </a:accent6>
      <a:hlink>
        <a:srgbClr val="3B6EA8"/>
      </a:hlink>
      <a:folHlink>
        <a:srgbClr val="6B7280"/>
      </a:folHlink>
    </a:clrScheme>
    <a:fontScheme name="Random Forest Ranger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road accidents end badly?</dc:title>
  <dc:subject>PptxGenJS Presentation</dc:subject>
  <dc:creator>The Random Forest Rangers</dc:creator>
  <cp:lastModifiedBy>The Random Forest Rangers</cp:lastModifiedBy>
  <cp:revision>1</cp:revision>
  <dcterms:created xsi:type="dcterms:W3CDTF">2026-10-22T15:33:10Z</dcterms:created>
  <dcterms:modified xsi:type="dcterms:W3CDTF">2026-10-22T15:33:10Z</dcterms:modified>
</cp:coreProperties>
</file>